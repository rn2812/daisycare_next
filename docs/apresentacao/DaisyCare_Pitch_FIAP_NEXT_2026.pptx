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19"/>
    <p:sldId id="280" r:id="rId20"/>
    <p:sldId id="281" r:id="rId21"/>
    <p:sldId id="273" r:id="rId22"/>
    <p:sldId id="274" r:id="rId23"/>
    <p:sldId id="275" r:id="rId24"/>
    <p:sldId id="276" r:id="rId25"/>
    <p:sldId id="277" r:id="rId26"/>
    <p:sldId id="278" r:id="rId27"/>
  </p:sldIdLst>
  <p:sldSz cx="12192000" cy="6858000"/>
  <p:notesSz cx="6858000" cy="12192000"/>
  <p:embeddedFontLst>
    <p:embeddedFont>
      <p:font typeface="Montserrat" panose="00000500000000000000" pitchFamily="2" charset="0"/>
      <p:regular r:id="rId29"/>
      <p:bold r:id="rId30"/>
    </p:embeddedFont>
    <p:embeddedFont>
      <p:font typeface="Nunito Sans" panose="020F0502020204030204" pitchFamily="2" charset="0"/>
      <p:regular r:id="rId31"/>
      <p:bold r:id="rId32"/>
      <p:italic r:id="rId33"/>
      <p:boldItalic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1120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(20 s). “Toda semana, uma cadeira fica vazia num consultório enquanto outro paciente espera por um horário. Nós somos a DaisyCare, e a nossa ideia é simples: consulta cancelada não é perdida. É vaga para outro paciente.”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Origem do nome (20 s). Daisy vem de “day’s eye”, o olho do dia: a flor que se abre com a luz. Daí os três verbos da solução: ver a jornada antes que vire exceção, orientar o paciente com linguagem simples e valorizar cada horário da agenda. Margarita, do grego, quer dizer pérola.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(35 s). “Analisamos 200 mil agendamentos em 10 hospitais, de setembro de 2025 a agosto de 2026. Em 1 de cada 12, o paciente simplesmente não apareceu. São 16,8 mil faltas e, somando os cancelamentos, 27 mil vagas vazias. E a taxa ficou parada em 12 meses: o problema não se resolve sozinho.”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Público-alvo e contexto (35 s). “Isso afeta dois lados. O hospital fica com a agenda ociosa e só descobre a falta na hora. E o paciente fica sem horário enquanto aquela vaga fica vazia. 28% nem confirmam a consulta na véspera, e quem não confirma falta quase o dobro: 12% contra 7%. Lembrar o paciente funciona.”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sete falhas (25 s). Cada uma tem um workflow da Daisy que a ataca e um indicador que prova se funcionou: faltas, vaga ociosa, atraso do médico, espera sem previsão, central sobrecarregada, cobrança lenta e dados soltos.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Solução (35 s). “Por isso criamos a Daisy, uma assistente que conversa com o paciente pelo WhatsApp. Ela faz três coisas: confirma a consulta, encaixa outra pessoa na vaga cancelada e orienta sobre preparo e rota. E tem uma coisa que ela não faz: decisão clínica. Qualquer risco vai direto para a equipe humana.”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Produto (20 s). O paciente fala naturalmente ou escolhe um número de 1 a 11: confirmar, fila digital, agenda, nova consulta, agenda familiar, Pix ou boleto, cheguei cedo, avaliação, dúvidas, conhecer a Daisy e atendente humano. O app e o WhatsApp seguem as mesmas regras, e a Daisy responde por voz.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(35 s). “Isso já funciona. O paciente fala pelo WhatsApp, a automação organiza o fluxo, a IA aponta quem tem risco de faltar e o gestor acompanha tudo num painel. Já acompanhamos 200 mil agendamentos em 10 hospitais: 72% dos pacientes confirmaram na véspera, e 60% das confirmações vieram pelo WhatsApp.”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Demonstração (60 s, mostrar as telas). “Vamos ver na prática. Primeiro, a paciente responde no WhatsApp que não vai, e a vaga das 14h é liberada. Segundo, a Daisy olha a fila, vê quem consegue chegar a tempo e manda o convite. Terceiro, outro paciente aceita, e o gestor vê a vaga recuperada no painel.”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Impacto (40 s). “Enviamos 1.423 convites de encaixe: 677 foram aceitos e 589 viraram consultas que teriam ficado vazias. Quase metade dos convidados aceita, e 87% de quem aceita aparece. E, se todos confirmassem, seriam cerca de 2,8 mil faltas a menos por ano.”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funciona (30 s). Cada bolinha no fluxo é um evento passando de um workflow para o próximo. A confirmação (02), a Smart Queue (03), a lista de espera (15), o trajeto do médico (12), a fila digital (13) e a cobertura (14) gravam no PostgreSQL com o mesmo correlation_id. O workflow 17 é novo: conversa livre com a Daisy, presa a uma base aprovada.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Médicos (30 s). O workflow 12 acompanha o trajeto do médico com o Google Routes, recalculando a cada 5 minutos, ou a cada minuto quando a folga fica menor que 15. O 13 prevê a espera de cada paciente e avisa quando muda. Se o atraso passa de 30 minutos ou há incidente, o 14 escolhe um substituto e a Daisy avisa os pacientes. O GPS só existe com consentimento e com trajeto aberto, e é apagado em até 6 horas.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Evolução (30 s). Bronze foi a prova de conceito offline. Prata é o MVP de hoje: n8n, webhooks, PostgreSQL e Power BI, tecnologia aberta que a TI do hospital consegue ler. Ouro leva o mesmo fluxo para produção no Azure, com o CRM do hospital, Redis para o tempo real, WhatsApp Business oficial, Google Routes, OpenAI e voz do Azure AI Speech. A inovação exige governança: Bronze valida, Prata opera, Ouro escala.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Arquitetura (30 s). Paciente e médico nunca falam direto com banco ou IA: tudo passa pela API Management. O CRM do hospital é mantido para cadastro e status, o PostgreSQL guarda a trilha de auditoria e alimenta o Power BI, e o Redis guarda o que é temporário, como o GPS e as filas. Separar canal, regra, automação e dados permite evoluir o MVP para produção sem reescrever o motor.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Garantias (30 s). A garantia principal é de desenho: a Daisy nunca decide nada clínico e tudo o que ela faz deixa rastro. Ao menor sinal de risco clínico, o sistema aciona o transbordo humano; a operação permanece soberana. São 34 regras de negócio, cada uma com seu limite de LGPD e seu indicador.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Retorno (30 s). A Smart Queue não apenas alerta sobre uma vaga: ela cruza os cancelamentos com a fila, e cada encaixe tem impacto direto e mensurável na receita preservada. Com um ticket ilustrativo de R$ 250, os 589 encaixes valem cerca de R$ 147 mil por ano, e evitar as 2,8 mil faltas vale cerca de R$ 700 mil. O número real sai do Power BI do hospital parceiro.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Evidência (25 s). Não é só a nossa base. No Ceará, as faltas caíram de 35,5% para 23,2% com lembretes no WhatsApp. No Rio, de 43% para 32% com a assistente Serena. Em Londres, de 11,1% para 8,4% só mudando o texto do lembrete. E a Cochrane mostra 14% mais comparecimento com mensagem no celular. A DaisyCare soma a isso o encaixe, a cobertura do médico e a fila digital.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Indicadores de mercado (30 s). O que a DaisyCare faz não é aposta: em três países, redes públicas e revisões científicas, a mesma alavanca aparece. O no-show médio no mundo é de 23%. Mensagem no celular aumenta em 14% a chance de comparecer. Hospitais com plataforma de lembrete cortaram de 17% a 28% das faltas, e no Rio a assistente virtual levou as faltas de 43% para 32%.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Reino Unido e EUA. Em Londres, só mudar o texto do lembrete baixou as faltas de 11,1% para 8,4%. O Guy’s and St Thomas’ cortou 17,2% das faltas e teve £ 2,6 milhões de benefício no primeiro ano. Nos EUA, Gulfport cortou 28% do no-show e a Houston ENT gerou US$ 1,2 milhão com lista de espera inteligente, que é exatamente o papel da nossa Smart Queue.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Brasil e ciência. No Ceará, lembretes por WhatsApp levaram as faltas de 35,5% para 23,2%. No Rio, de 43% para 32%. Porto Alegre perdeu 45 mil consultas especializadas em 2025, e Ribeirão Preto mediu cerca de 30% de absenteísmo. A ciência confirma: 23% de no-show médio no mundo e 14% mais comparecimento com mensagem no celular.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passos (30 s). “Agora queremos levar a Daisy para um hospital parceiro: descoberta, piloto em uma unidade, integração oficial e escala. Porque consulta cancelada não é perdida. É vaga para outro paciente. Obrigado!”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(10 s). “Tecnologia em saúde não precisa ser fria. Consulta cancelada não é perdida: é vaga para outro paciente. Obrigado!” Deixe esta tela enquanto a banca pergunta; o apêndice tem arquitetura, IA, dados e contingência.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Apêndice: use só se a banca perguntar.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 preditiva. O modelo foi treinado com cerca de 200 mil agendamentos e tem AUC de 0,708 e F1 de 0,702. Ele não decide nada: só ordena o risco para a equipe priorizar quem contatar antes. A conversa livre com OpenAI (workflow 17) é separada: não acessa nenhum sistema e responde só com base aprovada.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Dados e escala. 500 mil operações por mês são cerca de 17 mil por dia, 0,2 por segundo. Capacidade não é o problema: a divisão é por papel. Trocar o CRM do cliente seria caro e arriscado; ele recebe só mudanças de status, em lote, para não estourar o limite de API. Dados clínicos continuam no prontuário, fora dos três.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Contingência. Produto define a jornada; TI sustenta a infraestrutura. Se a automação falhar, o sistema cai para um menu seguro ou chama a equipe humana, e nenhum evento se perde: o Service Bus segura e um job noturno reprocessa. A deduplicação evita lembrete em dobro.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838200"/>
          </a:xfrm>
          <a:prstGeom prst="rect">
            <a:avLst/>
          </a:prstGeom>
          <a:noFill/>
          <a:ln/>
        </p:spPr>
        <p:txBody>
          <a:bodyPr wrap="square" lIns="0" tIns="0" rIns="0" bIns="0" rtlCol="0" anchor="t"/>
          <a:lstStyle>
            <a:lvl1pPr marL="0" indent="0" algn="l">
              <a:lnSpc>
                <a:spcPct val="115000"/>
              </a:lnSpc>
              <a:buNone/>
              <a:defRPr lang="en-US" sz="3000" dirty="0">
                <a:solidFill>
                  <a:srgbClr val="17153B"/>
                </a:solidFill>
                <a:latin typeface="Montserrat" pitchFamily="34" charset="0"/>
                <a:ea typeface="Montserrat" pitchFamily="34" charset="-122"/>
                <a:cs typeface="Montserrat"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5800"/>
            <a:ext cx="10566400" cy="4089400"/>
          </a:xfrm>
          <a:prstGeom prst="rect">
            <a:avLst/>
          </a:prstGeom>
          <a:noFill/>
          <a:ln/>
        </p:spPr>
        <p:txBody>
          <a:bodyPr wrap="square" lIns="0" tIns="0" rIns="0" bIns="0" rtlCol="0" anchor="t"/>
          <a:lstStyle>
            <a:lvl1pPr marL="0" indent="0" algn="l">
              <a:lnSpc>
                <a:spcPct val="140000"/>
              </a:lnSpc>
              <a:buNone/>
              <a:defRPr lang="en-US" sz="1600" dirty="0">
                <a:solidFill>
                  <a:srgbClr val="17153B"/>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838200"/>
          </a:xfrm>
          <a:prstGeom prst="rect">
            <a:avLst/>
          </a:prstGeom>
          <a:noFill/>
          <a:ln/>
        </p:spPr>
        <p:txBody>
          <a:bodyPr wrap="square" lIns="0" tIns="0" rIns="0" bIns="0" rtlCol="0" anchor="t"/>
          <a:lstStyle>
            <a:lvl1pPr marL="0" indent="0" algn="l">
              <a:lnSpc>
                <a:spcPct val="115000"/>
              </a:lnSpc>
              <a:buNone/>
              <a:defRPr lang="en-US" sz="3000" dirty="0">
                <a:solidFill>
                  <a:srgbClr val="17153B"/>
                </a:solidFill>
                <a:latin typeface="Montserrat" pitchFamily="34" charset="0"/>
                <a:ea typeface="Montserrat" pitchFamily="34" charset="-122"/>
                <a:cs typeface="Montserrat"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5800"/>
            <a:ext cx="10566400" cy="4089400"/>
          </a:xfrm>
          <a:prstGeom prst="rect">
            <a:avLst/>
          </a:prstGeom>
          <a:noFill/>
          <a:ln/>
        </p:spPr>
        <p:txBody>
          <a:bodyPr wrap="square" lIns="0" tIns="0" rIns="0" bIns="0" rtlCol="0" anchor="t"/>
          <a:lstStyle>
            <a:lvl1pPr marL="0" indent="0" algn="l">
              <a:lnSpc>
                <a:spcPct val="140000"/>
              </a:lnSpc>
              <a:buNone/>
              <a:defRPr lang="en-US" sz="1600" dirty="0">
                <a:solidFill>
                  <a:srgbClr val="17153B"/>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BFAFF"/>
              </a:gs>
              <a:gs pos="60000">
                <a:srgbClr val="F1ECFE"/>
              </a:gs>
              <a:gs pos="100000">
                <a:srgbClr val="E7DFFC"/>
              </a:gs>
            </a:gsLst>
            <a:lin ang="1800000" scaled="0"/>
          </a:gradFill>
          <a:ln/>
        </p:spPr>
        <p:txBody>
          <a:bodyPr/>
          <a:lstStyle/>
          <a:p>
            <a:endParaRPr lang="pt-BR"/>
          </a:p>
        </p:txBody>
      </p:sp>
      <p:pic>
        <p:nvPicPr>
          <p:cNvPr id="3" name="Image 0" descr="Daisy, a assistente virtual, de uniforme lilás, acenando"/>
          <p:cNvPicPr>
            <a:picLocks noChangeAspect="1"/>
          </p:cNvPicPr>
          <p:nvPr/>
        </p:nvPicPr>
        <p:blipFill>
          <a:blip r:embed="rId3"/>
          <a:srcRect l="31" r="31"/>
          <a:stretch/>
        </p:blipFill>
        <p:spPr>
          <a:xfrm>
            <a:off x="7251700" y="0"/>
            <a:ext cx="4686300" cy="6858000"/>
          </a:xfrm>
          <a:prstGeom prst="rect">
            <a:avLst/>
          </a:prstGeom>
        </p:spPr>
      </p:pic>
      <p:sp>
        <p:nvSpPr>
          <p:cNvPr id="4" name="Text 1"/>
          <p:cNvSpPr/>
          <p:nvPr/>
        </p:nvSpPr>
        <p:spPr>
          <a:xfrm>
            <a:off x="812800" y="135274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B2BD6"/>
                </a:solidFill>
                <a:latin typeface="Montserrat" pitchFamily="34" charset="0"/>
                <a:ea typeface="Montserrat" pitchFamily="34" charset="-122"/>
                <a:cs typeface="Montserrat" pitchFamily="34" charset="-120"/>
              </a:rPr>
              <a:t>FIAP NEXT 2026</a:t>
            </a:r>
            <a:endParaRPr lang="en-US" sz="1200" dirty="0"/>
          </a:p>
        </p:txBody>
      </p:sp>
      <p:sp>
        <p:nvSpPr>
          <p:cNvPr id="5" name="Text 2"/>
          <p:cNvSpPr>
            <a:spLocks noGrp="1"/>
          </p:cNvSpPr>
          <p:nvPr>
            <p:ph type="title"/>
          </p:nvPr>
        </p:nvSpPr>
        <p:spPr>
          <a:xfrm>
            <a:off x="812800" y="1820069"/>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i="0" kern="0" spc="-200" dirty="0">
                <a:solidFill>
                  <a:srgbClr val="17153B"/>
                </a:solidFill>
                <a:latin typeface="Montserrat" pitchFamily="34" charset="0"/>
                <a:ea typeface="Montserrat" pitchFamily="34" charset="-122"/>
                <a:cs typeface="Montserrat" pitchFamily="34" charset="-120"/>
              </a:rPr>
              <a:t>Daisy</a:t>
            </a:r>
            <a:r>
              <a:rPr lang="en-US" sz="8000" b="1" i="0" kern="0" spc="-200" dirty="0">
                <a:solidFill>
                  <a:srgbClr val="6D3AE8"/>
                </a:solidFill>
                <a:latin typeface="Montserrat" pitchFamily="34" charset="0"/>
                <a:ea typeface="Montserrat" pitchFamily="34" charset="-122"/>
                <a:cs typeface="Montserrat" pitchFamily="34" charset="-120"/>
              </a:rPr>
              <a:t>Care</a:t>
            </a:r>
            <a:endParaRPr lang="en-US" sz="8000" dirty="0"/>
          </a:p>
        </p:txBody>
      </p:sp>
      <p:sp>
        <p:nvSpPr>
          <p:cNvPr id="6" name="Text 3"/>
          <p:cNvSpPr/>
          <p:nvPr/>
        </p:nvSpPr>
        <p:spPr>
          <a:xfrm>
            <a:off x="812800" y="3090069"/>
            <a:ext cx="5886450" cy="843161"/>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7153B"/>
                </a:solidFill>
                <a:latin typeface="Montserrat" pitchFamily="34" charset="0"/>
                <a:ea typeface="Montserrat" pitchFamily="34" charset="-122"/>
                <a:cs typeface="Montserrat" pitchFamily="34" charset="-120"/>
              </a:rPr>
              <a:t>Consulta cancelada não é perdida.</a:t>
            </a:r>
            <a:endParaRPr lang="en-US" sz="2800" dirty="0"/>
          </a:p>
        </p:txBody>
      </p:sp>
      <p:sp>
        <p:nvSpPr>
          <p:cNvPr id="7" name="Text 4"/>
          <p:cNvSpPr/>
          <p:nvPr/>
        </p:nvSpPr>
        <p:spPr>
          <a:xfrm>
            <a:off x="812800" y="3958630"/>
            <a:ext cx="5886450"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5B2BD6"/>
                </a:solidFill>
                <a:latin typeface="Montserrat" pitchFamily="34" charset="0"/>
                <a:ea typeface="Montserrat" pitchFamily="34" charset="-122"/>
                <a:cs typeface="Montserrat" pitchFamily="34" charset="-120"/>
              </a:rPr>
              <a:t>É vaga para outro paciente.</a:t>
            </a:r>
            <a:endParaRPr lang="en-US" sz="2800" dirty="0"/>
          </a:p>
        </p:txBody>
      </p:sp>
      <p:sp>
        <p:nvSpPr>
          <p:cNvPr id="8" name="Text 5"/>
          <p:cNvSpPr/>
          <p:nvPr/>
        </p:nvSpPr>
        <p:spPr>
          <a:xfrm>
            <a:off x="812800" y="4621510"/>
            <a:ext cx="5624830"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4870"/>
                </a:solidFill>
                <a:latin typeface="Nunito Sans" pitchFamily="34" charset="0"/>
                <a:ea typeface="Nunito Sans" pitchFamily="34" charset="-122"/>
                <a:cs typeface="Nunito Sans" pitchFamily="34" charset="-120"/>
              </a:rPr>
              <a:t>Assistente virtual no app e no WhatsApp que confirma, encaixa e orienta o paciente, com 16 workflows rastreados do canal ao Power BI.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BFAFF"/>
              </a:gs>
              <a:gs pos="55000">
                <a:srgbClr val="F3F0FF"/>
              </a:gs>
              <a:gs pos="100000">
                <a:srgbClr val="E9E4FC"/>
              </a:gs>
            </a:gsLst>
            <a:lin ang="2700000" scaled="0"/>
          </a:gradFill>
          <a:ln/>
        </p:spPr>
        <p:txBody>
          <a:bodyPr/>
          <a:lstStyle/>
          <a:p>
            <a:endParaRPr lang="pt-BR"/>
          </a:p>
        </p:txBody>
      </p:sp>
      <p:pic>
        <p:nvPicPr>
          <p:cNvPr id="3" name="Image 0" descr="Fita lilás que liga três ícones: o sol com a flor de lótus, o olho com raios e a pérola"/>
          <p:cNvPicPr>
            <a:picLocks noChangeAspect="1"/>
          </p:cNvPicPr>
          <p:nvPr/>
        </p:nvPicPr>
        <p:blipFill>
          <a:blip r:embed="rId3"/>
          <a:srcRect l="32" r="32"/>
          <a:stretch/>
        </p:blipFill>
        <p:spPr>
          <a:xfrm>
            <a:off x="0" y="1905000"/>
            <a:ext cx="12192000" cy="2012950"/>
          </a:xfrm>
          <a:prstGeom prst="rect">
            <a:avLst/>
          </a:prstGeom>
        </p:spPr>
      </p:pic>
      <p:sp>
        <p:nvSpPr>
          <p:cNvPr id="4" name="Text 1"/>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B2BD6"/>
                </a:solidFill>
                <a:latin typeface="Montserrat" pitchFamily="34" charset="0"/>
                <a:ea typeface="Montserrat" pitchFamily="34" charset="-122"/>
                <a:cs typeface="Montserrat" pitchFamily="34" charset="-120"/>
              </a:rPr>
              <a:t>DAISYCARE · A ORIGEM DO NOME</a:t>
            </a:r>
            <a:endParaRPr lang="en-US" sz="1200" dirty="0"/>
          </a:p>
        </p:txBody>
      </p:sp>
      <p:sp>
        <p:nvSpPr>
          <p:cNvPr id="5" name="Text 2"/>
          <p:cNvSpPr>
            <a:spLocks noGrp="1"/>
          </p:cNvSpPr>
          <p:nvPr>
            <p:ph type="title"/>
          </p:nvPr>
        </p:nvSpPr>
        <p:spPr>
          <a:xfrm>
            <a:off x="812800" y="899120"/>
            <a:ext cx="10883392" cy="612080"/>
          </a:xfrm>
          <a:prstGeom prst="rect">
            <a:avLst/>
          </a:prstGeom>
          <a:noFill/>
          <a:ln/>
        </p:spPr>
        <p:txBody>
          <a:bodyPr wrap="square" lIns="0" tIns="0" rIns="0" bIns="0" rtlCol="0" anchor="t">
            <a:normAutofit/>
          </a:bodyPr>
          <a:lstStyle/>
          <a:p>
            <a:pPr marL="0" indent="0" algn="l">
              <a:lnSpc>
                <a:spcPts val="4620"/>
              </a:lnSpc>
              <a:buNone/>
            </a:pPr>
            <a:r>
              <a:rPr lang="en-US" sz="4400" b="1" i="0" kern="0" spc="-100" dirty="0">
                <a:solidFill>
                  <a:srgbClr val="17153B"/>
                </a:solidFill>
                <a:latin typeface="Montserrat" pitchFamily="34" charset="0"/>
                <a:ea typeface="Montserrat" pitchFamily="34" charset="-122"/>
                <a:cs typeface="Montserrat" pitchFamily="34" charset="-120"/>
              </a:rPr>
              <a:t>Por que “Daisy”?</a:t>
            </a:r>
            <a:endParaRPr lang="en-US" sz="4400" dirty="0"/>
          </a:p>
        </p:txBody>
      </p:sp>
      <p:sp>
        <p:nvSpPr>
          <p:cNvPr id="6" name="Text 3"/>
          <p:cNvSpPr/>
          <p:nvPr/>
        </p:nvSpPr>
        <p:spPr>
          <a:xfrm>
            <a:off x="812800" y="1562001"/>
            <a:ext cx="1088339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5B2BD6"/>
                </a:solidFill>
                <a:latin typeface="Montserrat" pitchFamily="34" charset="0"/>
                <a:ea typeface="Montserrat" pitchFamily="34" charset="-122"/>
                <a:cs typeface="Montserrat" pitchFamily="34" charset="-120"/>
              </a:rPr>
              <a:t>Um nome que já conta a história da nossa operação.</a:t>
            </a:r>
            <a:endParaRPr lang="en-US" sz="2200" dirty="0"/>
          </a:p>
        </p:txBody>
      </p:sp>
      <p:sp>
        <p:nvSpPr>
          <p:cNvPr id="7" name="Text 4"/>
          <p:cNvSpPr/>
          <p:nvPr/>
        </p:nvSpPr>
        <p:spPr>
          <a:xfrm>
            <a:off x="1365250" y="4064000"/>
            <a:ext cx="205740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17153B"/>
                </a:solidFill>
                <a:latin typeface="Montserrat" pitchFamily="34" charset="0"/>
                <a:ea typeface="Montserrat" pitchFamily="34" charset="-122"/>
                <a:cs typeface="Montserrat" pitchFamily="34" charset="-120"/>
              </a:rPr>
              <a:t>Olho do dia</a:t>
            </a:r>
            <a:endParaRPr lang="en-US" sz="2200" dirty="0"/>
          </a:p>
        </p:txBody>
      </p:sp>
      <p:sp>
        <p:nvSpPr>
          <p:cNvPr id="8" name="Text 5"/>
          <p:cNvSpPr/>
          <p:nvPr/>
        </p:nvSpPr>
        <p:spPr>
          <a:xfrm>
            <a:off x="824230" y="4462760"/>
            <a:ext cx="3139440" cy="436761"/>
          </a:xfrm>
          <a:prstGeom prst="rect">
            <a:avLst/>
          </a:prstGeom>
          <a:noFill/>
          <a:ln/>
        </p:spPr>
        <p:txBody>
          <a:bodyPr wrap="square" lIns="0" tIns="0" rIns="0" bIns="0" rtlCol="0" anchor="t">
            <a:normAutofit/>
          </a:bodyPr>
          <a:lstStyle/>
          <a:p>
            <a:pPr marL="0" indent="0" algn="ctr">
              <a:lnSpc>
                <a:spcPts val="1620"/>
              </a:lnSpc>
              <a:buNone/>
            </a:pPr>
            <a:r>
              <a:rPr lang="en-US" sz="1200" i="1" dirty="0">
                <a:solidFill>
                  <a:srgbClr val="4A4870"/>
                </a:solidFill>
                <a:latin typeface="Nunito Sans" pitchFamily="34" charset="0"/>
                <a:ea typeface="Nunito Sans" pitchFamily="34" charset="-122"/>
                <a:cs typeface="Nunito Sans" pitchFamily="34" charset="-120"/>
              </a:rPr>
              <a:t>Day’s eye</a:t>
            </a:r>
            <a:r>
              <a:rPr lang="en-US" sz="1200" dirty="0">
                <a:solidFill>
                  <a:srgbClr val="4A4870"/>
                </a:solidFill>
                <a:latin typeface="Nunito Sans" pitchFamily="34" charset="0"/>
                <a:ea typeface="Nunito Sans" pitchFamily="34" charset="-122"/>
                <a:cs typeface="Nunito Sans" pitchFamily="34" charset="-120"/>
              </a:rPr>
              <a:t>: a flor que se abre com a luz da manhã.</a:t>
            </a:r>
            <a:endParaRPr lang="en-US" sz="1200" dirty="0"/>
          </a:p>
        </p:txBody>
      </p:sp>
      <p:sp>
        <p:nvSpPr>
          <p:cNvPr id="9" name="Shape 6"/>
          <p:cNvSpPr/>
          <p:nvPr/>
        </p:nvSpPr>
        <p:spPr>
          <a:xfrm>
            <a:off x="873125" y="4940796"/>
            <a:ext cx="3041650" cy="1008261"/>
          </a:xfrm>
          <a:prstGeom prst="roundRect">
            <a:avLst>
              <a:gd name="adj" fmla="val 12281"/>
            </a:avLst>
          </a:prstGeom>
          <a:solidFill>
            <a:srgbClr val="FDFCFF"/>
          </a:solidFill>
          <a:ln w="6350">
            <a:solidFill>
              <a:srgbClr val="E2D9FB"/>
            </a:solidFill>
            <a:prstDash val="solid"/>
          </a:ln>
          <a:effectLst>
            <a:outerShdw blurRad="254000" dist="101600" dir="5400000" algn="bl" rotWithShape="0">
              <a:srgbClr val="4428A0">
                <a:alpha val="10000"/>
              </a:srgbClr>
            </a:outerShdw>
          </a:effectLst>
        </p:spPr>
        <p:txBody>
          <a:bodyPr/>
          <a:lstStyle/>
          <a:p>
            <a:endParaRPr lang="pt-BR"/>
          </a:p>
        </p:txBody>
      </p:sp>
      <p:sp>
        <p:nvSpPr>
          <p:cNvPr id="10" name="Text 7"/>
          <p:cNvSpPr/>
          <p:nvPr/>
        </p:nvSpPr>
        <p:spPr>
          <a:xfrm>
            <a:off x="1054100" y="5096371"/>
            <a:ext cx="276009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VER</a:t>
            </a:r>
            <a:endParaRPr lang="en-US" sz="1200" dirty="0"/>
          </a:p>
        </p:txBody>
      </p:sp>
      <p:sp>
        <p:nvSpPr>
          <p:cNvPr id="11" name="Text 8"/>
          <p:cNvSpPr/>
          <p:nvPr/>
        </p:nvSpPr>
        <p:spPr>
          <a:xfrm>
            <a:off x="1054100" y="5347791"/>
            <a:ext cx="276009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6234F"/>
                </a:solidFill>
                <a:latin typeface="Nunito Sans" pitchFamily="34" charset="0"/>
                <a:ea typeface="Nunito Sans" pitchFamily="34" charset="-122"/>
                <a:cs typeface="Nunito Sans" pitchFamily="34" charset="-120"/>
              </a:rPr>
              <a:t>Dar visibilidade à jornada antes que um evento vire exceção.</a:t>
            </a:r>
            <a:endParaRPr lang="en-US" sz="1300" dirty="0"/>
          </a:p>
        </p:txBody>
      </p:sp>
      <p:sp>
        <p:nvSpPr>
          <p:cNvPr id="12" name="Text 9"/>
          <p:cNvSpPr/>
          <p:nvPr/>
        </p:nvSpPr>
        <p:spPr>
          <a:xfrm>
            <a:off x="5090160" y="4064000"/>
            <a:ext cx="201168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17153B"/>
                </a:solidFill>
                <a:latin typeface="Montserrat" pitchFamily="34" charset="0"/>
                <a:ea typeface="Montserrat" pitchFamily="34" charset="-122"/>
                <a:cs typeface="Montserrat" pitchFamily="34" charset="-120"/>
              </a:rPr>
              <a:t>Olho do sol</a:t>
            </a:r>
            <a:endParaRPr lang="en-US" sz="2200" dirty="0"/>
          </a:p>
        </p:txBody>
      </p:sp>
      <p:sp>
        <p:nvSpPr>
          <p:cNvPr id="13" name="Text 10"/>
          <p:cNvSpPr/>
          <p:nvPr/>
        </p:nvSpPr>
        <p:spPr>
          <a:xfrm>
            <a:off x="5185410" y="4462760"/>
            <a:ext cx="1821180" cy="231080"/>
          </a:xfrm>
          <a:prstGeom prst="rect">
            <a:avLst/>
          </a:prstGeom>
          <a:noFill/>
          <a:ln/>
        </p:spPr>
        <p:txBody>
          <a:bodyPr wrap="square" lIns="0" tIns="0" rIns="0" bIns="0" rtlCol="0" anchor="t">
            <a:normAutofit/>
          </a:bodyPr>
          <a:lstStyle/>
          <a:p>
            <a:pPr marL="0" indent="0" algn="ctr">
              <a:lnSpc>
                <a:spcPts val="1620"/>
              </a:lnSpc>
              <a:buNone/>
            </a:pPr>
            <a:r>
              <a:rPr lang="en-US" sz="1200" i="1" dirty="0">
                <a:solidFill>
                  <a:srgbClr val="4A4870"/>
                </a:solidFill>
                <a:latin typeface="Nunito Sans" pitchFamily="34" charset="0"/>
                <a:ea typeface="Nunito Sans" pitchFamily="34" charset="-122"/>
                <a:cs typeface="Nunito Sans" pitchFamily="34" charset="-120"/>
              </a:rPr>
              <a:t>Solis oculus</a:t>
            </a:r>
            <a:r>
              <a:rPr lang="en-US" sz="1200" dirty="0">
                <a:solidFill>
                  <a:srgbClr val="4A4870"/>
                </a:solidFill>
                <a:latin typeface="Nunito Sans" pitchFamily="34" charset="0"/>
                <a:ea typeface="Nunito Sans" pitchFamily="34" charset="-122"/>
                <a:cs typeface="Nunito Sans" pitchFamily="34" charset="-120"/>
              </a:rPr>
              <a:t>, em latim.</a:t>
            </a:r>
            <a:endParaRPr lang="en-US" sz="1200" dirty="0"/>
          </a:p>
          <a:p>
            <a:pPr marL="0" indent="0" algn="ctr">
              <a:lnSpc>
                <a:spcPts val="1620"/>
              </a:lnSpc>
              <a:buNone/>
            </a:pPr>
            <a:endParaRPr lang="en-US" sz="1200" dirty="0"/>
          </a:p>
        </p:txBody>
      </p:sp>
      <p:sp>
        <p:nvSpPr>
          <p:cNvPr id="14" name="Shape 11"/>
          <p:cNvSpPr/>
          <p:nvPr/>
        </p:nvSpPr>
        <p:spPr>
          <a:xfrm>
            <a:off x="4575175" y="4735116"/>
            <a:ext cx="3041650" cy="1231106"/>
          </a:xfrm>
          <a:prstGeom prst="roundRect">
            <a:avLst>
              <a:gd name="adj" fmla="val 10058"/>
            </a:avLst>
          </a:prstGeom>
          <a:solidFill>
            <a:srgbClr val="FDFCFF"/>
          </a:solidFill>
          <a:ln w="6350">
            <a:solidFill>
              <a:srgbClr val="E2D9FB"/>
            </a:solidFill>
            <a:prstDash val="solid"/>
          </a:ln>
          <a:effectLst>
            <a:outerShdw blurRad="254000" dist="101600" dir="5400000" algn="bl" rotWithShape="0">
              <a:srgbClr val="4428A0">
                <a:alpha val="10000"/>
              </a:srgbClr>
            </a:outerShdw>
          </a:effectLst>
        </p:spPr>
        <p:txBody>
          <a:bodyPr/>
          <a:lstStyle/>
          <a:p>
            <a:endParaRPr lang="pt-BR"/>
          </a:p>
        </p:txBody>
      </p:sp>
      <p:sp>
        <p:nvSpPr>
          <p:cNvPr id="15" name="Text 12"/>
          <p:cNvSpPr/>
          <p:nvPr/>
        </p:nvSpPr>
        <p:spPr>
          <a:xfrm>
            <a:off x="4756150" y="4890691"/>
            <a:ext cx="276009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ORIENTAR</a:t>
            </a:r>
            <a:endParaRPr lang="en-US" sz="1200" dirty="0"/>
          </a:p>
        </p:txBody>
      </p:sp>
      <p:sp>
        <p:nvSpPr>
          <p:cNvPr id="16" name="Text 13"/>
          <p:cNvSpPr/>
          <p:nvPr/>
        </p:nvSpPr>
        <p:spPr>
          <a:xfrm>
            <a:off x="4756150" y="5142111"/>
            <a:ext cx="2760091"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6234F"/>
                </a:solidFill>
                <a:latin typeface="Nunito Sans" pitchFamily="34" charset="0"/>
                <a:ea typeface="Nunito Sans" pitchFamily="34" charset="-122"/>
                <a:cs typeface="Nunito Sans" pitchFamily="34" charset="-120"/>
              </a:rPr>
              <a:t>Guiar o paciente com linguagem simples: rota, fila, preparo e próximos passos.</a:t>
            </a:r>
            <a:endParaRPr lang="en-US" sz="1300" dirty="0"/>
          </a:p>
        </p:txBody>
      </p:sp>
      <p:sp>
        <p:nvSpPr>
          <p:cNvPr id="17" name="Text 14"/>
          <p:cNvSpPr/>
          <p:nvPr/>
        </p:nvSpPr>
        <p:spPr>
          <a:xfrm>
            <a:off x="9271000" y="4064000"/>
            <a:ext cx="114300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17153B"/>
                </a:solidFill>
                <a:latin typeface="Montserrat" pitchFamily="34" charset="0"/>
                <a:ea typeface="Montserrat" pitchFamily="34" charset="-122"/>
                <a:cs typeface="Montserrat" pitchFamily="34" charset="-120"/>
              </a:rPr>
              <a:t>Pérola</a:t>
            </a:r>
            <a:endParaRPr lang="en-US" sz="2200" dirty="0"/>
          </a:p>
        </p:txBody>
      </p:sp>
      <p:sp>
        <p:nvSpPr>
          <p:cNvPr id="18" name="Text 15"/>
          <p:cNvSpPr/>
          <p:nvPr/>
        </p:nvSpPr>
        <p:spPr>
          <a:xfrm>
            <a:off x="8539480" y="4462760"/>
            <a:ext cx="2606040" cy="231080"/>
          </a:xfrm>
          <a:prstGeom prst="rect">
            <a:avLst/>
          </a:prstGeom>
          <a:noFill/>
          <a:ln/>
        </p:spPr>
        <p:txBody>
          <a:bodyPr wrap="square" lIns="0" tIns="0" rIns="0" bIns="0" rtlCol="0" anchor="t">
            <a:normAutofit/>
          </a:bodyPr>
          <a:lstStyle/>
          <a:p>
            <a:pPr marL="0" indent="0" algn="ctr">
              <a:lnSpc>
                <a:spcPts val="1620"/>
              </a:lnSpc>
              <a:buNone/>
            </a:pPr>
            <a:r>
              <a:rPr lang="en-US" sz="1200" i="1" dirty="0">
                <a:solidFill>
                  <a:srgbClr val="4A4870"/>
                </a:solidFill>
                <a:latin typeface="Nunito Sans" pitchFamily="34" charset="0"/>
                <a:ea typeface="Nunito Sans" pitchFamily="34" charset="-122"/>
                <a:cs typeface="Nunito Sans" pitchFamily="34" charset="-120"/>
              </a:rPr>
              <a:t>Margarita</a:t>
            </a:r>
            <a:r>
              <a:rPr lang="en-US" sz="1200" dirty="0">
                <a:solidFill>
                  <a:srgbClr val="4A4870"/>
                </a:solidFill>
                <a:latin typeface="Nunito Sans" pitchFamily="34" charset="0"/>
                <a:ea typeface="Nunito Sans" pitchFamily="34" charset="-122"/>
                <a:cs typeface="Nunito Sans" pitchFamily="34" charset="-120"/>
              </a:rPr>
              <a:t>, do grego </a:t>
            </a:r>
            <a:r>
              <a:rPr lang="en-US" sz="1200" i="1" dirty="0">
                <a:solidFill>
                  <a:srgbClr val="4A4870"/>
                </a:solidFill>
                <a:latin typeface="Nunito Sans" pitchFamily="34" charset="0"/>
                <a:ea typeface="Nunito Sans" pitchFamily="34" charset="-122"/>
                <a:cs typeface="Nunito Sans" pitchFamily="34" charset="-120"/>
              </a:rPr>
              <a:t>margarítēs</a:t>
            </a:r>
            <a:r>
              <a:rPr lang="en-US" sz="1200" dirty="0">
                <a:solidFill>
                  <a:srgbClr val="4A4870"/>
                </a:solidFill>
                <a:latin typeface="Nunito Sans" pitchFamily="34" charset="0"/>
                <a:ea typeface="Nunito Sans" pitchFamily="34" charset="-122"/>
                <a:cs typeface="Nunito Sans" pitchFamily="34" charset="-120"/>
              </a:rPr>
              <a:t>.</a:t>
            </a:r>
            <a:endParaRPr lang="en-US" sz="1200" dirty="0"/>
          </a:p>
        </p:txBody>
      </p:sp>
      <p:sp>
        <p:nvSpPr>
          <p:cNvPr id="19" name="Shape 16"/>
          <p:cNvSpPr/>
          <p:nvPr/>
        </p:nvSpPr>
        <p:spPr>
          <a:xfrm>
            <a:off x="8321675" y="4735116"/>
            <a:ext cx="3041650" cy="1231106"/>
          </a:xfrm>
          <a:prstGeom prst="roundRect">
            <a:avLst>
              <a:gd name="adj" fmla="val 10058"/>
            </a:avLst>
          </a:prstGeom>
          <a:solidFill>
            <a:srgbClr val="FDFCFF"/>
          </a:solidFill>
          <a:ln w="6350">
            <a:solidFill>
              <a:srgbClr val="E2D9FB"/>
            </a:solidFill>
            <a:prstDash val="solid"/>
          </a:ln>
          <a:effectLst>
            <a:outerShdw blurRad="254000" dist="101600" dir="5400000" algn="bl" rotWithShape="0">
              <a:srgbClr val="4428A0">
                <a:alpha val="10000"/>
              </a:srgbClr>
            </a:outerShdw>
          </a:effectLst>
        </p:spPr>
        <p:txBody>
          <a:bodyPr/>
          <a:lstStyle/>
          <a:p>
            <a:endParaRPr lang="pt-BR"/>
          </a:p>
        </p:txBody>
      </p:sp>
      <p:sp>
        <p:nvSpPr>
          <p:cNvPr id="20" name="Text 17"/>
          <p:cNvSpPr/>
          <p:nvPr/>
        </p:nvSpPr>
        <p:spPr>
          <a:xfrm>
            <a:off x="8502650" y="4890691"/>
            <a:ext cx="276009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VALORIZAR</a:t>
            </a:r>
            <a:endParaRPr lang="en-US" sz="1200" dirty="0"/>
          </a:p>
        </p:txBody>
      </p:sp>
      <p:sp>
        <p:nvSpPr>
          <p:cNvPr id="21" name="Text 18"/>
          <p:cNvSpPr/>
          <p:nvPr/>
        </p:nvSpPr>
        <p:spPr>
          <a:xfrm>
            <a:off x="8502650" y="5142111"/>
            <a:ext cx="2760091"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6234F"/>
                </a:solidFill>
                <a:latin typeface="Nunito Sans" pitchFamily="34" charset="0"/>
                <a:ea typeface="Nunito Sans" pitchFamily="34" charset="-122"/>
                <a:cs typeface="Nunito Sans" pitchFamily="34" charset="-120"/>
              </a:rPr>
              <a:t>Tratar cada horário, a experiência e os dados como ativos que não podem ser desperdiçados.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9810750" cy="103108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7153B"/>
                </a:solidFill>
                <a:latin typeface="Montserrat" pitchFamily="34" charset="0"/>
                <a:ea typeface="Montserrat" pitchFamily="34" charset="-122"/>
                <a:cs typeface="Montserrat" pitchFamily="34" charset="-120"/>
              </a:rPr>
              <a:t>1 em cada 12 pacientes falta à consulta, e a taxa não melhorou em 12 meses</a:t>
            </a:r>
            <a:endParaRPr lang="en-US" sz="3600" dirty="0"/>
          </a:p>
        </p:txBody>
      </p:sp>
      <p:sp>
        <p:nvSpPr>
          <p:cNvPr id="3" name="Text 1"/>
          <p:cNvSpPr/>
          <p:nvPr/>
        </p:nvSpPr>
        <p:spPr>
          <a:xfrm>
            <a:off x="812800" y="3970040"/>
            <a:ext cx="5708119" cy="1549400"/>
          </a:xfrm>
          <a:prstGeom prst="rect">
            <a:avLst/>
          </a:prstGeom>
          <a:noFill/>
          <a:ln/>
        </p:spPr>
        <p:txBody>
          <a:bodyPr wrap="square" lIns="0" tIns="0" rIns="0" bIns="0" rtlCol="0" anchor="t">
            <a:normAutofit/>
          </a:bodyPr>
          <a:lstStyle/>
          <a:p>
            <a:pPr marL="0" indent="0" algn="l">
              <a:lnSpc>
                <a:spcPts val="12000"/>
              </a:lnSpc>
              <a:buNone/>
            </a:pPr>
            <a:r>
              <a:rPr lang="en-US" sz="12000" b="1" kern="0" spc="-300" dirty="0">
                <a:solidFill>
                  <a:srgbClr val="6D3AE8"/>
                </a:solidFill>
                <a:latin typeface="Montserrat" pitchFamily="34" charset="0"/>
                <a:ea typeface="Montserrat" pitchFamily="34" charset="-122"/>
                <a:cs typeface="Montserrat" pitchFamily="34" charset="-120"/>
              </a:rPr>
              <a:t>8,7%</a:t>
            </a:r>
            <a:endParaRPr lang="en-US" sz="12000" dirty="0"/>
          </a:p>
        </p:txBody>
      </p:sp>
      <p:sp>
        <p:nvSpPr>
          <p:cNvPr id="4" name="Text 2"/>
          <p:cNvSpPr/>
          <p:nvPr/>
        </p:nvSpPr>
        <p:spPr>
          <a:xfrm>
            <a:off x="812800" y="5544840"/>
            <a:ext cx="5708119"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4A4870"/>
                </a:solidFill>
                <a:latin typeface="Nunito Sans" pitchFamily="34" charset="0"/>
                <a:ea typeface="Nunito Sans" pitchFamily="34" charset="-122"/>
                <a:cs typeface="Nunito Sans" pitchFamily="34" charset="-120"/>
              </a:rPr>
              <a:t>das consultas termina com a cadeira vazia</a:t>
            </a:r>
            <a:endParaRPr lang="en-US" sz="1800" dirty="0"/>
          </a:p>
        </p:txBody>
      </p:sp>
      <p:sp>
        <p:nvSpPr>
          <p:cNvPr id="5" name="Shape 3"/>
          <p:cNvSpPr/>
          <p:nvPr/>
        </p:nvSpPr>
        <p:spPr>
          <a:xfrm>
            <a:off x="6764238" y="3282355"/>
            <a:ext cx="4611787" cy="1198860"/>
          </a:xfrm>
          <a:prstGeom prst="roundRect">
            <a:avLst>
              <a:gd name="adj" fmla="val 12447"/>
            </a:avLst>
          </a:prstGeom>
          <a:solidFill>
            <a:srgbClr val="FDFCFF"/>
          </a:solidFill>
          <a:ln w="6350">
            <a:solidFill>
              <a:srgbClr val="E2D9FB"/>
            </a:solidFill>
            <a:prstDash val="solid"/>
          </a:ln>
        </p:spPr>
        <p:txBody>
          <a:bodyPr/>
          <a:lstStyle/>
          <a:p>
            <a:endParaRPr lang="pt-BR"/>
          </a:p>
        </p:txBody>
      </p:sp>
      <p:sp>
        <p:nvSpPr>
          <p:cNvPr id="6" name="Text 4"/>
          <p:cNvSpPr/>
          <p:nvPr/>
        </p:nvSpPr>
        <p:spPr>
          <a:xfrm>
            <a:off x="7021413" y="3514130"/>
            <a:ext cx="42203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153B"/>
                </a:solidFill>
                <a:latin typeface="Montserrat" pitchFamily="34" charset="0"/>
                <a:ea typeface="Montserrat" pitchFamily="34" charset="-122"/>
                <a:cs typeface="Montserrat" pitchFamily="34" charset="-120"/>
              </a:rPr>
              <a:t>16,8 mil</a:t>
            </a:r>
            <a:endParaRPr lang="en-US" sz="3600" dirty="0"/>
          </a:p>
        </p:txBody>
      </p:sp>
      <p:sp>
        <p:nvSpPr>
          <p:cNvPr id="7" name="Text 5"/>
          <p:cNvSpPr/>
          <p:nvPr/>
        </p:nvSpPr>
        <p:spPr>
          <a:xfrm>
            <a:off x="7021413" y="4009430"/>
            <a:ext cx="42203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faltas em 200 mil agendamentos</a:t>
            </a:r>
            <a:endParaRPr lang="en-US" sz="1400" dirty="0"/>
          </a:p>
        </p:txBody>
      </p:sp>
      <p:sp>
        <p:nvSpPr>
          <p:cNvPr id="8" name="Shape 6"/>
          <p:cNvSpPr/>
          <p:nvPr/>
        </p:nvSpPr>
        <p:spPr>
          <a:xfrm>
            <a:off x="6764238" y="4639965"/>
            <a:ext cx="4611787" cy="1198860"/>
          </a:xfrm>
          <a:prstGeom prst="roundRect">
            <a:avLst>
              <a:gd name="adj" fmla="val 12447"/>
            </a:avLst>
          </a:prstGeom>
          <a:solidFill>
            <a:srgbClr val="FDFCFF"/>
          </a:solidFill>
          <a:ln w="6350">
            <a:solidFill>
              <a:srgbClr val="E2D9FB"/>
            </a:solidFill>
            <a:prstDash val="solid"/>
          </a:ln>
        </p:spPr>
        <p:txBody>
          <a:bodyPr/>
          <a:lstStyle/>
          <a:p>
            <a:endParaRPr lang="pt-BR"/>
          </a:p>
        </p:txBody>
      </p:sp>
      <p:sp>
        <p:nvSpPr>
          <p:cNvPr id="9" name="Text 7"/>
          <p:cNvSpPr/>
          <p:nvPr/>
        </p:nvSpPr>
        <p:spPr>
          <a:xfrm>
            <a:off x="7021413" y="4871740"/>
            <a:ext cx="42203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153B"/>
                </a:solidFill>
                <a:latin typeface="Montserrat" pitchFamily="34" charset="0"/>
                <a:ea typeface="Montserrat" pitchFamily="34" charset="-122"/>
                <a:cs typeface="Montserrat" pitchFamily="34" charset="-120"/>
              </a:rPr>
              <a:t>27 mil</a:t>
            </a:r>
            <a:endParaRPr lang="en-US" sz="3600" dirty="0"/>
          </a:p>
        </p:txBody>
      </p:sp>
      <p:sp>
        <p:nvSpPr>
          <p:cNvPr id="10" name="Text 8"/>
          <p:cNvSpPr/>
          <p:nvPr/>
        </p:nvSpPr>
        <p:spPr>
          <a:xfrm>
            <a:off x="7021413" y="5367040"/>
            <a:ext cx="42203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vagas vazias, somando faltas e cancelamentos</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Fonte: base operacional DaisyCare, 200 mil agendamentos em 10 hospitais, set/2025–ago/2026.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464800"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7153B"/>
                </a:solidFill>
                <a:latin typeface="Montserrat" pitchFamily="34" charset="0"/>
                <a:ea typeface="Montserrat" pitchFamily="34" charset="-122"/>
                <a:cs typeface="Montserrat" pitchFamily="34" charset="-120"/>
              </a:rPr>
              <a:t>O hospital só descobre a falta na hora da consulta, e outro paciente perde a vez</a:t>
            </a:r>
            <a:endParaRPr lang="en-US" sz="3200" dirty="0"/>
          </a:p>
        </p:txBody>
      </p:sp>
      <p:sp>
        <p:nvSpPr>
          <p:cNvPr id="3" name="Text 1"/>
          <p:cNvSpPr/>
          <p:nvPr/>
        </p:nvSpPr>
        <p:spPr>
          <a:xfrm>
            <a:off x="812800" y="2062361"/>
            <a:ext cx="51800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PARA QUEM</a:t>
            </a:r>
            <a:endParaRPr lang="en-US" sz="1200" dirty="0"/>
          </a:p>
        </p:txBody>
      </p:sp>
      <p:sp>
        <p:nvSpPr>
          <p:cNvPr id="4" name="Shape 2"/>
          <p:cNvSpPr/>
          <p:nvPr/>
        </p:nvSpPr>
        <p:spPr>
          <a:xfrm>
            <a:off x="815975" y="2431256"/>
            <a:ext cx="5022850" cy="1015901"/>
          </a:xfrm>
          <a:prstGeom prst="roundRect">
            <a:avLst>
              <a:gd name="adj" fmla="val 14689"/>
            </a:avLst>
          </a:prstGeom>
          <a:solidFill>
            <a:srgbClr val="FDFCFF"/>
          </a:solidFill>
          <a:ln w="6350">
            <a:solidFill>
              <a:srgbClr val="E2D9FB"/>
            </a:solidFill>
            <a:prstDash val="solid"/>
          </a:ln>
        </p:spPr>
        <p:txBody>
          <a:bodyPr/>
          <a:lstStyle/>
          <a:p>
            <a:endParaRPr lang="pt-BR"/>
          </a:p>
        </p:txBody>
      </p:sp>
      <p:pic>
        <p:nvPicPr>
          <p:cNvPr id="5" name="Image 0" descr="Activity"/>
          <p:cNvPicPr>
            <a:picLocks noChangeAspect="1"/>
          </p:cNvPicPr>
          <p:nvPr/>
        </p:nvPicPr>
        <p:blipFill>
          <a:blip r:embed="rId3"/>
          <a:srcRect/>
          <a:stretch/>
        </p:blipFill>
        <p:spPr>
          <a:xfrm>
            <a:off x="1073150" y="2735957"/>
            <a:ext cx="406400" cy="406400"/>
          </a:xfrm>
          <a:prstGeom prst="rect">
            <a:avLst/>
          </a:prstGeom>
        </p:spPr>
      </p:pic>
      <p:sp>
        <p:nvSpPr>
          <p:cNvPr id="6" name="Text 3"/>
          <p:cNvSpPr/>
          <p:nvPr/>
        </p:nvSpPr>
        <p:spPr>
          <a:xfrm>
            <a:off x="1657350" y="2663031"/>
            <a:ext cx="40420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153B"/>
                </a:solidFill>
                <a:latin typeface="Montserrat" pitchFamily="34" charset="0"/>
                <a:ea typeface="Montserrat" pitchFamily="34" charset="-122"/>
                <a:cs typeface="Montserrat" pitchFamily="34" charset="-120"/>
              </a:rPr>
              <a:t>Hospitais e clínicas</a:t>
            </a:r>
            <a:endParaRPr lang="en-US" sz="1800" dirty="0"/>
          </a:p>
        </p:txBody>
      </p:sp>
      <p:sp>
        <p:nvSpPr>
          <p:cNvPr id="7" name="Text 4"/>
          <p:cNvSpPr/>
          <p:nvPr/>
        </p:nvSpPr>
        <p:spPr>
          <a:xfrm>
            <a:off x="1657350" y="2975372"/>
            <a:ext cx="4042029"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Vaga vazia vira receita perdida e agenda ociosa</a:t>
            </a:r>
            <a:endParaRPr lang="en-US" sz="1400" dirty="0"/>
          </a:p>
        </p:txBody>
      </p:sp>
      <p:sp>
        <p:nvSpPr>
          <p:cNvPr id="8" name="Shape 5"/>
          <p:cNvSpPr/>
          <p:nvPr/>
        </p:nvSpPr>
        <p:spPr>
          <a:xfrm>
            <a:off x="815975" y="3605907"/>
            <a:ext cx="5022850" cy="1255911"/>
          </a:xfrm>
          <a:prstGeom prst="roundRect">
            <a:avLst>
              <a:gd name="adj" fmla="val 11882"/>
            </a:avLst>
          </a:prstGeom>
          <a:solidFill>
            <a:srgbClr val="FDFCFF"/>
          </a:solidFill>
          <a:ln w="6350">
            <a:solidFill>
              <a:srgbClr val="E2D9FB"/>
            </a:solidFill>
            <a:prstDash val="solid"/>
          </a:ln>
        </p:spPr>
        <p:txBody>
          <a:bodyPr/>
          <a:lstStyle/>
          <a:p>
            <a:endParaRPr lang="pt-BR"/>
          </a:p>
        </p:txBody>
      </p:sp>
      <p:pic>
        <p:nvPicPr>
          <p:cNvPr id="9" name="Image 1" descr="Users"/>
          <p:cNvPicPr>
            <a:picLocks noChangeAspect="1"/>
          </p:cNvPicPr>
          <p:nvPr/>
        </p:nvPicPr>
        <p:blipFill>
          <a:blip r:embed="rId4"/>
          <a:srcRect/>
          <a:stretch/>
        </p:blipFill>
        <p:spPr>
          <a:xfrm>
            <a:off x="1073150" y="4030662"/>
            <a:ext cx="406400" cy="406400"/>
          </a:xfrm>
          <a:prstGeom prst="rect">
            <a:avLst/>
          </a:prstGeom>
        </p:spPr>
      </p:pic>
      <p:sp>
        <p:nvSpPr>
          <p:cNvPr id="10" name="Text 6"/>
          <p:cNvSpPr/>
          <p:nvPr/>
        </p:nvSpPr>
        <p:spPr>
          <a:xfrm>
            <a:off x="1657350" y="3837682"/>
            <a:ext cx="40420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153B"/>
                </a:solidFill>
                <a:latin typeface="Montserrat" pitchFamily="34" charset="0"/>
                <a:ea typeface="Montserrat" pitchFamily="34" charset="-122"/>
                <a:cs typeface="Montserrat" pitchFamily="34" charset="-120"/>
              </a:rPr>
              <a:t>Pacientes</a:t>
            </a:r>
            <a:endParaRPr lang="en-US" sz="1800" dirty="0"/>
          </a:p>
        </p:txBody>
      </p:sp>
      <p:sp>
        <p:nvSpPr>
          <p:cNvPr id="11" name="Text 7"/>
          <p:cNvSpPr/>
          <p:nvPr/>
        </p:nvSpPr>
        <p:spPr>
          <a:xfrm>
            <a:off x="1657350" y="4150023"/>
            <a:ext cx="404202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Ficam sem horário enquanto a vaga de quem faltou fica vazia</a:t>
            </a:r>
            <a:endParaRPr lang="en-US" sz="1400" dirty="0"/>
          </a:p>
        </p:txBody>
      </p:sp>
      <p:sp>
        <p:nvSpPr>
          <p:cNvPr id="12" name="Text 8"/>
          <p:cNvSpPr/>
          <p:nvPr/>
        </p:nvSpPr>
        <p:spPr>
          <a:xfrm>
            <a:off x="6350000" y="2062361"/>
            <a:ext cx="51800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O CONTEXTO EM NÚMEROS</a:t>
            </a:r>
            <a:endParaRPr lang="en-US" sz="1200" dirty="0"/>
          </a:p>
        </p:txBody>
      </p:sp>
      <p:sp>
        <p:nvSpPr>
          <p:cNvPr id="13" name="Text 9"/>
          <p:cNvSpPr/>
          <p:nvPr/>
        </p:nvSpPr>
        <p:spPr>
          <a:xfrm>
            <a:off x="6350000" y="2478881"/>
            <a:ext cx="5180076"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AE8"/>
                </a:solidFill>
                <a:latin typeface="Montserrat" pitchFamily="34" charset="0"/>
                <a:ea typeface="Montserrat" pitchFamily="34" charset="-122"/>
                <a:cs typeface="Montserrat" pitchFamily="34" charset="-120"/>
              </a:rPr>
              <a:t>28%</a:t>
            </a:r>
            <a:endParaRPr lang="en-US" sz="3600" dirty="0"/>
          </a:p>
        </p:txBody>
      </p:sp>
      <p:sp>
        <p:nvSpPr>
          <p:cNvPr id="14" name="Text 10"/>
          <p:cNvSpPr/>
          <p:nvPr/>
        </p:nvSpPr>
        <p:spPr>
          <a:xfrm>
            <a:off x="6350000" y="2961481"/>
            <a:ext cx="51800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dos pacientes não confirmam a consulta 24 h antes</a:t>
            </a:r>
            <a:endParaRPr lang="en-US" sz="1400" dirty="0"/>
          </a:p>
        </p:txBody>
      </p:sp>
      <p:sp>
        <p:nvSpPr>
          <p:cNvPr id="15" name="Text 11"/>
          <p:cNvSpPr/>
          <p:nvPr/>
        </p:nvSpPr>
        <p:spPr>
          <a:xfrm>
            <a:off x="6350000" y="3413522"/>
            <a:ext cx="5180076"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AE8"/>
                </a:solidFill>
                <a:latin typeface="Montserrat" pitchFamily="34" charset="0"/>
                <a:ea typeface="Montserrat" pitchFamily="34" charset="-122"/>
                <a:cs typeface="Montserrat" pitchFamily="34" charset="-120"/>
              </a:rPr>
              <a:t>12% vs 7%</a:t>
            </a:r>
            <a:endParaRPr lang="en-US" sz="3600" dirty="0"/>
          </a:p>
        </p:txBody>
      </p:sp>
      <p:sp>
        <p:nvSpPr>
          <p:cNvPr id="16" name="Text 12"/>
          <p:cNvSpPr/>
          <p:nvPr/>
        </p:nvSpPr>
        <p:spPr>
          <a:xfrm>
            <a:off x="6350000" y="3896122"/>
            <a:ext cx="51800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de faltas entre quem não confirma e quem confirma</a:t>
            </a:r>
            <a:endParaRPr lang="en-US" sz="1400" dirty="0"/>
          </a:p>
        </p:txBody>
      </p:sp>
      <p:sp>
        <p:nvSpPr>
          <p:cNvPr id="17" name="Text 13"/>
          <p:cNvSpPr/>
          <p:nvPr/>
        </p:nvSpPr>
        <p:spPr>
          <a:xfrm>
            <a:off x="6350000" y="4348163"/>
            <a:ext cx="5180076"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AE8"/>
                </a:solidFill>
                <a:latin typeface="Montserrat" pitchFamily="34" charset="0"/>
                <a:ea typeface="Montserrat" pitchFamily="34" charset="-122"/>
                <a:cs typeface="Montserrat" pitchFamily="34" charset="-120"/>
              </a:rPr>
              <a:t>10 hospitais</a:t>
            </a:r>
            <a:endParaRPr lang="en-US" sz="3600" dirty="0"/>
          </a:p>
        </p:txBody>
      </p:sp>
      <p:sp>
        <p:nvSpPr>
          <p:cNvPr id="18" name="Text 14"/>
          <p:cNvSpPr/>
          <p:nvPr/>
        </p:nvSpPr>
        <p:spPr>
          <a:xfrm>
            <a:off x="6350000" y="4830763"/>
            <a:ext cx="51800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em 5 estados, com 200 mil pacientes</a:t>
            </a:r>
            <a:endParaRPr lang="en-US" sz="1400" dirty="0"/>
          </a:p>
        </p:txBody>
      </p:sp>
      <p:sp>
        <p:nvSpPr>
          <p:cNvPr id="19"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Fonte: base operacional DaisyCare, 200 mil agendamentos em 10 hospitais, set/2025–ago/2026.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F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O INTERVALO ENTRE MARCAR E ATENDER</a:t>
            </a:r>
            <a:endParaRPr lang="en-US" sz="1200" dirty="0"/>
          </a:p>
        </p:txBody>
      </p:sp>
      <p:sp>
        <p:nvSpPr>
          <p:cNvPr id="3" name="Text 1"/>
          <p:cNvSpPr>
            <a:spLocks noGrp="1"/>
          </p:cNvSpPr>
          <p:nvPr>
            <p:ph type="title"/>
          </p:nvPr>
        </p:nvSpPr>
        <p:spPr>
          <a:xfrm>
            <a:off x="812800" y="11023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7153B"/>
                </a:solidFill>
                <a:latin typeface="Montserrat" pitchFamily="34" charset="0"/>
                <a:ea typeface="Montserrat" pitchFamily="34" charset="-122"/>
                <a:cs typeface="Montserrat" pitchFamily="34" charset="-120"/>
              </a:rPr>
              <a:t>Sete falhas se somam, e ninguém acompanha esse intervalo de forma ativa</a:t>
            </a:r>
            <a:endParaRPr lang="en-US" sz="3200" dirty="0"/>
          </a:p>
        </p:txBody>
      </p:sp>
      <p:sp>
        <p:nvSpPr>
          <p:cNvPr id="4" name="Shape 2"/>
          <p:cNvSpPr/>
          <p:nvPr/>
        </p:nvSpPr>
        <p:spPr>
          <a:xfrm>
            <a:off x="815975" y="2355056"/>
            <a:ext cx="2520950" cy="1513681"/>
          </a:xfrm>
          <a:prstGeom prst="roundRect">
            <a:avLst>
              <a:gd name="adj" fmla="val 9858"/>
            </a:avLst>
          </a:prstGeom>
          <a:solidFill>
            <a:srgbClr val="FDFCFF"/>
          </a:solidFill>
          <a:ln w="6350">
            <a:solidFill>
              <a:srgbClr val="E2D9FB"/>
            </a:solidFill>
            <a:prstDash val="solid"/>
          </a:ln>
        </p:spPr>
        <p:txBody>
          <a:bodyPr/>
          <a:lstStyle/>
          <a:p>
            <a:endParaRPr lang="pt-BR"/>
          </a:p>
        </p:txBody>
      </p:sp>
      <p:sp>
        <p:nvSpPr>
          <p:cNvPr id="5" name="Text 3"/>
          <p:cNvSpPr/>
          <p:nvPr/>
        </p:nvSpPr>
        <p:spPr>
          <a:xfrm>
            <a:off x="1022350" y="2561431"/>
            <a:ext cx="21714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01</a:t>
            </a:r>
            <a:endParaRPr lang="en-US" sz="1600" dirty="0"/>
          </a:p>
        </p:txBody>
      </p:sp>
      <p:sp>
        <p:nvSpPr>
          <p:cNvPr id="6" name="Text 4"/>
          <p:cNvSpPr/>
          <p:nvPr/>
        </p:nvSpPr>
        <p:spPr>
          <a:xfrm>
            <a:off x="1022350" y="2909391"/>
            <a:ext cx="217144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Faltas sem aviso</a:t>
            </a:r>
            <a:endParaRPr lang="en-US" sz="1600" dirty="0"/>
          </a:p>
        </p:txBody>
      </p:sp>
      <p:sp>
        <p:nvSpPr>
          <p:cNvPr id="7" name="Text 5"/>
          <p:cNvSpPr/>
          <p:nvPr/>
        </p:nvSpPr>
        <p:spPr>
          <a:xfrm>
            <a:off x="1022350" y="3216672"/>
            <a:ext cx="217144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O esquecimento é o motivo mais comum</a:t>
            </a:r>
            <a:endParaRPr lang="en-US" sz="1300" dirty="0"/>
          </a:p>
        </p:txBody>
      </p:sp>
      <p:sp>
        <p:nvSpPr>
          <p:cNvPr id="8" name="Shape 6"/>
          <p:cNvSpPr/>
          <p:nvPr/>
        </p:nvSpPr>
        <p:spPr>
          <a:xfrm>
            <a:off x="3495675" y="2355056"/>
            <a:ext cx="2520950" cy="1513681"/>
          </a:xfrm>
          <a:prstGeom prst="roundRect">
            <a:avLst>
              <a:gd name="adj" fmla="val 9858"/>
            </a:avLst>
          </a:prstGeom>
          <a:solidFill>
            <a:srgbClr val="FDFCFF"/>
          </a:solidFill>
          <a:ln w="6350">
            <a:solidFill>
              <a:srgbClr val="E2D9FB"/>
            </a:solidFill>
            <a:prstDash val="solid"/>
          </a:ln>
        </p:spPr>
        <p:txBody>
          <a:bodyPr/>
          <a:lstStyle/>
          <a:p>
            <a:endParaRPr lang="pt-BR"/>
          </a:p>
        </p:txBody>
      </p:sp>
      <p:sp>
        <p:nvSpPr>
          <p:cNvPr id="9" name="Text 7"/>
          <p:cNvSpPr/>
          <p:nvPr/>
        </p:nvSpPr>
        <p:spPr>
          <a:xfrm>
            <a:off x="3702050" y="2561431"/>
            <a:ext cx="21714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02</a:t>
            </a:r>
            <a:endParaRPr lang="en-US" sz="1600" dirty="0"/>
          </a:p>
        </p:txBody>
      </p:sp>
      <p:sp>
        <p:nvSpPr>
          <p:cNvPr id="10" name="Text 8"/>
          <p:cNvSpPr/>
          <p:nvPr/>
        </p:nvSpPr>
        <p:spPr>
          <a:xfrm>
            <a:off x="3702050" y="2909391"/>
            <a:ext cx="23114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Vaga sem reocupar</a:t>
            </a:r>
            <a:endParaRPr lang="en-US" sz="1600" dirty="0"/>
          </a:p>
        </p:txBody>
      </p:sp>
      <p:sp>
        <p:nvSpPr>
          <p:cNvPr id="11" name="Text 9"/>
          <p:cNvSpPr/>
          <p:nvPr/>
        </p:nvSpPr>
        <p:spPr>
          <a:xfrm>
            <a:off x="3702050" y="3216672"/>
            <a:ext cx="217144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Cancelamento de última hora vira horário ocioso</a:t>
            </a:r>
            <a:endParaRPr lang="en-US" sz="1300" dirty="0"/>
          </a:p>
        </p:txBody>
      </p:sp>
      <p:sp>
        <p:nvSpPr>
          <p:cNvPr id="12" name="Shape 10"/>
          <p:cNvSpPr/>
          <p:nvPr/>
        </p:nvSpPr>
        <p:spPr>
          <a:xfrm>
            <a:off x="6175375" y="2355056"/>
            <a:ext cx="2520950" cy="1513681"/>
          </a:xfrm>
          <a:prstGeom prst="roundRect">
            <a:avLst>
              <a:gd name="adj" fmla="val 9858"/>
            </a:avLst>
          </a:prstGeom>
          <a:solidFill>
            <a:srgbClr val="FDFCFF"/>
          </a:solidFill>
          <a:ln w="6350">
            <a:solidFill>
              <a:srgbClr val="E2D9FB"/>
            </a:solidFill>
            <a:prstDash val="solid"/>
          </a:ln>
        </p:spPr>
        <p:txBody>
          <a:bodyPr/>
          <a:lstStyle/>
          <a:p>
            <a:endParaRPr lang="pt-BR"/>
          </a:p>
        </p:txBody>
      </p:sp>
      <p:sp>
        <p:nvSpPr>
          <p:cNvPr id="13" name="Text 11"/>
          <p:cNvSpPr/>
          <p:nvPr/>
        </p:nvSpPr>
        <p:spPr>
          <a:xfrm>
            <a:off x="6381750" y="2561431"/>
            <a:ext cx="21714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03</a:t>
            </a:r>
            <a:endParaRPr lang="en-US" sz="1600" dirty="0"/>
          </a:p>
        </p:txBody>
      </p:sp>
      <p:sp>
        <p:nvSpPr>
          <p:cNvPr id="14" name="Text 12"/>
          <p:cNvSpPr/>
          <p:nvPr/>
        </p:nvSpPr>
        <p:spPr>
          <a:xfrm>
            <a:off x="6381750" y="2909391"/>
            <a:ext cx="217144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Médico atrasado</a:t>
            </a:r>
            <a:endParaRPr lang="en-US" sz="1600" dirty="0"/>
          </a:p>
        </p:txBody>
      </p:sp>
      <p:sp>
        <p:nvSpPr>
          <p:cNvPr id="15" name="Text 13"/>
          <p:cNvSpPr/>
          <p:nvPr/>
        </p:nvSpPr>
        <p:spPr>
          <a:xfrm>
            <a:off x="6381750" y="3216672"/>
            <a:ext cx="217144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O paciente só descobre quando chega</a:t>
            </a:r>
            <a:endParaRPr lang="en-US" sz="1300" dirty="0"/>
          </a:p>
        </p:txBody>
      </p:sp>
      <p:sp>
        <p:nvSpPr>
          <p:cNvPr id="16" name="Shape 14"/>
          <p:cNvSpPr/>
          <p:nvPr/>
        </p:nvSpPr>
        <p:spPr>
          <a:xfrm>
            <a:off x="8855075" y="2355056"/>
            <a:ext cx="2520950" cy="1513681"/>
          </a:xfrm>
          <a:prstGeom prst="roundRect">
            <a:avLst>
              <a:gd name="adj" fmla="val 9858"/>
            </a:avLst>
          </a:prstGeom>
          <a:solidFill>
            <a:srgbClr val="FDFCFF"/>
          </a:solidFill>
          <a:ln w="6350">
            <a:solidFill>
              <a:srgbClr val="E2D9FB"/>
            </a:solidFill>
            <a:prstDash val="solid"/>
          </a:ln>
        </p:spPr>
        <p:txBody>
          <a:bodyPr/>
          <a:lstStyle/>
          <a:p>
            <a:endParaRPr lang="pt-BR"/>
          </a:p>
        </p:txBody>
      </p:sp>
      <p:sp>
        <p:nvSpPr>
          <p:cNvPr id="17" name="Text 15"/>
          <p:cNvSpPr/>
          <p:nvPr/>
        </p:nvSpPr>
        <p:spPr>
          <a:xfrm>
            <a:off x="9061450" y="2561431"/>
            <a:ext cx="21714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04</a:t>
            </a:r>
            <a:endParaRPr lang="en-US" sz="1600" dirty="0"/>
          </a:p>
        </p:txBody>
      </p:sp>
      <p:sp>
        <p:nvSpPr>
          <p:cNvPr id="18" name="Text 16"/>
          <p:cNvSpPr/>
          <p:nvPr/>
        </p:nvSpPr>
        <p:spPr>
          <a:xfrm>
            <a:off x="9061450" y="2909391"/>
            <a:ext cx="217144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Espera às cegas</a:t>
            </a:r>
            <a:endParaRPr lang="en-US" sz="1600" dirty="0"/>
          </a:p>
        </p:txBody>
      </p:sp>
      <p:sp>
        <p:nvSpPr>
          <p:cNvPr id="19" name="Text 17"/>
          <p:cNvSpPr/>
          <p:nvPr/>
        </p:nvSpPr>
        <p:spPr>
          <a:xfrm>
            <a:off x="9061450" y="3216672"/>
            <a:ext cx="217144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Sem posição na fila nem tempo previsto</a:t>
            </a:r>
            <a:endParaRPr lang="en-US" sz="1300" dirty="0"/>
          </a:p>
        </p:txBody>
      </p:sp>
      <p:sp>
        <p:nvSpPr>
          <p:cNvPr id="20" name="Shape 18"/>
          <p:cNvSpPr/>
          <p:nvPr/>
        </p:nvSpPr>
        <p:spPr>
          <a:xfrm>
            <a:off x="815975" y="4027488"/>
            <a:ext cx="2520950" cy="1736527"/>
          </a:xfrm>
          <a:prstGeom prst="roundRect">
            <a:avLst>
              <a:gd name="adj" fmla="val 8593"/>
            </a:avLst>
          </a:prstGeom>
          <a:solidFill>
            <a:srgbClr val="FDFCFF"/>
          </a:solidFill>
          <a:ln w="6350">
            <a:solidFill>
              <a:srgbClr val="E2D9FB"/>
            </a:solidFill>
            <a:prstDash val="solid"/>
          </a:ln>
        </p:spPr>
        <p:txBody>
          <a:bodyPr/>
          <a:lstStyle/>
          <a:p>
            <a:endParaRPr lang="pt-BR"/>
          </a:p>
        </p:txBody>
      </p:sp>
      <p:sp>
        <p:nvSpPr>
          <p:cNvPr id="21" name="Text 19"/>
          <p:cNvSpPr/>
          <p:nvPr/>
        </p:nvSpPr>
        <p:spPr>
          <a:xfrm>
            <a:off x="1022350" y="4233863"/>
            <a:ext cx="21714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05</a:t>
            </a:r>
            <a:endParaRPr lang="en-US" sz="1600" dirty="0"/>
          </a:p>
        </p:txBody>
      </p:sp>
      <p:sp>
        <p:nvSpPr>
          <p:cNvPr id="22" name="Text 20"/>
          <p:cNvSpPr/>
          <p:nvPr/>
        </p:nvSpPr>
        <p:spPr>
          <a:xfrm>
            <a:off x="1022350" y="4581823"/>
            <a:ext cx="217144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Central lotada</a:t>
            </a:r>
            <a:endParaRPr lang="en-US" sz="1600" dirty="0"/>
          </a:p>
        </p:txBody>
      </p:sp>
      <p:sp>
        <p:nvSpPr>
          <p:cNvPr id="23" name="Text 21"/>
          <p:cNvSpPr/>
          <p:nvPr/>
        </p:nvSpPr>
        <p:spPr>
          <a:xfrm>
            <a:off x="1022350" y="4889103"/>
            <a:ext cx="217144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Confirmar e remarcar por telefone tomam o dia</a:t>
            </a:r>
            <a:endParaRPr lang="en-US" sz="1300" dirty="0"/>
          </a:p>
        </p:txBody>
      </p:sp>
      <p:sp>
        <p:nvSpPr>
          <p:cNvPr id="24" name="Shape 22"/>
          <p:cNvSpPr/>
          <p:nvPr/>
        </p:nvSpPr>
        <p:spPr>
          <a:xfrm>
            <a:off x="3495675" y="4027488"/>
            <a:ext cx="2520950" cy="1736527"/>
          </a:xfrm>
          <a:prstGeom prst="roundRect">
            <a:avLst>
              <a:gd name="adj" fmla="val 8593"/>
            </a:avLst>
          </a:prstGeom>
          <a:solidFill>
            <a:srgbClr val="FDFCFF"/>
          </a:solidFill>
          <a:ln w="6350">
            <a:solidFill>
              <a:srgbClr val="E2D9FB"/>
            </a:solidFill>
            <a:prstDash val="solid"/>
          </a:ln>
        </p:spPr>
        <p:txBody>
          <a:bodyPr/>
          <a:lstStyle/>
          <a:p>
            <a:endParaRPr lang="pt-BR"/>
          </a:p>
        </p:txBody>
      </p:sp>
      <p:sp>
        <p:nvSpPr>
          <p:cNvPr id="25" name="Text 23"/>
          <p:cNvSpPr/>
          <p:nvPr/>
        </p:nvSpPr>
        <p:spPr>
          <a:xfrm>
            <a:off x="3702050" y="4233863"/>
            <a:ext cx="21714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06</a:t>
            </a:r>
            <a:endParaRPr lang="en-US" sz="1600" dirty="0"/>
          </a:p>
        </p:txBody>
      </p:sp>
      <p:sp>
        <p:nvSpPr>
          <p:cNvPr id="26" name="Text 24"/>
          <p:cNvSpPr/>
          <p:nvPr/>
        </p:nvSpPr>
        <p:spPr>
          <a:xfrm>
            <a:off x="3702050" y="4581823"/>
            <a:ext cx="217144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Cobrança lenta</a:t>
            </a:r>
            <a:endParaRPr lang="en-US" sz="1600" dirty="0"/>
          </a:p>
        </p:txBody>
      </p:sp>
      <p:sp>
        <p:nvSpPr>
          <p:cNvPr id="27" name="Text 25"/>
          <p:cNvSpPr/>
          <p:nvPr/>
        </p:nvSpPr>
        <p:spPr>
          <a:xfrm>
            <a:off x="3702050" y="4889103"/>
            <a:ext cx="2171446"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Fila no caixa e envio manual, sem validar quem paga</a:t>
            </a:r>
            <a:endParaRPr lang="en-US" sz="1300" dirty="0"/>
          </a:p>
        </p:txBody>
      </p:sp>
      <p:sp>
        <p:nvSpPr>
          <p:cNvPr id="28" name="Shape 26"/>
          <p:cNvSpPr/>
          <p:nvPr/>
        </p:nvSpPr>
        <p:spPr>
          <a:xfrm>
            <a:off x="6175375" y="4027488"/>
            <a:ext cx="5200650" cy="1736527"/>
          </a:xfrm>
          <a:prstGeom prst="roundRect">
            <a:avLst>
              <a:gd name="adj" fmla="val 8593"/>
            </a:avLst>
          </a:prstGeom>
          <a:solidFill>
            <a:srgbClr val="FDFCFF"/>
          </a:solidFill>
          <a:ln w="6350">
            <a:solidFill>
              <a:srgbClr val="E2D9FB"/>
            </a:solidFill>
            <a:prstDash val="solid"/>
          </a:ln>
        </p:spPr>
        <p:txBody>
          <a:bodyPr/>
          <a:lstStyle/>
          <a:p>
            <a:endParaRPr lang="pt-BR"/>
          </a:p>
        </p:txBody>
      </p:sp>
      <p:sp>
        <p:nvSpPr>
          <p:cNvPr id="29" name="Text 27"/>
          <p:cNvSpPr/>
          <p:nvPr/>
        </p:nvSpPr>
        <p:spPr>
          <a:xfrm>
            <a:off x="6381750" y="4233863"/>
            <a:ext cx="493153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D3AE8"/>
                </a:solidFill>
                <a:latin typeface="Montserrat" pitchFamily="34" charset="0"/>
                <a:ea typeface="Montserrat" pitchFamily="34" charset="-122"/>
                <a:cs typeface="Montserrat" pitchFamily="34" charset="-120"/>
              </a:rPr>
              <a:t>07</a:t>
            </a:r>
            <a:endParaRPr lang="en-US" sz="1600" dirty="0"/>
          </a:p>
        </p:txBody>
      </p:sp>
      <p:sp>
        <p:nvSpPr>
          <p:cNvPr id="30" name="Text 28"/>
          <p:cNvSpPr/>
          <p:nvPr/>
        </p:nvSpPr>
        <p:spPr>
          <a:xfrm>
            <a:off x="6381750" y="4581823"/>
            <a:ext cx="49315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3B"/>
                </a:solidFill>
                <a:latin typeface="Montserrat" pitchFamily="34" charset="0"/>
                <a:ea typeface="Montserrat" pitchFamily="34" charset="-122"/>
                <a:cs typeface="Montserrat" pitchFamily="34" charset="-120"/>
              </a:rPr>
              <a:t>Dados soltos</a:t>
            </a:r>
            <a:endParaRPr lang="en-US" sz="1600" dirty="0"/>
          </a:p>
        </p:txBody>
      </p:sp>
      <p:sp>
        <p:nvSpPr>
          <p:cNvPr id="31" name="Text 29"/>
          <p:cNvSpPr/>
          <p:nvPr/>
        </p:nvSpPr>
        <p:spPr>
          <a:xfrm>
            <a:off x="6381750" y="4889103"/>
            <a:ext cx="493153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CRM, WhatsApp, agenda e financeiro sem o mesmo identificador: a gestão não mede no-show nem receita perdida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97731"/>
            <a:ext cx="7338441" cy="12827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A Daisy confirma, encaixa e orienta o paciente, sem tomar decisão clínica</a:t>
            </a:r>
            <a:endParaRPr lang="en-US" sz="3000" dirty="0"/>
          </a:p>
        </p:txBody>
      </p:sp>
      <p:sp>
        <p:nvSpPr>
          <p:cNvPr id="3" name="Shape 1"/>
          <p:cNvSpPr/>
          <p:nvPr/>
        </p:nvSpPr>
        <p:spPr>
          <a:xfrm>
            <a:off x="815975" y="2336006"/>
            <a:ext cx="2283817" cy="1721346"/>
          </a:xfrm>
          <a:prstGeom prst="roundRect">
            <a:avLst>
              <a:gd name="adj" fmla="val 8669"/>
            </a:avLst>
          </a:prstGeom>
          <a:solidFill>
            <a:srgbClr val="FDFCFF"/>
          </a:solidFill>
          <a:ln w="6350">
            <a:solidFill>
              <a:srgbClr val="E2D9FB"/>
            </a:solidFill>
            <a:prstDash val="solid"/>
          </a:ln>
        </p:spPr>
        <p:txBody>
          <a:bodyPr/>
          <a:lstStyle/>
          <a:p>
            <a:endParaRPr lang="pt-BR"/>
          </a:p>
        </p:txBody>
      </p:sp>
      <p:pic>
        <p:nvPicPr>
          <p:cNvPr id="4" name="Image 0" descr="CheckCircle"/>
          <p:cNvPicPr>
            <a:picLocks noChangeAspect="1"/>
          </p:cNvPicPr>
          <p:nvPr/>
        </p:nvPicPr>
        <p:blipFill>
          <a:blip r:embed="rId3"/>
          <a:srcRect/>
          <a:stretch/>
        </p:blipFill>
        <p:spPr>
          <a:xfrm>
            <a:off x="996950" y="2516981"/>
            <a:ext cx="304800" cy="304800"/>
          </a:xfrm>
          <a:prstGeom prst="rect">
            <a:avLst/>
          </a:prstGeom>
        </p:spPr>
      </p:pic>
      <p:sp>
        <p:nvSpPr>
          <p:cNvPr id="5" name="Text 2"/>
          <p:cNvSpPr/>
          <p:nvPr/>
        </p:nvSpPr>
        <p:spPr>
          <a:xfrm>
            <a:off x="996950" y="2885281"/>
            <a:ext cx="197952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153B"/>
                </a:solidFill>
                <a:latin typeface="Montserrat" pitchFamily="34" charset="0"/>
                <a:ea typeface="Montserrat" pitchFamily="34" charset="-122"/>
                <a:cs typeface="Montserrat" pitchFamily="34" charset="-120"/>
              </a:rPr>
              <a:t>Confirma</a:t>
            </a:r>
            <a:endParaRPr lang="en-US" sz="1700" dirty="0"/>
          </a:p>
        </p:txBody>
      </p:sp>
      <p:sp>
        <p:nvSpPr>
          <p:cNvPr id="6" name="Text 3"/>
          <p:cNvSpPr/>
          <p:nvPr/>
        </p:nvSpPr>
        <p:spPr>
          <a:xfrm>
            <a:off x="996950" y="3207841"/>
            <a:ext cx="1979523"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Lembra 24 h, 16 h, 4 h e 2 h antes e registra a resposta</a:t>
            </a:r>
            <a:endParaRPr lang="en-US" sz="1300" dirty="0"/>
          </a:p>
        </p:txBody>
      </p:sp>
      <p:sp>
        <p:nvSpPr>
          <p:cNvPr id="7" name="Shape 4"/>
          <p:cNvSpPr/>
          <p:nvPr/>
        </p:nvSpPr>
        <p:spPr>
          <a:xfrm>
            <a:off x="3233142" y="2336006"/>
            <a:ext cx="2283916" cy="1721346"/>
          </a:xfrm>
          <a:prstGeom prst="roundRect">
            <a:avLst>
              <a:gd name="adj" fmla="val 8669"/>
            </a:avLst>
          </a:prstGeom>
          <a:solidFill>
            <a:srgbClr val="FDFCFF"/>
          </a:solidFill>
          <a:ln w="6350">
            <a:solidFill>
              <a:srgbClr val="E2D9FB"/>
            </a:solidFill>
            <a:prstDash val="solid"/>
          </a:ln>
        </p:spPr>
        <p:txBody>
          <a:bodyPr/>
          <a:lstStyle/>
          <a:p>
            <a:endParaRPr lang="pt-BR"/>
          </a:p>
        </p:txBody>
      </p:sp>
      <p:pic>
        <p:nvPicPr>
          <p:cNvPr id="8" name="Image 1" descr="Link"/>
          <p:cNvPicPr>
            <a:picLocks noChangeAspect="1"/>
          </p:cNvPicPr>
          <p:nvPr/>
        </p:nvPicPr>
        <p:blipFill>
          <a:blip r:embed="rId4"/>
          <a:srcRect/>
          <a:stretch/>
        </p:blipFill>
        <p:spPr>
          <a:xfrm>
            <a:off x="3414117" y="2516981"/>
            <a:ext cx="304800" cy="304800"/>
          </a:xfrm>
          <a:prstGeom prst="rect">
            <a:avLst/>
          </a:prstGeom>
        </p:spPr>
      </p:pic>
      <p:sp>
        <p:nvSpPr>
          <p:cNvPr id="9" name="Text 5"/>
          <p:cNvSpPr/>
          <p:nvPr/>
        </p:nvSpPr>
        <p:spPr>
          <a:xfrm>
            <a:off x="3414117" y="2885281"/>
            <a:ext cx="197962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153B"/>
                </a:solidFill>
                <a:latin typeface="Montserrat" pitchFamily="34" charset="0"/>
                <a:ea typeface="Montserrat" pitchFamily="34" charset="-122"/>
                <a:cs typeface="Montserrat" pitchFamily="34" charset="-120"/>
              </a:rPr>
              <a:t>Encaixa</a:t>
            </a:r>
            <a:endParaRPr lang="en-US" sz="1700" dirty="0"/>
          </a:p>
        </p:txBody>
      </p:sp>
      <p:sp>
        <p:nvSpPr>
          <p:cNvPr id="10" name="Text 6"/>
          <p:cNvSpPr/>
          <p:nvPr/>
        </p:nvSpPr>
        <p:spPr>
          <a:xfrm>
            <a:off x="3414117" y="3207841"/>
            <a:ext cx="197962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Oferece a vaga cancelada a quem chega a tempo</a:t>
            </a:r>
            <a:endParaRPr lang="en-US" sz="1300" dirty="0"/>
          </a:p>
        </p:txBody>
      </p:sp>
      <p:sp>
        <p:nvSpPr>
          <p:cNvPr id="11" name="Shape 7"/>
          <p:cNvSpPr/>
          <p:nvPr/>
        </p:nvSpPr>
        <p:spPr>
          <a:xfrm>
            <a:off x="5650409" y="2336006"/>
            <a:ext cx="2283916" cy="1721346"/>
          </a:xfrm>
          <a:prstGeom prst="roundRect">
            <a:avLst>
              <a:gd name="adj" fmla="val 8669"/>
            </a:avLst>
          </a:prstGeom>
          <a:solidFill>
            <a:srgbClr val="FDFCFF"/>
          </a:solidFill>
          <a:ln w="6350">
            <a:solidFill>
              <a:srgbClr val="E2D9FB"/>
            </a:solidFill>
            <a:prstDash val="solid"/>
          </a:ln>
        </p:spPr>
        <p:txBody>
          <a:bodyPr/>
          <a:lstStyle/>
          <a:p>
            <a:endParaRPr lang="pt-BR"/>
          </a:p>
        </p:txBody>
      </p:sp>
      <p:pic>
        <p:nvPicPr>
          <p:cNvPr id="12" name="Image 2" descr="Globe"/>
          <p:cNvPicPr>
            <a:picLocks noChangeAspect="1"/>
          </p:cNvPicPr>
          <p:nvPr/>
        </p:nvPicPr>
        <p:blipFill>
          <a:blip r:embed="rId5"/>
          <a:srcRect/>
          <a:stretch/>
        </p:blipFill>
        <p:spPr>
          <a:xfrm>
            <a:off x="5831384" y="2516981"/>
            <a:ext cx="304800" cy="304800"/>
          </a:xfrm>
          <a:prstGeom prst="rect">
            <a:avLst/>
          </a:prstGeom>
        </p:spPr>
      </p:pic>
      <p:sp>
        <p:nvSpPr>
          <p:cNvPr id="13" name="Text 8"/>
          <p:cNvSpPr/>
          <p:nvPr/>
        </p:nvSpPr>
        <p:spPr>
          <a:xfrm>
            <a:off x="5831384" y="2885281"/>
            <a:ext cx="197962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153B"/>
                </a:solidFill>
                <a:latin typeface="Montserrat" pitchFamily="34" charset="0"/>
                <a:ea typeface="Montserrat" pitchFamily="34" charset="-122"/>
                <a:cs typeface="Montserrat" pitchFamily="34" charset="-120"/>
              </a:rPr>
              <a:t>Orienta</a:t>
            </a:r>
            <a:endParaRPr lang="en-US" sz="1700" dirty="0"/>
          </a:p>
        </p:txBody>
      </p:sp>
      <p:sp>
        <p:nvSpPr>
          <p:cNvPr id="14" name="Text 9"/>
          <p:cNvSpPr/>
          <p:nvPr/>
        </p:nvSpPr>
        <p:spPr>
          <a:xfrm>
            <a:off x="5831384" y="3207841"/>
            <a:ext cx="197962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Envia preparo, jejum e a melhor rota até o hospital</a:t>
            </a:r>
            <a:endParaRPr lang="en-US" sz="1300" dirty="0"/>
          </a:p>
        </p:txBody>
      </p:sp>
      <p:sp>
        <p:nvSpPr>
          <p:cNvPr id="15" name="Text 10"/>
          <p:cNvSpPr/>
          <p:nvPr/>
        </p:nvSpPr>
        <p:spPr>
          <a:xfrm>
            <a:off x="812800" y="4238327"/>
            <a:ext cx="7124700" cy="777081"/>
          </a:xfrm>
          <a:prstGeom prst="roundRect">
            <a:avLst>
              <a:gd name="adj" fmla="val 14709"/>
            </a:avLst>
          </a:prstGeom>
          <a:solidFill>
            <a:srgbClr val="E9E2FC"/>
          </a:solidFill>
          <a:ln/>
        </p:spPr>
        <p:txBody>
          <a:bodyPr wrap="square" lIns="144323" tIns="106223" rIns="0" bIns="80823" rtlCol="0" anchor="t">
            <a:normAutofit/>
          </a:bodyPr>
          <a:lstStyle/>
          <a:p>
            <a:pPr marL="0" indent="0" algn="l">
              <a:lnSpc>
                <a:spcPts val="1960"/>
              </a:lnSpc>
              <a:buNone/>
            </a:pPr>
            <a:r>
              <a:rPr lang="en-US" sz="1400" dirty="0">
                <a:solidFill>
                  <a:srgbClr val="3B2A8F"/>
                </a:solidFill>
                <a:latin typeface="Nunito Sans" pitchFamily="34" charset="0"/>
                <a:ea typeface="Nunito Sans" pitchFamily="34" charset="-122"/>
                <a:cs typeface="Nunito Sans" pitchFamily="34" charset="-120"/>
              </a:rPr>
              <a:t>Confirmar reduz o </a:t>
            </a:r>
            <a:r>
              <a:rPr lang="en-US" sz="1400" i="1" dirty="0">
                <a:solidFill>
                  <a:srgbClr val="3B2A8F"/>
                </a:solidFill>
                <a:latin typeface="Nunito Sans" pitchFamily="34" charset="0"/>
                <a:ea typeface="Nunito Sans" pitchFamily="34" charset="-122"/>
                <a:cs typeface="Nunito Sans" pitchFamily="34" charset="-120"/>
              </a:rPr>
              <a:t>no-show</a:t>
            </a:r>
            <a:r>
              <a:rPr lang="en-US" sz="1400" dirty="0">
                <a:solidFill>
                  <a:srgbClr val="3B2A8F"/>
                </a:solidFill>
                <a:latin typeface="Nunito Sans" pitchFamily="34" charset="0"/>
                <a:ea typeface="Nunito Sans" pitchFamily="34" charset="-122"/>
                <a:cs typeface="Nunito Sans" pitchFamily="34" charset="-120"/>
              </a:rPr>
              <a:t> em </a:t>
            </a:r>
            <a:r>
              <a:rPr lang="en-US" sz="1400" b="1" dirty="0">
                <a:solidFill>
                  <a:srgbClr val="3B2A8F"/>
                </a:solidFill>
                <a:latin typeface="Nunito Sans" pitchFamily="34" charset="0"/>
                <a:ea typeface="Nunito Sans" pitchFamily="34" charset="-122"/>
                <a:cs typeface="Nunito Sans" pitchFamily="34" charset="-120"/>
              </a:rPr>
              <a:t>30% a 65%</a:t>
            </a:r>
            <a:r>
              <a:rPr lang="en-US" sz="1400" dirty="0">
                <a:solidFill>
                  <a:srgbClr val="3B2A8F"/>
                </a:solidFill>
                <a:latin typeface="Nunito Sans" pitchFamily="34" charset="0"/>
                <a:ea typeface="Nunito Sans" pitchFamily="34" charset="-122"/>
                <a:cs typeface="Nunito Sans" pitchFamily="34" charset="-120"/>
              </a:rPr>
              <a:t>, conforme o encadeamento das mensagens. Fonte: UTech.</a:t>
            </a:r>
            <a:endParaRPr lang="en-US" sz="1400" dirty="0"/>
          </a:p>
        </p:txBody>
      </p:sp>
      <p:sp>
        <p:nvSpPr>
          <p:cNvPr id="16" name="Shape 11"/>
          <p:cNvSpPr/>
          <p:nvPr/>
        </p:nvSpPr>
        <p:spPr>
          <a:xfrm>
            <a:off x="812800" y="5193209"/>
            <a:ext cx="7124700" cy="766961"/>
          </a:xfrm>
          <a:prstGeom prst="roundRect">
            <a:avLst>
              <a:gd name="adj" fmla="val 14903"/>
            </a:avLst>
          </a:prstGeom>
          <a:solidFill>
            <a:srgbClr val="211843"/>
          </a:solidFill>
          <a:ln/>
        </p:spPr>
        <p:txBody>
          <a:bodyPr/>
          <a:lstStyle/>
          <a:p>
            <a:endParaRPr lang="pt-BR"/>
          </a:p>
        </p:txBody>
      </p:sp>
      <p:pic>
        <p:nvPicPr>
          <p:cNvPr id="17" name="Image 3" descr="Trust"/>
          <p:cNvPicPr>
            <a:picLocks noChangeAspect="1"/>
          </p:cNvPicPr>
          <p:nvPr/>
        </p:nvPicPr>
        <p:blipFill>
          <a:blip r:embed="rId6"/>
          <a:srcRect/>
          <a:stretch/>
        </p:blipFill>
        <p:spPr>
          <a:xfrm>
            <a:off x="990600" y="5436989"/>
            <a:ext cx="279400" cy="279400"/>
          </a:xfrm>
          <a:prstGeom prst="rect">
            <a:avLst/>
          </a:prstGeom>
        </p:spPr>
      </p:pic>
      <p:sp>
        <p:nvSpPr>
          <p:cNvPr id="18" name="Text 12"/>
          <p:cNvSpPr/>
          <p:nvPr/>
        </p:nvSpPr>
        <p:spPr>
          <a:xfrm>
            <a:off x="1397000" y="5345609"/>
            <a:ext cx="655358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DE8FF"/>
                </a:solidFill>
                <a:latin typeface="Nunito Sans" pitchFamily="34" charset="0"/>
                <a:ea typeface="Nunito Sans" pitchFamily="34" charset="-122"/>
                <a:cs typeface="Nunito Sans" pitchFamily="34" charset="-120"/>
              </a:rPr>
              <a:t>O que ela não faz:</a:t>
            </a:r>
            <a:r>
              <a:rPr lang="en-US" sz="1300" dirty="0">
                <a:solidFill>
                  <a:srgbClr val="EDE8FF"/>
                </a:solidFill>
                <a:latin typeface="Nunito Sans" pitchFamily="34" charset="0"/>
                <a:ea typeface="Nunito Sans" pitchFamily="34" charset="-122"/>
                <a:cs typeface="Nunito Sans" pitchFamily="34" charset="-120"/>
              </a:rPr>
              <a:t> diagnóstico, receita ou leitura de exames. Qualquer risco clínico vai direto para a equipe humana.</a:t>
            </a:r>
            <a:endParaRPr lang="en-US" sz="1300" dirty="0"/>
          </a:p>
        </p:txBody>
      </p:sp>
      <p:pic>
        <p:nvPicPr>
          <p:cNvPr id="19" name="Image 4" descr="Tela do WhatsApp com a Daisy apresentando o menu de 11 opções"/>
          <p:cNvPicPr>
            <a:picLocks noChangeAspect="1"/>
          </p:cNvPicPr>
          <p:nvPr/>
        </p:nvPicPr>
        <p:blipFill>
          <a:blip r:embed="rId7"/>
          <a:srcRect l="-29" r="-29"/>
          <a:stretch/>
        </p:blipFill>
        <p:spPr>
          <a:xfrm>
            <a:off x="8394700" y="889000"/>
            <a:ext cx="2984500" cy="5080000"/>
          </a:xfrm>
          <a:prstGeom prst="roundRect">
            <a:avLst>
              <a:gd name="adj" fmla="val 5957"/>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AF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O mesmo atendimento no app e no WhatsApp, por texto ou por voz</a:t>
            </a:r>
            <a:endParaRPr lang="en-US" sz="3000" dirty="0"/>
          </a:p>
        </p:txBody>
      </p:sp>
      <p:pic>
        <p:nvPicPr>
          <p:cNvPr id="3" name="Image 0" descr="Tela do chat da Daisy no app, com boas-vindas, conversa e menu de comandos rápidos"/>
          <p:cNvPicPr>
            <a:picLocks noChangeAspect="1"/>
          </p:cNvPicPr>
          <p:nvPr/>
        </p:nvPicPr>
        <p:blipFill>
          <a:blip r:embed="rId3"/>
          <a:srcRect l="-38" r="-38"/>
          <a:stretch/>
        </p:blipFill>
        <p:spPr>
          <a:xfrm>
            <a:off x="819150" y="1962150"/>
            <a:ext cx="6972300" cy="4260850"/>
          </a:xfrm>
          <a:prstGeom prst="roundRect">
            <a:avLst>
              <a:gd name="adj" fmla="val 3428"/>
            </a:avLst>
          </a:prstGeom>
          <a:effectLst>
            <a:outerShdw blurRad="381000" dist="152400" dir="5400000" algn="bl" rotWithShape="0">
              <a:srgbClr val="4428A0">
                <a:alpha val="16000"/>
              </a:srgbClr>
            </a:outerShdw>
          </a:effectLst>
        </p:spPr>
      </p:pic>
      <p:sp>
        <p:nvSpPr>
          <p:cNvPr id="4" name="Shape 1"/>
          <p:cNvSpPr/>
          <p:nvPr/>
        </p:nvSpPr>
        <p:spPr>
          <a:xfrm>
            <a:off x="815975" y="1958975"/>
            <a:ext cx="6978650" cy="4267200"/>
          </a:xfrm>
          <a:prstGeom prst="roundRect">
            <a:avLst>
              <a:gd name="adj" fmla="val 3497"/>
            </a:avLst>
          </a:prstGeom>
          <a:noFill/>
          <a:ln w="6350">
            <a:solidFill>
              <a:srgbClr val="DCD2FA"/>
            </a:solidFill>
            <a:prstDash val="solid"/>
          </a:ln>
        </p:spPr>
        <p:txBody>
          <a:bodyPr/>
          <a:lstStyle/>
          <a:p>
            <a:endParaRPr lang="pt-BR"/>
          </a:p>
        </p:txBody>
      </p:sp>
      <p:sp>
        <p:nvSpPr>
          <p:cNvPr id="5" name="Text 2"/>
          <p:cNvSpPr/>
          <p:nvPr/>
        </p:nvSpPr>
        <p:spPr>
          <a:xfrm>
            <a:off x="8153400" y="1955800"/>
            <a:ext cx="3322574"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6D3AE8"/>
                </a:solidFill>
                <a:latin typeface="Montserrat" pitchFamily="34" charset="0"/>
                <a:ea typeface="Montserrat" pitchFamily="34" charset="-122"/>
                <a:cs typeface="Montserrat" pitchFamily="34" charset="-120"/>
              </a:rPr>
              <a:t>11</a:t>
            </a:r>
            <a:endParaRPr lang="en-US" sz="2800" dirty="0"/>
          </a:p>
        </p:txBody>
      </p:sp>
      <p:sp>
        <p:nvSpPr>
          <p:cNvPr id="6" name="Text 3"/>
          <p:cNvSpPr/>
          <p:nvPr/>
        </p:nvSpPr>
        <p:spPr>
          <a:xfrm>
            <a:off x="8153400" y="2336800"/>
            <a:ext cx="332257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opções no menu, com a mesma numeração nos dois canais</a:t>
            </a:r>
            <a:endParaRPr lang="en-US" sz="1400" dirty="0"/>
          </a:p>
        </p:txBody>
      </p:sp>
      <p:sp>
        <p:nvSpPr>
          <p:cNvPr id="7" name="Text 4"/>
          <p:cNvSpPr/>
          <p:nvPr/>
        </p:nvSpPr>
        <p:spPr>
          <a:xfrm>
            <a:off x="8153400" y="2994620"/>
            <a:ext cx="3322574"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153B"/>
                </a:solidFill>
                <a:latin typeface="Montserrat" pitchFamily="34" charset="0"/>
                <a:ea typeface="Montserrat" pitchFamily="34" charset="-122"/>
                <a:cs typeface="Montserrat" pitchFamily="34" charset="-120"/>
              </a:rPr>
              <a:t>Voz natural</a:t>
            </a:r>
            <a:endParaRPr lang="en-US" sz="2000" dirty="0"/>
          </a:p>
        </p:txBody>
      </p:sp>
      <p:sp>
        <p:nvSpPr>
          <p:cNvPr id="8" name="Text 5"/>
          <p:cNvSpPr/>
          <p:nvPr/>
        </p:nvSpPr>
        <p:spPr>
          <a:xfrm>
            <a:off x="8153400" y="3299420"/>
            <a:ext cx="332257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a Daisy lê datas, horários e especialidades</a:t>
            </a:r>
            <a:endParaRPr lang="en-US" sz="1400" dirty="0"/>
          </a:p>
        </p:txBody>
      </p:sp>
      <p:sp>
        <p:nvSpPr>
          <p:cNvPr id="9" name="Text 6"/>
          <p:cNvSpPr/>
          <p:nvPr/>
        </p:nvSpPr>
        <p:spPr>
          <a:xfrm>
            <a:off x="8153400" y="3957241"/>
            <a:ext cx="3322574"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153B"/>
                </a:solidFill>
                <a:latin typeface="Montserrat" pitchFamily="34" charset="0"/>
                <a:ea typeface="Montserrat" pitchFamily="34" charset="-122"/>
                <a:cs typeface="Montserrat" pitchFamily="34" charset="-120"/>
              </a:rPr>
              <a:t>Nome + CPF</a:t>
            </a:r>
            <a:endParaRPr lang="en-US" sz="2000" dirty="0"/>
          </a:p>
        </p:txBody>
      </p:sp>
      <p:sp>
        <p:nvSpPr>
          <p:cNvPr id="10" name="Text 7"/>
          <p:cNvSpPr/>
          <p:nvPr/>
        </p:nvSpPr>
        <p:spPr>
          <a:xfrm>
            <a:off x="8153400" y="4262041"/>
            <a:ext cx="332257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antes de qualquer Pix, boleto ou nova consulta</a:t>
            </a:r>
            <a:endParaRPr lang="en-US" sz="1400" dirty="0"/>
          </a:p>
        </p:txBody>
      </p:sp>
      <p:sp>
        <p:nvSpPr>
          <p:cNvPr id="11" name="Text 8"/>
          <p:cNvSpPr/>
          <p:nvPr/>
        </p:nvSpPr>
        <p:spPr>
          <a:xfrm>
            <a:off x="8153400" y="4919861"/>
            <a:ext cx="3322574"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153B"/>
                </a:solidFill>
                <a:latin typeface="Montserrat" pitchFamily="34" charset="0"/>
                <a:ea typeface="Montserrat" pitchFamily="34" charset="-122"/>
                <a:cs typeface="Montserrat" pitchFamily="34" charset="-120"/>
              </a:rPr>
              <a:t>Opção 11</a:t>
            </a:r>
            <a:endParaRPr lang="en-US" sz="2000" dirty="0"/>
          </a:p>
        </p:txBody>
      </p:sp>
      <p:sp>
        <p:nvSpPr>
          <p:cNvPr id="12" name="Text 9"/>
          <p:cNvSpPr/>
          <p:nvPr/>
        </p:nvSpPr>
        <p:spPr>
          <a:xfrm>
            <a:off x="8153400" y="5224661"/>
            <a:ext cx="332257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atendente humano, com resumo da conversa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7153B"/>
                </a:solidFill>
                <a:latin typeface="Montserrat" pitchFamily="34" charset="0"/>
                <a:ea typeface="Montserrat" pitchFamily="34" charset="-122"/>
                <a:cs typeface="Montserrat" pitchFamily="34" charset="-120"/>
              </a:rPr>
              <a:t>O MVP já acompanhou 200 mil agendamentos em 10 hospitais</a:t>
            </a:r>
            <a:endParaRPr lang="en-US" sz="3200" dirty="0"/>
          </a:p>
        </p:txBody>
      </p:sp>
      <p:sp>
        <p:nvSpPr>
          <p:cNvPr id="3" name="Text 1"/>
          <p:cNvSpPr/>
          <p:nvPr/>
        </p:nvSpPr>
        <p:spPr>
          <a:xfrm>
            <a:off x="812800" y="247530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COMO O MVP FUNCIONA</a:t>
            </a:r>
            <a:endParaRPr lang="en-US" sz="1200" dirty="0"/>
          </a:p>
        </p:txBody>
      </p:sp>
      <p:sp>
        <p:nvSpPr>
          <p:cNvPr id="4" name="Shape 2"/>
          <p:cNvSpPr/>
          <p:nvPr/>
        </p:nvSpPr>
        <p:spPr>
          <a:xfrm>
            <a:off x="815975" y="2818805"/>
            <a:ext cx="2257425" cy="857151"/>
          </a:xfrm>
          <a:prstGeom prst="roundRect">
            <a:avLst>
              <a:gd name="adj" fmla="val 14446"/>
            </a:avLst>
          </a:prstGeom>
          <a:solidFill>
            <a:srgbClr val="FDFCFF"/>
          </a:solidFill>
          <a:ln w="6350">
            <a:solidFill>
              <a:srgbClr val="E2D9FB"/>
            </a:solidFill>
            <a:prstDash val="solid"/>
          </a:ln>
        </p:spPr>
        <p:txBody>
          <a:bodyPr/>
          <a:lstStyle/>
          <a:p>
            <a:endParaRPr lang="pt-BR"/>
          </a:p>
        </p:txBody>
      </p:sp>
      <p:sp>
        <p:nvSpPr>
          <p:cNvPr id="5" name="Text 3"/>
          <p:cNvSpPr/>
          <p:nvPr/>
        </p:nvSpPr>
        <p:spPr>
          <a:xfrm>
            <a:off x="874078" y="2999780"/>
            <a:ext cx="2141220" cy="26918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7153B"/>
                </a:solidFill>
                <a:latin typeface="Montserrat" pitchFamily="34" charset="0"/>
                <a:ea typeface="Montserrat" pitchFamily="34" charset="-122"/>
                <a:cs typeface="Montserrat" pitchFamily="34" charset="-120"/>
              </a:rPr>
              <a:t>WhatsApp e app</a:t>
            </a:r>
            <a:endParaRPr lang="en-US" sz="1600" dirty="0"/>
          </a:p>
        </p:txBody>
      </p:sp>
      <p:sp>
        <p:nvSpPr>
          <p:cNvPr id="6" name="Text 4"/>
          <p:cNvSpPr/>
          <p:nvPr/>
        </p:nvSpPr>
        <p:spPr>
          <a:xfrm>
            <a:off x="900748" y="3281660"/>
            <a:ext cx="20878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870"/>
                </a:solidFill>
                <a:latin typeface="Nunito Sans" pitchFamily="34" charset="0"/>
                <a:ea typeface="Nunito Sans" pitchFamily="34" charset="-122"/>
                <a:cs typeface="Nunito Sans" pitchFamily="34" charset="-120"/>
              </a:rPr>
              <a:t>onde o paciente conversa</a:t>
            </a:r>
            <a:endParaRPr lang="en-US" sz="1200" dirty="0"/>
          </a:p>
        </p:txBody>
      </p:sp>
      <p:pic>
        <p:nvPicPr>
          <p:cNvPr id="7" name="Image 0" descr="arrow-right"/>
          <p:cNvPicPr>
            <a:picLocks noChangeAspect="1"/>
          </p:cNvPicPr>
          <p:nvPr/>
        </p:nvPicPr>
        <p:blipFill>
          <a:blip r:embed="rId3"/>
          <a:srcRect/>
          <a:stretch/>
        </p:blipFill>
        <p:spPr>
          <a:xfrm>
            <a:off x="3178175" y="3158430"/>
            <a:ext cx="304800" cy="177800"/>
          </a:xfrm>
          <a:prstGeom prst="rect">
            <a:avLst/>
          </a:prstGeom>
        </p:spPr>
      </p:pic>
      <p:sp>
        <p:nvSpPr>
          <p:cNvPr id="8" name="Shape 5"/>
          <p:cNvSpPr/>
          <p:nvPr/>
        </p:nvSpPr>
        <p:spPr>
          <a:xfrm>
            <a:off x="3587750" y="2818805"/>
            <a:ext cx="2257425" cy="857151"/>
          </a:xfrm>
          <a:prstGeom prst="roundRect">
            <a:avLst>
              <a:gd name="adj" fmla="val 14446"/>
            </a:avLst>
          </a:prstGeom>
          <a:solidFill>
            <a:srgbClr val="FDFCFF"/>
          </a:solidFill>
          <a:ln w="6350">
            <a:solidFill>
              <a:srgbClr val="E2D9FB"/>
            </a:solidFill>
            <a:prstDash val="solid"/>
          </a:ln>
        </p:spPr>
        <p:txBody>
          <a:bodyPr/>
          <a:lstStyle/>
          <a:p>
            <a:endParaRPr lang="pt-BR"/>
          </a:p>
        </p:txBody>
      </p:sp>
      <p:sp>
        <p:nvSpPr>
          <p:cNvPr id="9" name="Text 6"/>
          <p:cNvSpPr/>
          <p:nvPr/>
        </p:nvSpPr>
        <p:spPr>
          <a:xfrm>
            <a:off x="3973512" y="2999780"/>
            <a:ext cx="1485900" cy="26918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7153B"/>
                </a:solidFill>
                <a:latin typeface="Montserrat" pitchFamily="34" charset="0"/>
                <a:ea typeface="Montserrat" pitchFamily="34" charset="-122"/>
                <a:cs typeface="Montserrat" pitchFamily="34" charset="-120"/>
              </a:rPr>
              <a:t>Automação</a:t>
            </a:r>
            <a:endParaRPr lang="en-US" sz="1600" dirty="0"/>
          </a:p>
        </p:txBody>
      </p:sp>
      <p:sp>
        <p:nvSpPr>
          <p:cNvPr id="10" name="Text 7"/>
          <p:cNvSpPr/>
          <p:nvPr/>
        </p:nvSpPr>
        <p:spPr>
          <a:xfrm>
            <a:off x="3843973" y="3281660"/>
            <a:ext cx="17449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870"/>
                </a:solidFill>
                <a:latin typeface="Nunito Sans" pitchFamily="34" charset="0"/>
                <a:ea typeface="Nunito Sans" pitchFamily="34" charset="-122"/>
                <a:cs typeface="Nunito Sans" pitchFamily="34" charset="-120"/>
              </a:rPr>
              <a:t>16 workflows no n8n</a:t>
            </a:r>
            <a:endParaRPr lang="en-US" sz="1200" dirty="0"/>
          </a:p>
        </p:txBody>
      </p:sp>
      <p:pic>
        <p:nvPicPr>
          <p:cNvPr id="11" name="Image 1" descr="arrow-right"/>
          <p:cNvPicPr>
            <a:picLocks noChangeAspect="1"/>
          </p:cNvPicPr>
          <p:nvPr/>
        </p:nvPicPr>
        <p:blipFill>
          <a:blip r:embed="rId3"/>
          <a:srcRect/>
          <a:stretch/>
        </p:blipFill>
        <p:spPr>
          <a:xfrm>
            <a:off x="5949950" y="3158430"/>
            <a:ext cx="304800" cy="177800"/>
          </a:xfrm>
          <a:prstGeom prst="rect">
            <a:avLst/>
          </a:prstGeom>
        </p:spPr>
      </p:pic>
      <p:sp>
        <p:nvSpPr>
          <p:cNvPr id="12" name="Shape 8"/>
          <p:cNvSpPr/>
          <p:nvPr/>
        </p:nvSpPr>
        <p:spPr>
          <a:xfrm>
            <a:off x="6359525" y="2818805"/>
            <a:ext cx="2257425" cy="857151"/>
          </a:xfrm>
          <a:prstGeom prst="roundRect">
            <a:avLst>
              <a:gd name="adj" fmla="val 14446"/>
            </a:avLst>
          </a:prstGeom>
          <a:solidFill>
            <a:srgbClr val="FDFCFF"/>
          </a:solidFill>
          <a:ln w="6350">
            <a:solidFill>
              <a:srgbClr val="E2D9FB"/>
            </a:solidFill>
            <a:prstDash val="solid"/>
          </a:ln>
        </p:spPr>
        <p:txBody>
          <a:bodyPr/>
          <a:lstStyle/>
          <a:p>
            <a:endParaRPr lang="pt-BR"/>
          </a:p>
        </p:txBody>
      </p:sp>
      <p:sp>
        <p:nvSpPr>
          <p:cNvPr id="13" name="Text 9"/>
          <p:cNvSpPr/>
          <p:nvPr/>
        </p:nvSpPr>
        <p:spPr>
          <a:xfrm>
            <a:off x="6813868" y="2999780"/>
            <a:ext cx="1348740" cy="26918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7153B"/>
                </a:solidFill>
                <a:latin typeface="Montserrat" pitchFamily="34" charset="0"/>
                <a:ea typeface="Montserrat" pitchFamily="34" charset="-122"/>
                <a:cs typeface="Montserrat" pitchFamily="34" charset="-120"/>
              </a:rPr>
              <a:t>IA de risco</a:t>
            </a:r>
            <a:endParaRPr lang="en-US" sz="1600" dirty="0"/>
          </a:p>
        </p:txBody>
      </p:sp>
      <p:sp>
        <p:nvSpPr>
          <p:cNvPr id="14" name="Text 10"/>
          <p:cNvSpPr/>
          <p:nvPr/>
        </p:nvSpPr>
        <p:spPr>
          <a:xfrm>
            <a:off x="6474778" y="3281660"/>
            <a:ext cx="202692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870"/>
                </a:solidFill>
                <a:latin typeface="Nunito Sans" pitchFamily="34" charset="0"/>
                <a:ea typeface="Nunito Sans" pitchFamily="34" charset="-122"/>
                <a:cs typeface="Nunito Sans" pitchFamily="34" charset="-120"/>
              </a:rPr>
              <a:t>aponta quem pode faltar</a:t>
            </a:r>
            <a:endParaRPr lang="en-US" sz="1200" dirty="0"/>
          </a:p>
        </p:txBody>
      </p:sp>
      <p:pic>
        <p:nvPicPr>
          <p:cNvPr id="15" name="Image 2" descr="arrow-right"/>
          <p:cNvPicPr>
            <a:picLocks noChangeAspect="1"/>
          </p:cNvPicPr>
          <p:nvPr/>
        </p:nvPicPr>
        <p:blipFill>
          <a:blip r:embed="rId3"/>
          <a:srcRect/>
          <a:stretch/>
        </p:blipFill>
        <p:spPr>
          <a:xfrm>
            <a:off x="8721725" y="3158430"/>
            <a:ext cx="304800" cy="177800"/>
          </a:xfrm>
          <a:prstGeom prst="rect">
            <a:avLst/>
          </a:prstGeom>
        </p:spPr>
      </p:pic>
      <p:sp>
        <p:nvSpPr>
          <p:cNvPr id="16" name="Shape 11"/>
          <p:cNvSpPr/>
          <p:nvPr/>
        </p:nvSpPr>
        <p:spPr>
          <a:xfrm>
            <a:off x="9128125" y="2821980"/>
            <a:ext cx="2251075" cy="850801"/>
          </a:xfrm>
          <a:prstGeom prst="roundRect">
            <a:avLst>
              <a:gd name="adj" fmla="val 14927"/>
            </a:avLst>
          </a:prstGeom>
          <a:solidFill>
            <a:srgbClr val="6D3AE8"/>
          </a:solidFill>
          <a:ln/>
        </p:spPr>
        <p:txBody>
          <a:bodyPr/>
          <a:lstStyle/>
          <a:p>
            <a:endParaRPr lang="pt-BR"/>
          </a:p>
        </p:txBody>
      </p:sp>
      <p:sp>
        <p:nvSpPr>
          <p:cNvPr id="17" name="Text 12"/>
          <p:cNvSpPr/>
          <p:nvPr/>
        </p:nvSpPr>
        <p:spPr>
          <a:xfrm>
            <a:off x="9213533" y="2999780"/>
            <a:ext cx="2080260" cy="26918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BFAFF"/>
                </a:solidFill>
                <a:latin typeface="Montserrat" pitchFamily="34" charset="0"/>
                <a:ea typeface="Montserrat" pitchFamily="34" charset="-122"/>
                <a:cs typeface="Montserrat" pitchFamily="34" charset="-120"/>
              </a:rPr>
              <a:t>Painel do gestor</a:t>
            </a:r>
            <a:endParaRPr lang="en-US" sz="1600" dirty="0"/>
          </a:p>
        </p:txBody>
      </p:sp>
      <p:sp>
        <p:nvSpPr>
          <p:cNvPr id="18" name="Text 13"/>
          <p:cNvSpPr/>
          <p:nvPr/>
        </p:nvSpPr>
        <p:spPr>
          <a:xfrm>
            <a:off x="9301163" y="3281660"/>
            <a:ext cx="19050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EDE8FF"/>
                </a:solidFill>
                <a:latin typeface="Nunito Sans" pitchFamily="34" charset="0"/>
                <a:ea typeface="Nunito Sans" pitchFamily="34" charset="-122"/>
                <a:cs typeface="Nunito Sans" pitchFamily="34" charset="-120"/>
              </a:rPr>
              <a:t>resultados no Power BI</a:t>
            </a:r>
            <a:endParaRPr lang="en-US" sz="1200" dirty="0"/>
          </a:p>
        </p:txBody>
      </p:sp>
      <p:sp>
        <p:nvSpPr>
          <p:cNvPr id="19" name="Shape 14"/>
          <p:cNvSpPr/>
          <p:nvPr/>
        </p:nvSpPr>
        <p:spPr>
          <a:xfrm>
            <a:off x="812800" y="4453930"/>
            <a:ext cx="10566400" cy="0"/>
          </a:xfrm>
          <a:prstGeom prst="line">
            <a:avLst/>
          </a:prstGeom>
          <a:noFill/>
          <a:ln w="12700">
            <a:solidFill>
              <a:srgbClr val="E2D9FB"/>
            </a:solidFill>
            <a:prstDash val="solid"/>
          </a:ln>
        </p:spPr>
        <p:txBody>
          <a:bodyPr/>
          <a:lstStyle/>
          <a:p>
            <a:endParaRPr lang="pt-BR"/>
          </a:p>
        </p:txBody>
      </p:sp>
      <p:sp>
        <p:nvSpPr>
          <p:cNvPr id="20" name="Text 15"/>
          <p:cNvSpPr/>
          <p:nvPr/>
        </p:nvSpPr>
        <p:spPr>
          <a:xfrm>
            <a:off x="812800" y="4714280"/>
            <a:ext cx="334873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6D3AE8"/>
                </a:solidFill>
                <a:latin typeface="Montserrat" pitchFamily="34" charset="0"/>
                <a:ea typeface="Montserrat" pitchFamily="34" charset="-122"/>
                <a:cs typeface="Montserrat" pitchFamily="34" charset="-120"/>
              </a:rPr>
              <a:t>200 mil</a:t>
            </a:r>
            <a:endParaRPr lang="en-US" sz="4800" dirty="0"/>
          </a:p>
        </p:txBody>
      </p:sp>
      <p:sp>
        <p:nvSpPr>
          <p:cNvPr id="21" name="Text 16"/>
          <p:cNvSpPr/>
          <p:nvPr/>
        </p:nvSpPr>
        <p:spPr>
          <a:xfrm>
            <a:off x="812800" y="5361980"/>
            <a:ext cx="334873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agendamentos acompanhados em 12 meses</a:t>
            </a:r>
            <a:endParaRPr lang="en-US" sz="1400" dirty="0"/>
          </a:p>
        </p:txBody>
      </p:sp>
      <p:sp>
        <p:nvSpPr>
          <p:cNvPr id="22" name="Text 17"/>
          <p:cNvSpPr/>
          <p:nvPr/>
        </p:nvSpPr>
        <p:spPr>
          <a:xfrm>
            <a:off x="4470400" y="4714280"/>
            <a:ext cx="334873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6D3AE8"/>
                </a:solidFill>
                <a:latin typeface="Montserrat" pitchFamily="34" charset="0"/>
                <a:ea typeface="Montserrat" pitchFamily="34" charset="-122"/>
                <a:cs typeface="Montserrat" pitchFamily="34" charset="-120"/>
              </a:rPr>
              <a:t>72%</a:t>
            </a:r>
            <a:endParaRPr lang="en-US" sz="4800" dirty="0"/>
          </a:p>
        </p:txBody>
      </p:sp>
      <p:sp>
        <p:nvSpPr>
          <p:cNvPr id="23" name="Text 18"/>
          <p:cNvSpPr/>
          <p:nvPr/>
        </p:nvSpPr>
        <p:spPr>
          <a:xfrm>
            <a:off x="4470400" y="5361980"/>
            <a:ext cx="334873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dos pacientes confirmaram a consulta 24 h antes</a:t>
            </a:r>
            <a:endParaRPr lang="en-US" sz="1400" dirty="0"/>
          </a:p>
        </p:txBody>
      </p:sp>
      <p:sp>
        <p:nvSpPr>
          <p:cNvPr id="24" name="Text 19"/>
          <p:cNvSpPr/>
          <p:nvPr/>
        </p:nvSpPr>
        <p:spPr>
          <a:xfrm>
            <a:off x="8128000" y="4714280"/>
            <a:ext cx="334873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6D3AE8"/>
                </a:solidFill>
                <a:latin typeface="Montserrat" pitchFamily="34" charset="0"/>
                <a:ea typeface="Montserrat" pitchFamily="34" charset="-122"/>
                <a:cs typeface="Montserrat" pitchFamily="34" charset="-120"/>
              </a:rPr>
              <a:t>60%</a:t>
            </a:r>
            <a:endParaRPr lang="en-US" sz="4800" dirty="0"/>
          </a:p>
        </p:txBody>
      </p:sp>
      <p:sp>
        <p:nvSpPr>
          <p:cNvPr id="25" name="Text 20"/>
          <p:cNvSpPr/>
          <p:nvPr/>
        </p:nvSpPr>
        <p:spPr>
          <a:xfrm>
            <a:off x="8128000" y="5361980"/>
            <a:ext cx="334873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870"/>
                </a:solidFill>
                <a:latin typeface="Nunito Sans" pitchFamily="34" charset="0"/>
                <a:ea typeface="Nunito Sans" pitchFamily="34" charset="-122"/>
                <a:cs typeface="Nunito Sans" pitchFamily="34" charset="-120"/>
              </a:rPr>
              <a:t>das confirmações chegaram pelo WhatsApp</a:t>
            </a:r>
            <a:endParaRPr lang="en-US" sz="1400" dirty="0"/>
          </a:p>
        </p:txBody>
      </p:sp>
      <p:sp>
        <p:nvSpPr>
          <p:cNvPr id="26"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Fonte: base operacional DaisyCare, 200 mil agendamentos em 10 hospitais, set/2025–ago/2026.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51A4D"/>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51A4D"/>
              </a:gs>
              <a:gs pos="100000">
                <a:srgbClr val="1B1338"/>
              </a:gs>
            </a:gsLst>
            <a:lin ang="2700000" scaled="0"/>
          </a:gradFill>
          <a:ln/>
        </p:spPr>
        <p:txBody>
          <a:bodyPr/>
          <a:lstStyle/>
          <a:p>
            <a:endParaRPr lang="pt-B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9A6F4"/>
                </a:solidFill>
                <a:latin typeface="Montserrat" pitchFamily="34" charset="0"/>
                <a:ea typeface="Montserrat" pitchFamily="34" charset="-122"/>
                <a:cs typeface="Montserrat" pitchFamily="34" charset="-120"/>
              </a:rPr>
              <a:t>DEMONSTRAÇÃO</a:t>
            </a:r>
            <a:endParaRPr lang="en-US" sz="1200" dirty="0"/>
          </a:p>
        </p:txBody>
      </p:sp>
      <p:sp>
        <p:nvSpPr>
          <p:cNvPr id="4" name="Text 2"/>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BFAFF"/>
                </a:solidFill>
                <a:latin typeface="Montserrat" pitchFamily="34" charset="0"/>
                <a:ea typeface="Montserrat" pitchFamily="34" charset="-122"/>
                <a:cs typeface="Montserrat" pitchFamily="34" charset="-120"/>
              </a:rPr>
              <a:t>Do cancelamento ao encaixe em 3 passos</a:t>
            </a:r>
            <a:endParaRPr lang="en-US" sz="3600" dirty="0"/>
          </a:p>
        </p:txBody>
      </p:sp>
      <p:sp>
        <p:nvSpPr>
          <p:cNvPr id="5" name="Shape 3"/>
          <p:cNvSpPr/>
          <p:nvPr/>
        </p:nvSpPr>
        <p:spPr>
          <a:xfrm>
            <a:off x="815975" y="2014736"/>
            <a:ext cx="3380284" cy="4027289"/>
          </a:xfrm>
          <a:prstGeom prst="roundRect">
            <a:avLst>
              <a:gd name="adj" fmla="val 5166"/>
            </a:avLst>
          </a:prstGeom>
          <a:solidFill>
            <a:srgbClr val="3A2C6E"/>
          </a:solidFill>
          <a:ln w="6350">
            <a:solidFill>
              <a:srgbClr val="5A48A0"/>
            </a:solidFill>
            <a:prstDash val="solid"/>
          </a:ln>
        </p:spPr>
        <p:txBody>
          <a:bodyPr/>
          <a:lstStyle/>
          <a:p>
            <a:endParaRPr lang="pt-BR"/>
          </a:p>
        </p:txBody>
      </p:sp>
      <p:sp>
        <p:nvSpPr>
          <p:cNvPr id="6" name="Text 4"/>
          <p:cNvSpPr/>
          <p:nvPr/>
        </p:nvSpPr>
        <p:spPr>
          <a:xfrm>
            <a:off x="1098550" y="2297311"/>
            <a:ext cx="289958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9A6F4"/>
                </a:solidFill>
                <a:latin typeface="Montserrat" pitchFamily="34" charset="0"/>
                <a:ea typeface="Montserrat" pitchFamily="34" charset="-122"/>
                <a:cs typeface="Montserrat" pitchFamily="34" charset="-120"/>
              </a:rPr>
              <a:t>1</a:t>
            </a:r>
            <a:endParaRPr lang="en-US" sz="4800" dirty="0"/>
          </a:p>
        </p:txBody>
      </p:sp>
      <p:sp>
        <p:nvSpPr>
          <p:cNvPr id="7" name="Text 5"/>
          <p:cNvSpPr/>
          <p:nvPr/>
        </p:nvSpPr>
        <p:spPr>
          <a:xfrm>
            <a:off x="1098550" y="3008511"/>
            <a:ext cx="28995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BFAFF"/>
                </a:solidFill>
                <a:latin typeface="Montserrat" pitchFamily="34" charset="0"/>
                <a:ea typeface="Montserrat" pitchFamily="34" charset="-122"/>
                <a:cs typeface="Montserrat" pitchFamily="34" charset="-120"/>
              </a:rPr>
              <a:t>A paciente cancela</a:t>
            </a:r>
            <a:endParaRPr lang="en-US" sz="2000" dirty="0"/>
          </a:p>
        </p:txBody>
      </p:sp>
      <p:sp>
        <p:nvSpPr>
          <p:cNvPr id="8" name="Text 6"/>
          <p:cNvSpPr/>
          <p:nvPr/>
        </p:nvSpPr>
        <p:spPr>
          <a:xfrm>
            <a:off x="1098550" y="3414911"/>
            <a:ext cx="289958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CDF7"/>
                </a:solidFill>
                <a:latin typeface="Nunito Sans" pitchFamily="34" charset="0"/>
                <a:ea typeface="Nunito Sans" pitchFamily="34" charset="-122"/>
                <a:cs typeface="Nunito Sans" pitchFamily="34" charset="-120"/>
              </a:rPr>
              <a:t>Responde no WhatsApp que não vai. Vagas liberadas até 2 h antes vão para a Smart Queue.</a:t>
            </a:r>
            <a:endParaRPr lang="en-US" sz="1400" dirty="0"/>
          </a:p>
        </p:txBody>
      </p:sp>
      <p:sp>
        <p:nvSpPr>
          <p:cNvPr id="9" name="Text 7"/>
          <p:cNvSpPr/>
          <p:nvPr/>
        </p:nvSpPr>
        <p:spPr>
          <a:xfrm>
            <a:off x="1098550" y="5546130"/>
            <a:ext cx="28995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B8FF"/>
                </a:solidFill>
                <a:latin typeface="Nunito Sans" pitchFamily="34" charset="0"/>
                <a:ea typeface="Nunito Sans" pitchFamily="34" charset="-122"/>
                <a:cs typeface="Nunito Sans" pitchFamily="34" charset="-120"/>
              </a:rPr>
              <a:t>Na tela: conversa no WhatsApp</a:t>
            </a:r>
            <a:endParaRPr lang="en-US" sz="1200" dirty="0"/>
          </a:p>
        </p:txBody>
      </p:sp>
      <p:sp>
        <p:nvSpPr>
          <p:cNvPr id="10" name="Shape 8"/>
          <p:cNvSpPr/>
          <p:nvPr/>
        </p:nvSpPr>
        <p:spPr>
          <a:xfrm>
            <a:off x="4405809" y="2014736"/>
            <a:ext cx="3380383" cy="4027289"/>
          </a:xfrm>
          <a:prstGeom prst="roundRect">
            <a:avLst>
              <a:gd name="adj" fmla="val 5166"/>
            </a:avLst>
          </a:prstGeom>
          <a:solidFill>
            <a:srgbClr val="3A2C6E"/>
          </a:solidFill>
          <a:ln w="6350">
            <a:solidFill>
              <a:srgbClr val="5A48A0"/>
            </a:solidFill>
            <a:prstDash val="solid"/>
          </a:ln>
        </p:spPr>
        <p:txBody>
          <a:bodyPr/>
          <a:lstStyle/>
          <a:p>
            <a:endParaRPr lang="pt-BR"/>
          </a:p>
        </p:txBody>
      </p:sp>
      <p:sp>
        <p:nvSpPr>
          <p:cNvPr id="11" name="Text 9"/>
          <p:cNvSpPr/>
          <p:nvPr/>
        </p:nvSpPr>
        <p:spPr>
          <a:xfrm>
            <a:off x="4688384" y="2297311"/>
            <a:ext cx="289969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9A6F4"/>
                </a:solidFill>
                <a:latin typeface="Montserrat" pitchFamily="34" charset="0"/>
                <a:ea typeface="Montserrat" pitchFamily="34" charset="-122"/>
                <a:cs typeface="Montserrat" pitchFamily="34" charset="-120"/>
              </a:rPr>
              <a:t>2</a:t>
            </a:r>
            <a:endParaRPr lang="en-US" sz="4800" dirty="0"/>
          </a:p>
        </p:txBody>
      </p:sp>
      <p:sp>
        <p:nvSpPr>
          <p:cNvPr id="12" name="Text 10"/>
          <p:cNvSpPr/>
          <p:nvPr/>
        </p:nvSpPr>
        <p:spPr>
          <a:xfrm>
            <a:off x="4688384" y="3008511"/>
            <a:ext cx="2899690"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BFAFF"/>
                </a:solidFill>
                <a:latin typeface="Montserrat" pitchFamily="34" charset="0"/>
                <a:ea typeface="Montserrat" pitchFamily="34" charset="-122"/>
                <a:cs typeface="Montserrat" pitchFamily="34" charset="-120"/>
              </a:rPr>
              <a:t>A Daisy oferece a vaga</a:t>
            </a:r>
            <a:endParaRPr lang="en-US" sz="2000" dirty="0"/>
          </a:p>
        </p:txBody>
      </p:sp>
      <p:sp>
        <p:nvSpPr>
          <p:cNvPr id="13" name="Text 11"/>
          <p:cNvSpPr/>
          <p:nvPr/>
        </p:nvSpPr>
        <p:spPr>
          <a:xfrm>
            <a:off x="4688384" y="3719711"/>
            <a:ext cx="289969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CDF7"/>
                </a:solidFill>
                <a:latin typeface="Nunito Sans" pitchFamily="34" charset="0"/>
                <a:ea typeface="Nunito Sans" pitchFamily="34" charset="-122"/>
                <a:cs typeface="Nunito Sans" pitchFamily="34" charset="-120"/>
              </a:rPr>
              <a:t>Cruza a fila de espera com o tempo de deslocamento e envia o convite.</a:t>
            </a:r>
            <a:endParaRPr lang="en-US" sz="1400" dirty="0"/>
          </a:p>
        </p:txBody>
      </p:sp>
      <p:sp>
        <p:nvSpPr>
          <p:cNvPr id="14" name="Text 12"/>
          <p:cNvSpPr/>
          <p:nvPr/>
        </p:nvSpPr>
        <p:spPr>
          <a:xfrm>
            <a:off x="4688384" y="5546130"/>
            <a:ext cx="28996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B8FF"/>
                </a:solidFill>
                <a:latin typeface="Nunito Sans" pitchFamily="34" charset="0"/>
                <a:ea typeface="Nunito Sans" pitchFamily="34" charset="-122"/>
                <a:cs typeface="Nunito Sans" pitchFamily="34" charset="-120"/>
              </a:rPr>
              <a:t>Na tela: fila da Smart Queue</a:t>
            </a:r>
            <a:endParaRPr lang="en-US" sz="1200" dirty="0"/>
          </a:p>
        </p:txBody>
      </p:sp>
      <p:sp>
        <p:nvSpPr>
          <p:cNvPr id="15" name="Shape 13"/>
          <p:cNvSpPr/>
          <p:nvPr/>
        </p:nvSpPr>
        <p:spPr>
          <a:xfrm>
            <a:off x="7995741" y="2014736"/>
            <a:ext cx="3380284" cy="4027289"/>
          </a:xfrm>
          <a:prstGeom prst="roundRect">
            <a:avLst>
              <a:gd name="adj" fmla="val 5166"/>
            </a:avLst>
          </a:prstGeom>
          <a:solidFill>
            <a:srgbClr val="3A2C6E"/>
          </a:solidFill>
          <a:ln w="6350">
            <a:solidFill>
              <a:srgbClr val="5A48A0"/>
            </a:solidFill>
            <a:prstDash val="solid"/>
          </a:ln>
        </p:spPr>
        <p:txBody>
          <a:bodyPr/>
          <a:lstStyle/>
          <a:p>
            <a:endParaRPr lang="pt-BR"/>
          </a:p>
        </p:txBody>
      </p:sp>
      <p:sp>
        <p:nvSpPr>
          <p:cNvPr id="16" name="Text 14"/>
          <p:cNvSpPr/>
          <p:nvPr/>
        </p:nvSpPr>
        <p:spPr>
          <a:xfrm>
            <a:off x="8278316" y="2297311"/>
            <a:ext cx="289958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9A6F4"/>
                </a:solidFill>
                <a:latin typeface="Montserrat" pitchFamily="34" charset="0"/>
                <a:ea typeface="Montserrat" pitchFamily="34" charset="-122"/>
                <a:cs typeface="Montserrat" pitchFamily="34" charset="-120"/>
              </a:rPr>
              <a:t>3</a:t>
            </a:r>
            <a:endParaRPr lang="en-US" sz="4800" dirty="0"/>
          </a:p>
        </p:txBody>
      </p:sp>
      <p:sp>
        <p:nvSpPr>
          <p:cNvPr id="17" name="Text 15"/>
          <p:cNvSpPr/>
          <p:nvPr/>
        </p:nvSpPr>
        <p:spPr>
          <a:xfrm>
            <a:off x="8278316" y="3008511"/>
            <a:ext cx="2899588"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BFAFF"/>
                </a:solidFill>
                <a:latin typeface="Montserrat" pitchFamily="34" charset="0"/>
                <a:ea typeface="Montserrat" pitchFamily="34" charset="-122"/>
                <a:cs typeface="Montserrat" pitchFamily="34" charset="-120"/>
              </a:rPr>
              <a:t>Outro paciente aceita</a:t>
            </a:r>
            <a:endParaRPr lang="en-US" sz="2000" dirty="0"/>
          </a:p>
        </p:txBody>
      </p:sp>
      <p:sp>
        <p:nvSpPr>
          <p:cNvPr id="18" name="Text 16"/>
          <p:cNvSpPr/>
          <p:nvPr/>
        </p:nvSpPr>
        <p:spPr>
          <a:xfrm>
            <a:off x="8278316" y="3719711"/>
            <a:ext cx="289958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CDF7"/>
                </a:solidFill>
                <a:latin typeface="Nunito Sans" pitchFamily="34" charset="0"/>
                <a:ea typeface="Nunito Sans" pitchFamily="34" charset="-122"/>
                <a:cs typeface="Nunito Sans" pitchFamily="34" charset="-120"/>
              </a:rPr>
              <a:t>O encaixe é confirmado e o gestor vê a vaga recuperada no painel.</a:t>
            </a:r>
            <a:endParaRPr lang="en-US" sz="1400" dirty="0"/>
          </a:p>
        </p:txBody>
      </p:sp>
      <p:sp>
        <p:nvSpPr>
          <p:cNvPr id="19" name="Text 17"/>
          <p:cNvSpPr/>
          <p:nvPr/>
        </p:nvSpPr>
        <p:spPr>
          <a:xfrm>
            <a:off x="8278316" y="5546130"/>
            <a:ext cx="28995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B8FF"/>
                </a:solidFill>
                <a:latin typeface="Nunito Sans" pitchFamily="34" charset="0"/>
                <a:ea typeface="Nunito Sans" pitchFamily="34" charset="-122"/>
                <a:cs typeface="Nunito Sans" pitchFamily="34" charset="-120"/>
              </a:rPr>
              <a:t>Na tela: painel no Power BI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7153B"/>
                </a:solidFill>
                <a:latin typeface="Montserrat" pitchFamily="34" charset="0"/>
                <a:ea typeface="Montserrat" pitchFamily="34" charset="-122"/>
                <a:cs typeface="Montserrat" pitchFamily="34" charset="-120"/>
              </a:rPr>
              <a:t>589 vagas que ficariam vazias viraram consultas</a:t>
            </a:r>
            <a:endParaRPr lang="en-US" sz="3200" dirty="0"/>
          </a:p>
        </p:txBody>
      </p:sp>
      <p:sp>
        <p:nvSpPr>
          <p:cNvPr id="3" name="Text 1"/>
          <p:cNvSpPr/>
          <p:nvPr/>
        </p:nvSpPr>
        <p:spPr>
          <a:xfrm>
            <a:off x="812800" y="132328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Encaixes pela fila inteligente, set/2025–ago/2026</a:t>
            </a:r>
            <a:endParaRPr lang="en-US" sz="1400" dirty="0"/>
          </a:p>
        </p:txBody>
      </p:sp>
      <p:sp>
        <p:nvSpPr>
          <p:cNvPr id="4" name="Text 2"/>
          <p:cNvSpPr/>
          <p:nvPr/>
        </p:nvSpPr>
        <p:spPr>
          <a:xfrm>
            <a:off x="757555" y="3074591"/>
            <a:ext cx="1896745"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4A4870"/>
                </a:solidFill>
                <a:latin typeface="Nunito Sans" pitchFamily="34" charset="0"/>
                <a:ea typeface="Nunito Sans" pitchFamily="34" charset="-122"/>
                <a:cs typeface="Nunito Sans" pitchFamily="34" charset="-120"/>
              </a:rPr>
              <a:t>Convites enviados</a:t>
            </a:r>
            <a:endParaRPr lang="en-US" sz="1400" dirty="0"/>
          </a:p>
        </p:txBody>
      </p:sp>
      <p:sp>
        <p:nvSpPr>
          <p:cNvPr id="5" name="Shape 3"/>
          <p:cNvSpPr/>
          <p:nvPr/>
        </p:nvSpPr>
        <p:spPr>
          <a:xfrm>
            <a:off x="2806700" y="2970411"/>
            <a:ext cx="3937000" cy="457200"/>
          </a:xfrm>
          <a:prstGeom prst="roundRect">
            <a:avLst>
              <a:gd name="adj" fmla="val 13889"/>
            </a:avLst>
          </a:prstGeom>
          <a:solidFill>
            <a:srgbClr val="CFC3F5"/>
          </a:solidFill>
          <a:ln/>
        </p:spPr>
        <p:txBody>
          <a:bodyPr/>
          <a:lstStyle/>
          <a:p>
            <a:endParaRPr lang="pt-BR"/>
          </a:p>
        </p:txBody>
      </p:sp>
      <p:sp>
        <p:nvSpPr>
          <p:cNvPr id="6" name="Text 4"/>
          <p:cNvSpPr/>
          <p:nvPr/>
        </p:nvSpPr>
        <p:spPr>
          <a:xfrm>
            <a:off x="6896100" y="2399109"/>
            <a:ext cx="50800" cy="162530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7153B"/>
                </a:solidFill>
                <a:latin typeface="Montserrat" pitchFamily="34" charset="0"/>
                <a:ea typeface="Montserrat" pitchFamily="34" charset="-122"/>
                <a:cs typeface="Montserrat" pitchFamily="34" charset="-120"/>
              </a:rPr>
              <a:t>1.423</a:t>
            </a:r>
            <a:endParaRPr lang="en-US" sz="1800" dirty="0"/>
          </a:p>
        </p:txBody>
      </p:sp>
      <p:sp>
        <p:nvSpPr>
          <p:cNvPr id="7" name="Text 5"/>
          <p:cNvSpPr/>
          <p:nvPr/>
        </p:nvSpPr>
        <p:spPr>
          <a:xfrm>
            <a:off x="757555" y="4331791"/>
            <a:ext cx="1896745"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4A4870"/>
                </a:solidFill>
                <a:latin typeface="Nunito Sans" pitchFamily="34" charset="0"/>
                <a:ea typeface="Nunito Sans" pitchFamily="34" charset="-122"/>
                <a:cs typeface="Nunito Sans" pitchFamily="34" charset="-120"/>
              </a:rPr>
              <a:t>Convites aceitos</a:t>
            </a:r>
            <a:endParaRPr lang="en-US" sz="1400" dirty="0"/>
          </a:p>
        </p:txBody>
      </p:sp>
      <p:sp>
        <p:nvSpPr>
          <p:cNvPr id="8" name="Shape 6"/>
          <p:cNvSpPr/>
          <p:nvPr/>
        </p:nvSpPr>
        <p:spPr>
          <a:xfrm>
            <a:off x="2806700" y="4227612"/>
            <a:ext cx="1873250" cy="457200"/>
          </a:xfrm>
          <a:prstGeom prst="roundRect">
            <a:avLst>
              <a:gd name="adj" fmla="val 13889"/>
            </a:avLst>
          </a:prstGeom>
          <a:solidFill>
            <a:srgbClr val="CFC3F5"/>
          </a:solidFill>
          <a:ln/>
        </p:spPr>
        <p:txBody>
          <a:bodyPr/>
          <a:lstStyle/>
          <a:p>
            <a:endParaRPr lang="pt-BR"/>
          </a:p>
        </p:txBody>
      </p:sp>
      <p:sp>
        <p:nvSpPr>
          <p:cNvPr id="9" name="Text 7"/>
          <p:cNvSpPr/>
          <p:nvPr/>
        </p:nvSpPr>
        <p:spPr>
          <a:xfrm>
            <a:off x="4832350" y="4296172"/>
            <a:ext cx="52578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7153B"/>
                </a:solidFill>
                <a:latin typeface="Montserrat" pitchFamily="34" charset="0"/>
                <a:ea typeface="Montserrat" pitchFamily="34" charset="-122"/>
                <a:cs typeface="Montserrat" pitchFamily="34" charset="-120"/>
              </a:rPr>
              <a:t>677</a:t>
            </a:r>
            <a:endParaRPr lang="en-US" sz="1800" dirty="0"/>
          </a:p>
        </p:txBody>
      </p:sp>
      <p:sp>
        <p:nvSpPr>
          <p:cNvPr id="10" name="Text 8"/>
          <p:cNvSpPr/>
          <p:nvPr/>
        </p:nvSpPr>
        <p:spPr>
          <a:xfrm>
            <a:off x="757555" y="5017591"/>
            <a:ext cx="1896745"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7153B"/>
                </a:solidFill>
                <a:latin typeface="Nunito Sans" pitchFamily="34" charset="0"/>
                <a:ea typeface="Nunito Sans" pitchFamily="34" charset="-122"/>
                <a:cs typeface="Nunito Sans" pitchFamily="34" charset="-120"/>
              </a:rPr>
              <a:t>Encaixes realizados</a:t>
            </a:r>
            <a:endParaRPr lang="en-US" sz="1400" dirty="0"/>
          </a:p>
        </p:txBody>
      </p:sp>
      <p:sp>
        <p:nvSpPr>
          <p:cNvPr id="11" name="Shape 9"/>
          <p:cNvSpPr/>
          <p:nvPr/>
        </p:nvSpPr>
        <p:spPr>
          <a:xfrm>
            <a:off x="2806700" y="4913412"/>
            <a:ext cx="1631950" cy="457200"/>
          </a:xfrm>
          <a:prstGeom prst="roundRect">
            <a:avLst>
              <a:gd name="adj" fmla="val 13889"/>
            </a:avLst>
          </a:prstGeom>
          <a:solidFill>
            <a:srgbClr val="6D3AE8"/>
          </a:solidFill>
          <a:ln/>
        </p:spPr>
        <p:txBody>
          <a:bodyPr/>
          <a:lstStyle/>
          <a:p>
            <a:endParaRPr lang="pt-BR"/>
          </a:p>
        </p:txBody>
      </p:sp>
      <p:sp>
        <p:nvSpPr>
          <p:cNvPr id="12" name="Text 10"/>
          <p:cNvSpPr/>
          <p:nvPr/>
        </p:nvSpPr>
        <p:spPr>
          <a:xfrm>
            <a:off x="4591050" y="4981972"/>
            <a:ext cx="52578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6D3AE8"/>
                </a:solidFill>
                <a:latin typeface="Montserrat" pitchFamily="34" charset="0"/>
                <a:ea typeface="Montserrat" pitchFamily="34" charset="-122"/>
                <a:cs typeface="Montserrat" pitchFamily="34" charset="-120"/>
              </a:rPr>
              <a:t>589</a:t>
            </a:r>
            <a:endParaRPr lang="en-US" sz="1800" dirty="0"/>
          </a:p>
        </p:txBody>
      </p:sp>
      <p:sp>
        <p:nvSpPr>
          <p:cNvPr id="13" name="Shape 11"/>
          <p:cNvSpPr/>
          <p:nvPr/>
        </p:nvSpPr>
        <p:spPr>
          <a:xfrm>
            <a:off x="7141170" y="1927721"/>
            <a:ext cx="0" cy="3914279"/>
          </a:xfrm>
          <a:prstGeom prst="line">
            <a:avLst/>
          </a:prstGeom>
          <a:noFill/>
          <a:ln w="12700">
            <a:solidFill>
              <a:srgbClr val="E2D9FB"/>
            </a:solidFill>
            <a:prstDash val="solid"/>
          </a:ln>
        </p:spPr>
        <p:txBody>
          <a:bodyPr/>
          <a:lstStyle/>
          <a:p>
            <a:endParaRPr lang="pt-BR"/>
          </a:p>
        </p:txBody>
      </p:sp>
      <p:sp>
        <p:nvSpPr>
          <p:cNvPr id="14" name="Text 12"/>
          <p:cNvSpPr/>
          <p:nvPr/>
        </p:nvSpPr>
        <p:spPr>
          <a:xfrm>
            <a:off x="7503120" y="2482850"/>
            <a:ext cx="399236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6D3AE8"/>
                </a:solidFill>
                <a:latin typeface="Montserrat" pitchFamily="34" charset="0"/>
                <a:ea typeface="Montserrat" pitchFamily="34" charset="-122"/>
                <a:cs typeface="Montserrat" pitchFamily="34" charset="-120"/>
              </a:rPr>
              <a:t>48%</a:t>
            </a:r>
            <a:endParaRPr lang="en-US" sz="4000" dirty="0"/>
          </a:p>
        </p:txBody>
      </p:sp>
      <p:sp>
        <p:nvSpPr>
          <p:cNvPr id="15" name="Text 13"/>
          <p:cNvSpPr/>
          <p:nvPr/>
        </p:nvSpPr>
        <p:spPr>
          <a:xfrm>
            <a:off x="7503120" y="3016250"/>
            <a:ext cx="399236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dos convidados aceitam o encaixe</a:t>
            </a:r>
            <a:endParaRPr lang="en-US" sz="1400" dirty="0"/>
          </a:p>
        </p:txBody>
      </p:sp>
      <p:sp>
        <p:nvSpPr>
          <p:cNvPr id="16" name="Text 14"/>
          <p:cNvSpPr/>
          <p:nvPr/>
        </p:nvSpPr>
        <p:spPr>
          <a:xfrm>
            <a:off x="7503120" y="3493691"/>
            <a:ext cx="399236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6D3AE8"/>
                </a:solidFill>
                <a:latin typeface="Montserrat" pitchFamily="34" charset="0"/>
                <a:ea typeface="Montserrat" pitchFamily="34" charset="-122"/>
                <a:cs typeface="Montserrat" pitchFamily="34" charset="-120"/>
              </a:rPr>
              <a:t>87%</a:t>
            </a:r>
            <a:endParaRPr lang="en-US" sz="4000" dirty="0"/>
          </a:p>
        </p:txBody>
      </p:sp>
      <p:sp>
        <p:nvSpPr>
          <p:cNvPr id="17" name="Text 15"/>
          <p:cNvSpPr/>
          <p:nvPr/>
        </p:nvSpPr>
        <p:spPr>
          <a:xfrm>
            <a:off x="7503120" y="4027091"/>
            <a:ext cx="399236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dos aceites viram consulta realizada</a:t>
            </a:r>
            <a:endParaRPr lang="en-US" sz="1400" dirty="0"/>
          </a:p>
        </p:txBody>
      </p:sp>
      <p:sp>
        <p:nvSpPr>
          <p:cNvPr id="18" name="Text 16"/>
          <p:cNvSpPr/>
          <p:nvPr/>
        </p:nvSpPr>
        <p:spPr>
          <a:xfrm>
            <a:off x="7503120" y="4504531"/>
            <a:ext cx="399236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6D3AE8"/>
                </a:solidFill>
                <a:latin typeface="Montserrat" pitchFamily="34" charset="0"/>
                <a:ea typeface="Montserrat" pitchFamily="34" charset="-122"/>
                <a:cs typeface="Montserrat" pitchFamily="34" charset="-120"/>
              </a:rPr>
              <a:t>2,8 mil¹</a:t>
            </a:r>
            <a:endParaRPr lang="en-US" sz="4000" dirty="0"/>
          </a:p>
        </p:txBody>
      </p:sp>
      <p:sp>
        <p:nvSpPr>
          <p:cNvPr id="19" name="Text 17"/>
          <p:cNvSpPr/>
          <p:nvPr/>
        </p:nvSpPr>
        <p:spPr>
          <a:xfrm>
            <a:off x="7503120" y="5037931"/>
            <a:ext cx="399236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faltas a menos por ano se todos confirmarem</a:t>
            </a:r>
            <a:endParaRPr lang="en-US" sz="1400" dirty="0"/>
          </a:p>
        </p:txBody>
      </p:sp>
      <p:sp>
        <p:nvSpPr>
          <p:cNvPr id="20" name="Text 18"/>
          <p:cNvSpPr/>
          <p:nvPr/>
        </p:nvSpPr>
        <p:spPr>
          <a:xfrm>
            <a:off x="812800" y="6238280"/>
            <a:ext cx="1137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1. Estimativa: 55,9 mil pacientes sem confirmação × 5 pontos a menos de falta (12% para 7%). Fonte: base operacional DaisyCare, 200 mil agendamentos.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AF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COMO FUNCIONA</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16 workflows n8n ligam cada falha a um indicador</a:t>
            </a:r>
            <a:endParaRPr lang="en-US" sz="3000" dirty="0"/>
          </a:p>
        </p:txBody>
      </p:sp>
      <p:sp>
        <p:nvSpPr>
          <p:cNvPr id="4" name="Shape 2"/>
          <p:cNvSpPr/>
          <p:nvPr/>
        </p:nvSpPr>
        <p:spPr>
          <a:xfrm>
            <a:off x="812800" y="1826220"/>
            <a:ext cx="6604000" cy="4425950"/>
          </a:xfrm>
          <a:prstGeom prst="roundRect">
            <a:avLst>
              <a:gd name="adj" fmla="val 3443"/>
            </a:avLst>
          </a:prstGeom>
          <a:solidFill>
            <a:srgbClr val="FDFCFF"/>
          </a:solidFill>
          <a:ln/>
          <a:effectLst>
            <a:outerShdw blurRad="381000" dist="152400" dir="5400000" algn="bl" rotWithShape="0">
              <a:srgbClr val="4428A0">
                <a:alpha val="16000"/>
              </a:srgbClr>
            </a:outerShdw>
          </a:effectLst>
        </p:spPr>
        <p:txBody>
          <a:bodyPr/>
          <a:lstStyle/>
          <a:p>
            <a:endParaRPr lang="pt-BR"/>
          </a:p>
        </p:txBody>
      </p:sp>
      <p:pic>
        <p:nvPicPr>
          <p:cNvPr id="5" name="Image 0" descr="Fluxo em execução no DaisyCare: canais, workflows 01 a 17 e camada de dados com Redis, PostgreSQL, Power BI e CRM"/>
          <p:cNvPicPr>
            <a:picLocks noChangeAspect="1"/>
          </p:cNvPicPr>
          <p:nvPr/>
        </p:nvPicPr>
        <p:blipFill>
          <a:blip r:embed="rId3"/>
          <a:srcRect l="-9" r="-9"/>
          <a:stretch/>
        </p:blipFill>
        <p:spPr>
          <a:xfrm>
            <a:off x="819150" y="1832570"/>
            <a:ext cx="6591300" cy="4413250"/>
          </a:xfrm>
          <a:prstGeom prst="roundRect">
            <a:avLst>
              <a:gd name="adj" fmla="val 3309"/>
            </a:avLst>
          </a:prstGeom>
        </p:spPr>
      </p:pic>
      <p:sp>
        <p:nvSpPr>
          <p:cNvPr id="6" name="Shape 3"/>
          <p:cNvSpPr/>
          <p:nvPr/>
        </p:nvSpPr>
        <p:spPr>
          <a:xfrm>
            <a:off x="815975" y="1829395"/>
            <a:ext cx="6597650" cy="4419600"/>
          </a:xfrm>
          <a:prstGeom prst="roundRect">
            <a:avLst>
              <a:gd name="adj" fmla="val 3376"/>
            </a:avLst>
          </a:prstGeom>
          <a:noFill/>
          <a:ln w="6350">
            <a:solidFill>
              <a:srgbClr val="DCD2FA"/>
            </a:solidFill>
            <a:prstDash val="solid"/>
          </a:ln>
        </p:spPr>
        <p:txBody>
          <a:bodyPr/>
          <a:lstStyle/>
          <a:p>
            <a:endParaRPr lang="pt-BR"/>
          </a:p>
        </p:txBody>
      </p:sp>
      <p:sp>
        <p:nvSpPr>
          <p:cNvPr id="7" name="Shape 4"/>
          <p:cNvSpPr/>
          <p:nvPr/>
        </p:nvSpPr>
        <p:spPr>
          <a:xfrm>
            <a:off x="7772400" y="1826220"/>
            <a:ext cx="3606800" cy="1017191"/>
          </a:xfrm>
          <a:prstGeom prst="roundRect">
            <a:avLst>
              <a:gd name="adj" fmla="val 12485"/>
            </a:avLst>
          </a:prstGeom>
          <a:solidFill>
            <a:srgbClr val="FDFCFF"/>
          </a:solidFill>
          <a:ln/>
        </p:spPr>
        <p:txBody>
          <a:bodyPr/>
          <a:lstStyle/>
          <a:p>
            <a:endParaRPr lang="pt-BR"/>
          </a:p>
        </p:txBody>
      </p:sp>
      <p:sp>
        <p:nvSpPr>
          <p:cNvPr id="8" name="Text 5"/>
          <p:cNvSpPr/>
          <p:nvPr/>
        </p:nvSpPr>
        <p:spPr>
          <a:xfrm>
            <a:off x="7950200" y="1978620"/>
            <a:ext cx="33487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Uma trilha só</a:t>
            </a:r>
            <a:endParaRPr lang="en-US" sz="1500" dirty="0"/>
          </a:p>
        </p:txBody>
      </p:sp>
      <p:sp>
        <p:nvSpPr>
          <p:cNvPr id="9" name="Text 6"/>
          <p:cNvSpPr/>
          <p:nvPr/>
        </p:nvSpPr>
        <p:spPr>
          <a:xfrm>
            <a:off x="7950200" y="2245320"/>
            <a:ext cx="334873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Todo evento grava o mesmo correlation_id, do canal ao Power BI</a:t>
            </a:r>
            <a:endParaRPr lang="en-US" sz="1300" dirty="0"/>
          </a:p>
        </p:txBody>
      </p:sp>
      <p:sp>
        <p:nvSpPr>
          <p:cNvPr id="10" name="Shape 7"/>
          <p:cNvSpPr/>
          <p:nvPr/>
        </p:nvSpPr>
        <p:spPr>
          <a:xfrm>
            <a:off x="7772400" y="2983111"/>
            <a:ext cx="3606800" cy="1017191"/>
          </a:xfrm>
          <a:prstGeom prst="roundRect">
            <a:avLst>
              <a:gd name="adj" fmla="val 12485"/>
            </a:avLst>
          </a:prstGeom>
          <a:solidFill>
            <a:srgbClr val="FDFCFF"/>
          </a:solidFill>
          <a:ln/>
        </p:spPr>
        <p:txBody>
          <a:bodyPr/>
          <a:lstStyle/>
          <a:p>
            <a:endParaRPr lang="pt-BR"/>
          </a:p>
        </p:txBody>
      </p:sp>
      <p:sp>
        <p:nvSpPr>
          <p:cNvPr id="11" name="Text 8"/>
          <p:cNvSpPr/>
          <p:nvPr/>
        </p:nvSpPr>
        <p:spPr>
          <a:xfrm>
            <a:off x="7950200" y="3135511"/>
            <a:ext cx="33487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Novo: 17 · Daisy conversa</a:t>
            </a:r>
            <a:endParaRPr lang="en-US" sz="1500" dirty="0"/>
          </a:p>
        </p:txBody>
      </p:sp>
      <p:sp>
        <p:nvSpPr>
          <p:cNvPr id="12" name="Text 9"/>
          <p:cNvSpPr/>
          <p:nvPr/>
        </p:nvSpPr>
        <p:spPr>
          <a:xfrm>
            <a:off x="7950200" y="3402211"/>
            <a:ext cx="334873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Dúvidas gerais e histórias com OpenAI, sem acesso a agenda, Pix ou CRM</a:t>
            </a:r>
            <a:endParaRPr lang="en-US" sz="1300" dirty="0"/>
          </a:p>
        </p:txBody>
      </p:sp>
      <p:sp>
        <p:nvSpPr>
          <p:cNvPr id="13" name="Shape 10"/>
          <p:cNvSpPr/>
          <p:nvPr/>
        </p:nvSpPr>
        <p:spPr>
          <a:xfrm>
            <a:off x="7772400" y="4140002"/>
            <a:ext cx="3606800" cy="1017191"/>
          </a:xfrm>
          <a:prstGeom prst="roundRect">
            <a:avLst>
              <a:gd name="adj" fmla="val 12485"/>
            </a:avLst>
          </a:prstGeom>
          <a:solidFill>
            <a:srgbClr val="FDFCFF"/>
          </a:solidFill>
          <a:ln/>
        </p:spPr>
        <p:txBody>
          <a:bodyPr/>
          <a:lstStyle/>
          <a:p>
            <a:endParaRPr lang="pt-BR"/>
          </a:p>
        </p:txBody>
      </p:sp>
      <p:sp>
        <p:nvSpPr>
          <p:cNvPr id="14" name="Text 11"/>
          <p:cNvSpPr/>
          <p:nvPr/>
        </p:nvSpPr>
        <p:spPr>
          <a:xfrm>
            <a:off x="7950200" y="4292402"/>
            <a:ext cx="33487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Dados por papel</a:t>
            </a:r>
            <a:endParaRPr lang="en-US" sz="1500" dirty="0"/>
          </a:p>
        </p:txBody>
      </p:sp>
      <p:sp>
        <p:nvSpPr>
          <p:cNvPr id="15" name="Text 12"/>
          <p:cNvSpPr/>
          <p:nvPr/>
        </p:nvSpPr>
        <p:spPr>
          <a:xfrm>
            <a:off x="7950200" y="4559102"/>
            <a:ext cx="334873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Redis no tempo real, PostgreSQL na trilha, CRM do cliente com status em lote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O atraso do médico vira aviso, não surpresa na recepção</a:t>
            </a:r>
            <a:endParaRPr lang="en-US" sz="3000" dirty="0"/>
          </a:p>
        </p:txBody>
      </p:sp>
      <p:sp>
        <p:nvSpPr>
          <p:cNvPr id="3" name="Shape 1"/>
          <p:cNvSpPr/>
          <p:nvPr/>
        </p:nvSpPr>
        <p:spPr>
          <a:xfrm>
            <a:off x="812800" y="1955800"/>
            <a:ext cx="10566400" cy="2540000"/>
          </a:xfrm>
          <a:prstGeom prst="roundRect">
            <a:avLst>
              <a:gd name="adj" fmla="val 6000"/>
            </a:avLst>
          </a:prstGeom>
          <a:solidFill>
            <a:srgbClr val="FDFCFF"/>
          </a:solidFill>
          <a:ln/>
        </p:spPr>
        <p:txBody>
          <a:bodyPr/>
          <a:lstStyle/>
          <a:p>
            <a:endParaRPr lang="pt-BR"/>
          </a:p>
        </p:txBody>
      </p:sp>
      <p:pic>
        <p:nvPicPr>
          <p:cNvPr id="4" name="Image 0" descr="Fluxo de acompanhamento dos médicos em três faixas: deslocamento, controle dos atendimentos e cobertura da agenda"/>
          <p:cNvPicPr>
            <a:picLocks noChangeAspect="1"/>
          </p:cNvPicPr>
          <p:nvPr/>
        </p:nvPicPr>
        <p:blipFill>
          <a:blip r:embed="rId3"/>
          <a:stretch>
            <a:fillRect/>
          </a:stretch>
        </p:blipFill>
        <p:spPr>
          <a:xfrm>
            <a:off x="3564282" y="1962150"/>
            <a:ext cx="5063437" cy="2527300"/>
          </a:xfrm>
          <a:prstGeom prst="rect">
            <a:avLst/>
          </a:prstGeom>
        </p:spPr>
      </p:pic>
      <p:sp>
        <p:nvSpPr>
          <p:cNvPr id="5" name="Shape 2"/>
          <p:cNvSpPr/>
          <p:nvPr/>
        </p:nvSpPr>
        <p:spPr>
          <a:xfrm>
            <a:off x="815975" y="1958975"/>
            <a:ext cx="10560050" cy="2533650"/>
          </a:xfrm>
          <a:prstGeom prst="roundRect">
            <a:avLst>
              <a:gd name="adj" fmla="val 5890"/>
            </a:avLst>
          </a:prstGeom>
          <a:noFill/>
          <a:ln w="6350">
            <a:solidFill>
              <a:srgbClr val="DCD2FA"/>
            </a:solidFill>
            <a:prstDash val="solid"/>
          </a:ln>
        </p:spPr>
        <p:txBody>
          <a:bodyPr/>
          <a:lstStyle/>
          <a:p>
            <a:endParaRPr lang="pt-BR"/>
          </a:p>
        </p:txBody>
      </p:sp>
      <p:sp>
        <p:nvSpPr>
          <p:cNvPr id="6" name="Shape 3"/>
          <p:cNvSpPr/>
          <p:nvPr/>
        </p:nvSpPr>
        <p:spPr>
          <a:xfrm>
            <a:off x="815975" y="4803775"/>
            <a:ext cx="3414117" cy="1087041"/>
          </a:xfrm>
          <a:prstGeom prst="roundRect">
            <a:avLst>
              <a:gd name="adj" fmla="val 11391"/>
            </a:avLst>
          </a:prstGeom>
          <a:solidFill>
            <a:srgbClr val="FDFCFF"/>
          </a:solidFill>
          <a:ln w="6350">
            <a:solidFill>
              <a:srgbClr val="E2D9FB"/>
            </a:solidFill>
            <a:prstDash val="solid"/>
          </a:ln>
        </p:spPr>
        <p:txBody>
          <a:bodyPr/>
          <a:lstStyle/>
          <a:p>
            <a:endParaRPr lang="pt-BR"/>
          </a:p>
        </p:txBody>
      </p:sp>
      <p:sp>
        <p:nvSpPr>
          <p:cNvPr id="7" name="Text 4"/>
          <p:cNvSpPr/>
          <p:nvPr/>
        </p:nvSpPr>
        <p:spPr>
          <a:xfrm>
            <a:off x="996950" y="4984750"/>
            <a:ext cx="31437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12 · Trajeto</a:t>
            </a:r>
            <a:endParaRPr lang="en-US" sz="1500" dirty="0"/>
          </a:p>
        </p:txBody>
      </p:sp>
      <p:sp>
        <p:nvSpPr>
          <p:cNvPr id="8" name="Text 5"/>
          <p:cNvSpPr/>
          <p:nvPr/>
        </p:nvSpPr>
        <p:spPr>
          <a:xfrm>
            <a:off x="996950" y="5264150"/>
            <a:ext cx="314373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ETA no Google Routes a cada 1 a 5 min, até 3 trajetos por dia</a:t>
            </a:r>
            <a:endParaRPr lang="en-US" sz="1300" dirty="0"/>
          </a:p>
        </p:txBody>
      </p:sp>
      <p:sp>
        <p:nvSpPr>
          <p:cNvPr id="9" name="Shape 6"/>
          <p:cNvSpPr/>
          <p:nvPr/>
        </p:nvSpPr>
        <p:spPr>
          <a:xfrm>
            <a:off x="4388842" y="4803775"/>
            <a:ext cx="3414216" cy="1087041"/>
          </a:xfrm>
          <a:prstGeom prst="roundRect">
            <a:avLst>
              <a:gd name="adj" fmla="val 11391"/>
            </a:avLst>
          </a:prstGeom>
          <a:solidFill>
            <a:srgbClr val="FDFCFF"/>
          </a:solidFill>
          <a:ln w="6350">
            <a:solidFill>
              <a:srgbClr val="E2D9FB"/>
            </a:solidFill>
            <a:prstDash val="solid"/>
          </a:ln>
        </p:spPr>
        <p:txBody>
          <a:bodyPr/>
          <a:lstStyle/>
          <a:p>
            <a:endParaRPr lang="pt-BR"/>
          </a:p>
        </p:txBody>
      </p:sp>
      <p:sp>
        <p:nvSpPr>
          <p:cNvPr id="10" name="Text 7"/>
          <p:cNvSpPr/>
          <p:nvPr/>
        </p:nvSpPr>
        <p:spPr>
          <a:xfrm>
            <a:off x="4569817" y="4984750"/>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13 · Fila digital</a:t>
            </a:r>
            <a:endParaRPr lang="en-US" sz="1500" dirty="0"/>
          </a:p>
        </p:txBody>
      </p:sp>
      <p:sp>
        <p:nvSpPr>
          <p:cNvPr id="11" name="Text 8"/>
          <p:cNvSpPr/>
          <p:nvPr/>
        </p:nvSpPr>
        <p:spPr>
          <a:xfrm>
            <a:off x="4569817" y="5264150"/>
            <a:ext cx="314383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Espera prevista pela mediana do médico; aviso se mudar 10 min</a:t>
            </a:r>
            <a:endParaRPr lang="en-US" sz="1300" dirty="0"/>
          </a:p>
        </p:txBody>
      </p:sp>
      <p:sp>
        <p:nvSpPr>
          <p:cNvPr id="12" name="Shape 9"/>
          <p:cNvSpPr/>
          <p:nvPr/>
        </p:nvSpPr>
        <p:spPr>
          <a:xfrm>
            <a:off x="7961809" y="4803775"/>
            <a:ext cx="3414216" cy="1087041"/>
          </a:xfrm>
          <a:prstGeom prst="roundRect">
            <a:avLst>
              <a:gd name="adj" fmla="val 11391"/>
            </a:avLst>
          </a:prstGeom>
          <a:solidFill>
            <a:srgbClr val="FDFCFF"/>
          </a:solidFill>
          <a:ln w="6350">
            <a:solidFill>
              <a:srgbClr val="E2D9FB"/>
            </a:solidFill>
            <a:prstDash val="solid"/>
          </a:ln>
        </p:spPr>
        <p:txBody>
          <a:bodyPr/>
          <a:lstStyle/>
          <a:p>
            <a:endParaRPr lang="pt-BR"/>
          </a:p>
        </p:txBody>
      </p:sp>
      <p:sp>
        <p:nvSpPr>
          <p:cNvPr id="13" name="Text 10"/>
          <p:cNvSpPr/>
          <p:nvPr/>
        </p:nvSpPr>
        <p:spPr>
          <a:xfrm>
            <a:off x="8142784" y="4984750"/>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14 · Cobertura</a:t>
            </a:r>
            <a:endParaRPr lang="en-US" sz="1500" dirty="0"/>
          </a:p>
        </p:txBody>
      </p:sp>
      <p:sp>
        <p:nvSpPr>
          <p:cNvPr id="14" name="Text 11"/>
          <p:cNvSpPr/>
          <p:nvPr/>
        </p:nvSpPr>
        <p:spPr>
          <a:xfrm>
            <a:off x="8142784" y="5264150"/>
            <a:ext cx="314383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Acima de 30 min ou incidente: ranking e convite com 5 min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Evolução controlada: Bronze valida a ideia, Prata opera o fluxo, Ouro escala</a:t>
            </a:r>
            <a:endParaRPr lang="en-US" sz="3000" dirty="0"/>
          </a:p>
        </p:txBody>
      </p:sp>
      <p:sp>
        <p:nvSpPr>
          <p:cNvPr id="3" name="Shape 1"/>
          <p:cNvSpPr/>
          <p:nvPr/>
        </p:nvSpPr>
        <p:spPr>
          <a:xfrm>
            <a:off x="815975" y="2009775"/>
            <a:ext cx="3392984" cy="4032250"/>
          </a:xfrm>
          <a:prstGeom prst="roundRect">
            <a:avLst>
              <a:gd name="adj" fmla="val 5147"/>
            </a:avLst>
          </a:prstGeom>
          <a:solidFill>
            <a:srgbClr val="FDFCFF"/>
          </a:solidFill>
          <a:ln w="6350">
            <a:solidFill>
              <a:srgbClr val="E2D9FB"/>
            </a:solidFill>
            <a:prstDash val="solid"/>
          </a:ln>
        </p:spPr>
        <p:txBody>
          <a:bodyPr/>
          <a:lstStyle/>
          <a:p>
            <a:endParaRPr lang="pt-BR"/>
          </a:p>
        </p:txBody>
      </p:sp>
      <p:sp>
        <p:nvSpPr>
          <p:cNvPr id="4" name="Text 2"/>
          <p:cNvSpPr/>
          <p:nvPr/>
        </p:nvSpPr>
        <p:spPr>
          <a:xfrm>
            <a:off x="1073150" y="2266950"/>
            <a:ext cx="2964993" cy="452041"/>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7A5A"/>
                </a:solidFill>
                <a:latin typeface="Montserrat" pitchFamily="34" charset="0"/>
                <a:ea typeface="Montserrat" pitchFamily="34" charset="-122"/>
                <a:cs typeface="Montserrat" pitchFamily="34" charset="-120"/>
              </a:rPr>
              <a:t>BRONZE · PROVA DE CONCEITO</a:t>
            </a:r>
            <a:endParaRPr lang="en-US" sz="1200" dirty="0"/>
          </a:p>
        </p:txBody>
      </p:sp>
      <p:sp>
        <p:nvSpPr>
          <p:cNvPr id="5" name="Text 3"/>
          <p:cNvSpPr/>
          <p:nvPr/>
        </p:nvSpPr>
        <p:spPr>
          <a:xfrm>
            <a:off x="1073150" y="2782491"/>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153B"/>
                </a:solidFill>
                <a:latin typeface="Montserrat" pitchFamily="34" charset="0"/>
                <a:ea typeface="Montserrat" pitchFamily="34" charset="-122"/>
                <a:cs typeface="Montserrat" pitchFamily="34" charset="-120"/>
              </a:rPr>
              <a:t>Validar a ideia</a:t>
            </a:r>
            <a:endParaRPr lang="en-US" sz="1800" dirty="0"/>
          </a:p>
        </p:txBody>
      </p:sp>
      <p:sp>
        <p:nvSpPr>
          <p:cNvPr id="6" name="Text 4"/>
          <p:cNvSpPr/>
          <p:nvPr/>
        </p:nvSpPr>
        <p:spPr>
          <a:xfrm>
            <a:off x="1073150" y="3145631"/>
            <a:ext cx="296499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Offline, arquivos locais e demonstração acadêmica.</a:t>
            </a:r>
            <a:endParaRPr lang="en-US" sz="1300" dirty="0"/>
          </a:p>
        </p:txBody>
      </p:sp>
      <p:sp>
        <p:nvSpPr>
          <p:cNvPr id="7" name="Text 5"/>
          <p:cNvSpPr/>
          <p:nvPr/>
        </p:nvSpPr>
        <p:spPr>
          <a:xfrm>
            <a:off x="1073150" y="5358209"/>
            <a:ext cx="2964993"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2BD6"/>
                </a:solidFill>
                <a:latin typeface="Nunito Sans" pitchFamily="34" charset="0"/>
                <a:ea typeface="Nunito Sans" pitchFamily="34" charset="-122"/>
                <a:cs typeface="Nunito Sans" pitchFamily="34" charset="-120"/>
              </a:rPr>
              <a:t>Por quê:</a:t>
            </a:r>
            <a:r>
              <a:rPr lang="en-US" sz="1200" dirty="0">
                <a:solidFill>
                  <a:srgbClr val="5B2BD6"/>
                </a:solidFill>
                <a:latin typeface="Nunito Sans" pitchFamily="34" charset="0"/>
                <a:ea typeface="Nunito Sans" pitchFamily="34" charset="-122"/>
                <a:cs typeface="Nunito Sans" pitchFamily="34" charset="-120"/>
              </a:rPr>
              <a:t> testar a jornada sem custo nem risco.</a:t>
            </a:r>
            <a:endParaRPr lang="en-US" sz="1200" dirty="0"/>
          </a:p>
        </p:txBody>
      </p:sp>
      <p:sp>
        <p:nvSpPr>
          <p:cNvPr id="8" name="Shape 6"/>
          <p:cNvSpPr/>
          <p:nvPr/>
        </p:nvSpPr>
        <p:spPr>
          <a:xfrm>
            <a:off x="4399459" y="2016125"/>
            <a:ext cx="3405783" cy="4019550"/>
          </a:xfrm>
          <a:prstGeom prst="roundRect">
            <a:avLst>
              <a:gd name="adj" fmla="val 4941"/>
            </a:avLst>
          </a:prstGeom>
          <a:solidFill>
            <a:srgbClr val="FDFCFF"/>
          </a:solidFill>
          <a:ln w="19050">
            <a:solidFill>
              <a:srgbClr val="6D3AE8"/>
            </a:solidFill>
            <a:prstDash val="solid"/>
          </a:ln>
          <a:effectLst>
            <a:outerShdw blurRad="381000" dist="152400" dir="5400000" algn="bl" rotWithShape="0">
              <a:srgbClr val="4428A0">
                <a:alpha val="16000"/>
              </a:srgbClr>
            </a:outerShdw>
          </a:effectLst>
        </p:spPr>
        <p:txBody>
          <a:bodyPr/>
          <a:lstStyle/>
          <a:p>
            <a:endParaRPr lang="pt-BR"/>
          </a:p>
        </p:txBody>
      </p:sp>
      <p:sp>
        <p:nvSpPr>
          <p:cNvPr id="9" name="Text 7"/>
          <p:cNvSpPr/>
          <p:nvPr/>
        </p:nvSpPr>
        <p:spPr>
          <a:xfrm>
            <a:off x="4662984" y="2279650"/>
            <a:ext cx="296509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PRATA · MVP, HOJE</a:t>
            </a:r>
            <a:endParaRPr lang="en-US" sz="1200" dirty="0"/>
          </a:p>
        </p:txBody>
      </p:sp>
      <p:sp>
        <p:nvSpPr>
          <p:cNvPr id="10" name="Text 8"/>
          <p:cNvSpPr/>
          <p:nvPr/>
        </p:nvSpPr>
        <p:spPr>
          <a:xfrm>
            <a:off x="4662984" y="2581870"/>
            <a:ext cx="29650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153B"/>
                </a:solidFill>
                <a:latin typeface="Montserrat" pitchFamily="34" charset="0"/>
                <a:ea typeface="Montserrat" pitchFamily="34" charset="-122"/>
                <a:cs typeface="Montserrat" pitchFamily="34" charset="-120"/>
              </a:rPr>
              <a:t>Operar o fluxo</a:t>
            </a:r>
            <a:endParaRPr lang="en-US" sz="1800" dirty="0"/>
          </a:p>
        </p:txBody>
      </p:sp>
      <p:sp>
        <p:nvSpPr>
          <p:cNvPr id="11" name="Text 9"/>
          <p:cNvSpPr/>
          <p:nvPr/>
        </p:nvSpPr>
        <p:spPr>
          <a:xfrm>
            <a:off x="4662984" y="2945011"/>
            <a:ext cx="296509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n8n self-hosted, webhooks, PostgreSQL, Power BI e voz gravada da Daisy.</a:t>
            </a:r>
            <a:endParaRPr lang="en-US" sz="1300" dirty="0"/>
          </a:p>
        </p:txBody>
      </p:sp>
      <p:sp>
        <p:nvSpPr>
          <p:cNvPr id="12" name="Text 10"/>
          <p:cNvSpPr/>
          <p:nvPr/>
        </p:nvSpPr>
        <p:spPr>
          <a:xfrm>
            <a:off x="4662984" y="5132189"/>
            <a:ext cx="2965095"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2BD6"/>
                </a:solidFill>
                <a:latin typeface="Nunito Sans" pitchFamily="34" charset="0"/>
                <a:ea typeface="Nunito Sans" pitchFamily="34" charset="-122"/>
                <a:cs typeface="Nunito Sans" pitchFamily="34" charset="-120"/>
              </a:rPr>
              <a:t>Por quê:</a:t>
            </a:r>
            <a:r>
              <a:rPr lang="en-US" sz="1200" dirty="0">
                <a:solidFill>
                  <a:srgbClr val="5B2BD6"/>
                </a:solidFill>
                <a:latin typeface="Nunito Sans" pitchFamily="34" charset="0"/>
                <a:ea typeface="Nunito Sans" pitchFamily="34" charset="-122"/>
                <a:cs typeface="Nunito Sans" pitchFamily="34" charset="-120"/>
              </a:rPr>
              <a:t> tecnologia aberta, barata e legível pela TI do hospital; vira Ouro sem reescrever os fluxos.</a:t>
            </a:r>
            <a:endParaRPr lang="en-US" sz="1200" dirty="0"/>
          </a:p>
        </p:txBody>
      </p:sp>
      <p:sp>
        <p:nvSpPr>
          <p:cNvPr id="13" name="Shape 11"/>
          <p:cNvSpPr/>
          <p:nvPr/>
        </p:nvSpPr>
        <p:spPr>
          <a:xfrm>
            <a:off x="7992566" y="2006600"/>
            <a:ext cx="3386634" cy="4038600"/>
          </a:xfrm>
          <a:prstGeom prst="roundRect">
            <a:avLst>
              <a:gd name="adj" fmla="val 5250"/>
            </a:avLst>
          </a:prstGeom>
          <a:solidFill>
            <a:srgbClr val="211843"/>
          </a:solidFill>
          <a:ln/>
        </p:spPr>
        <p:txBody>
          <a:bodyPr/>
          <a:lstStyle/>
          <a:p>
            <a:endParaRPr lang="pt-BR"/>
          </a:p>
        </p:txBody>
      </p:sp>
      <p:sp>
        <p:nvSpPr>
          <p:cNvPr id="14" name="Text 12"/>
          <p:cNvSpPr/>
          <p:nvPr/>
        </p:nvSpPr>
        <p:spPr>
          <a:xfrm>
            <a:off x="8246566" y="2260600"/>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6C46B"/>
                </a:solidFill>
                <a:latin typeface="Montserrat" pitchFamily="34" charset="0"/>
                <a:ea typeface="Montserrat" pitchFamily="34" charset="-122"/>
                <a:cs typeface="Montserrat" pitchFamily="34" charset="-120"/>
              </a:rPr>
              <a:t>OURO · PRODUÇÃO</a:t>
            </a:r>
            <a:endParaRPr lang="en-US" sz="1200" dirty="0"/>
          </a:p>
        </p:txBody>
      </p:sp>
      <p:sp>
        <p:nvSpPr>
          <p:cNvPr id="15" name="Text 13"/>
          <p:cNvSpPr/>
          <p:nvPr/>
        </p:nvSpPr>
        <p:spPr>
          <a:xfrm>
            <a:off x="8246566" y="2562820"/>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BFAFF"/>
                </a:solidFill>
                <a:latin typeface="Montserrat" pitchFamily="34" charset="0"/>
                <a:ea typeface="Montserrat" pitchFamily="34" charset="-122"/>
                <a:cs typeface="Montserrat" pitchFamily="34" charset="-120"/>
              </a:rPr>
              <a:t>Escalar com segurança</a:t>
            </a:r>
            <a:endParaRPr lang="en-US" sz="1800" dirty="0"/>
          </a:p>
        </p:txBody>
      </p:sp>
      <p:sp>
        <p:nvSpPr>
          <p:cNvPr id="16" name="Text 14"/>
          <p:cNvSpPr/>
          <p:nvPr/>
        </p:nvSpPr>
        <p:spPr>
          <a:xfrm>
            <a:off x="8246566" y="2925961"/>
            <a:ext cx="2964993"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Azure (API Management, Entra ID, Key Vault), CRM do hospital, Redis, WhatsApp Business, Google Routes, OpenAI e AI Speech.</a:t>
            </a:r>
            <a:endParaRPr lang="en-US" sz="1300" dirty="0"/>
          </a:p>
        </p:txBody>
      </p:sp>
      <p:sp>
        <p:nvSpPr>
          <p:cNvPr id="17" name="Text 15"/>
          <p:cNvSpPr/>
          <p:nvPr/>
        </p:nvSpPr>
        <p:spPr>
          <a:xfrm>
            <a:off x="8246566" y="5151239"/>
            <a:ext cx="2964993"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B8FF"/>
                </a:solidFill>
                <a:latin typeface="Nunito Sans" pitchFamily="34" charset="0"/>
                <a:ea typeface="Nunito Sans" pitchFamily="34" charset="-122"/>
                <a:cs typeface="Nunito Sans" pitchFamily="34" charset="-120"/>
              </a:rPr>
              <a:t>Por quê:</a:t>
            </a:r>
            <a:r>
              <a:rPr lang="en-US" sz="1200" dirty="0">
                <a:solidFill>
                  <a:srgbClr val="C9B8FF"/>
                </a:solidFill>
                <a:latin typeface="Nunito Sans" pitchFamily="34" charset="0"/>
                <a:ea typeface="Nunito Sans" pitchFamily="34" charset="-122"/>
                <a:cs typeface="Nunito Sans" pitchFamily="34" charset="-120"/>
              </a:rPr>
              <a:t> dados reais, porta única com OAuth 2.0, segredos fora do código e serviços gerenciados.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71120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7153B"/>
                </a:solidFill>
                <a:latin typeface="Montserrat" pitchFamily="34" charset="0"/>
                <a:ea typeface="Montserrat" pitchFamily="34" charset="-122"/>
                <a:cs typeface="Montserrat" pitchFamily="34" charset="-120"/>
              </a:rPr>
              <a:t>No Ouro, tudo entra por uma porta única e cada dado fica no lugar do seu papel</a:t>
            </a:r>
            <a:endParaRPr lang="en-US" sz="2800" dirty="0"/>
          </a:p>
        </p:txBody>
      </p:sp>
      <p:sp>
        <p:nvSpPr>
          <p:cNvPr id="3" name="Text 1"/>
          <p:cNvSpPr/>
          <p:nvPr/>
        </p:nvSpPr>
        <p:spPr>
          <a:xfrm>
            <a:off x="812800" y="1842691"/>
            <a:ext cx="1447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Montserrat" pitchFamily="34" charset="0"/>
                <a:ea typeface="Montserrat" pitchFamily="34" charset="-122"/>
                <a:cs typeface="Montserrat" pitchFamily="34" charset="-120"/>
              </a:rPr>
              <a:t>Canais</a:t>
            </a:r>
            <a:endParaRPr lang="en-US" sz="1300" dirty="0"/>
          </a:p>
        </p:txBody>
      </p:sp>
      <p:sp>
        <p:nvSpPr>
          <p:cNvPr id="4" name="Text 2"/>
          <p:cNvSpPr/>
          <p:nvPr/>
        </p:nvSpPr>
        <p:spPr>
          <a:xfrm>
            <a:off x="2314575" y="1725216"/>
            <a:ext cx="2948484" cy="466030"/>
          </a:xfrm>
          <a:prstGeom prst="roundRect">
            <a:avLst>
              <a:gd name="adj" fmla="val 18395"/>
            </a:avLst>
          </a:prstGeom>
          <a:solidFill>
            <a:srgbClr val="FDFCFF"/>
          </a:solidFill>
          <a:ln w="6350">
            <a:solidFill>
              <a:srgbClr val="DCD2FA"/>
            </a:solidFill>
            <a:prstDash val="solid"/>
          </a:ln>
        </p:spPr>
        <p:txBody>
          <a:bodyPr wrap="square" lIns="51664" tIns="92367" rIns="51664"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App da Daisy</a:t>
            </a:r>
            <a:endParaRPr lang="en-US" sz="1300" dirty="0"/>
          </a:p>
        </p:txBody>
      </p:sp>
      <p:sp>
        <p:nvSpPr>
          <p:cNvPr id="5" name="Text 3"/>
          <p:cNvSpPr/>
          <p:nvPr/>
        </p:nvSpPr>
        <p:spPr>
          <a:xfrm>
            <a:off x="5371009" y="1725216"/>
            <a:ext cx="2948583" cy="466030"/>
          </a:xfrm>
          <a:prstGeom prst="roundRect">
            <a:avLst>
              <a:gd name="adj" fmla="val 18395"/>
            </a:avLst>
          </a:prstGeom>
          <a:solidFill>
            <a:srgbClr val="FDFCFF"/>
          </a:solidFill>
          <a:ln w="6350">
            <a:solidFill>
              <a:srgbClr val="DCD2FA"/>
            </a:solidFill>
            <a:prstDash val="solid"/>
          </a:ln>
        </p:spPr>
        <p:txBody>
          <a:bodyPr wrap="square" lIns="51663" tIns="92367" rIns="51663"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WhatsApp Business</a:t>
            </a:r>
            <a:endParaRPr lang="en-US" sz="1300" dirty="0"/>
          </a:p>
        </p:txBody>
      </p:sp>
      <p:sp>
        <p:nvSpPr>
          <p:cNvPr id="6" name="Text 4"/>
          <p:cNvSpPr/>
          <p:nvPr/>
        </p:nvSpPr>
        <p:spPr>
          <a:xfrm>
            <a:off x="8427541" y="1725216"/>
            <a:ext cx="2948484" cy="466030"/>
          </a:xfrm>
          <a:prstGeom prst="roundRect">
            <a:avLst>
              <a:gd name="adj" fmla="val 18395"/>
            </a:avLst>
          </a:prstGeom>
          <a:solidFill>
            <a:srgbClr val="FDFCFF"/>
          </a:solidFill>
          <a:ln w="6350">
            <a:solidFill>
              <a:srgbClr val="DCD2FA"/>
            </a:solidFill>
            <a:prstDash val="solid"/>
          </a:ln>
        </p:spPr>
        <p:txBody>
          <a:bodyPr wrap="square" lIns="51664" tIns="92367" rIns="51664"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App do médico</a:t>
            </a:r>
            <a:endParaRPr lang="en-US" sz="1300" dirty="0"/>
          </a:p>
        </p:txBody>
      </p:sp>
      <p:sp>
        <p:nvSpPr>
          <p:cNvPr id="7" name="Text 5"/>
          <p:cNvSpPr/>
          <p:nvPr/>
        </p:nvSpPr>
        <p:spPr>
          <a:xfrm>
            <a:off x="812800" y="2397621"/>
            <a:ext cx="1447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Montserrat" pitchFamily="34" charset="0"/>
                <a:ea typeface="Montserrat" pitchFamily="34" charset="-122"/>
                <a:cs typeface="Montserrat" pitchFamily="34" charset="-120"/>
              </a:rPr>
              <a:t>Entrada</a:t>
            </a:r>
            <a:endParaRPr lang="en-US" sz="1300" dirty="0"/>
          </a:p>
        </p:txBody>
      </p:sp>
      <p:sp>
        <p:nvSpPr>
          <p:cNvPr id="8" name="Text 6"/>
          <p:cNvSpPr/>
          <p:nvPr/>
        </p:nvSpPr>
        <p:spPr>
          <a:xfrm>
            <a:off x="2311400" y="2283321"/>
            <a:ext cx="9067800" cy="459680"/>
          </a:xfrm>
          <a:prstGeom prst="roundRect">
            <a:avLst>
              <a:gd name="adj" fmla="val 19340"/>
            </a:avLst>
          </a:prstGeom>
          <a:solidFill>
            <a:srgbClr val="6D3AE8"/>
          </a:solidFill>
          <a:ln/>
        </p:spPr>
        <p:txBody>
          <a:bodyPr wrap="square" lIns="0" tIns="88262" rIns="0" bIns="62862" rtlCol="0" anchor="t">
            <a:normAutofit/>
          </a:bodyPr>
          <a:lstStyle/>
          <a:p>
            <a:pPr marL="0" indent="0" algn="ctr">
              <a:lnSpc>
                <a:spcPts val="1820"/>
              </a:lnSpc>
              <a:buNone/>
            </a:pPr>
            <a:r>
              <a:rPr lang="en-US" sz="1300" b="1" dirty="0">
                <a:solidFill>
                  <a:srgbClr val="FBFAFF"/>
                </a:solidFill>
                <a:latin typeface="Nunito Sans" pitchFamily="34" charset="0"/>
                <a:ea typeface="Nunito Sans" pitchFamily="34" charset="-122"/>
                <a:cs typeface="Nunito Sans" pitchFamily="34" charset="-120"/>
              </a:rPr>
              <a:t>Azure API Management · porta única com OAuth 2.0, WAF e limites de uso</a:t>
            </a:r>
            <a:endParaRPr lang="en-US" sz="1300" dirty="0"/>
          </a:p>
        </p:txBody>
      </p:sp>
      <p:sp>
        <p:nvSpPr>
          <p:cNvPr id="9" name="Text 7"/>
          <p:cNvSpPr/>
          <p:nvPr/>
        </p:nvSpPr>
        <p:spPr>
          <a:xfrm>
            <a:off x="812800" y="2952552"/>
            <a:ext cx="1447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Montserrat" pitchFamily="34" charset="0"/>
                <a:ea typeface="Montserrat" pitchFamily="34" charset="-122"/>
                <a:cs typeface="Montserrat" pitchFamily="34" charset="-120"/>
              </a:rPr>
              <a:t>Lógica</a:t>
            </a:r>
            <a:endParaRPr lang="en-US" sz="1300" dirty="0"/>
          </a:p>
        </p:txBody>
      </p:sp>
      <p:sp>
        <p:nvSpPr>
          <p:cNvPr id="10" name="Text 8"/>
          <p:cNvSpPr/>
          <p:nvPr/>
        </p:nvSpPr>
        <p:spPr>
          <a:xfrm>
            <a:off x="2314575" y="2835077"/>
            <a:ext cx="4476750" cy="466030"/>
          </a:xfrm>
          <a:prstGeom prst="roundRect">
            <a:avLst>
              <a:gd name="adj" fmla="val 18395"/>
            </a:avLst>
          </a:prstGeom>
          <a:solidFill>
            <a:srgbClr val="FDFCFF"/>
          </a:solidFill>
          <a:ln w="6350">
            <a:solidFill>
              <a:srgbClr val="DCD2FA"/>
            </a:solidFill>
            <a:prstDash val="solid"/>
          </a:ln>
        </p:spPr>
        <p:txBody>
          <a:bodyPr wrap="square" lIns="28740" tIns="92367" rIns="28740"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API DaisyCare · chat, agenda, fila e voz</a:t>
            </a:r>
            <a:endParaRPr lang="en-US" sz="1300" dirty="0"/>
          </a:p>
        </p:txBody>
      </p:sp>
      <p:sp>
        <p:nvSpPr>
          <p:cNvPr id="11" name="Text 9"/>
          <p:cNvSpPr/>
          <p:nvPr/>
        </p:nvSpPr>
        <p:spPr>
          <a:xfrm>
            <a:off x="6899275" y="2835077"/>
            <a:ext cx="4476750" cy="466030"/>
          </a:xfrm>
          <a:prstGeom prst="roundRect">
            <a:avLst>
              <a:gd name="adj" fmla="val 18395"/>
            </a:avLst>
          </a:prstGeom>
          <a:solidFill>
            <a:srgbClr val="FDFCFF"/>
          </a:solidFill>
          <a:ln w="6350">
            <a:solidFill>
              <a:srgbClr val="DCD2FA"/>
            </a:solidFill>
            <a:prstDash val="solid"/>
          </a:ln>
        </p:spPr>
        <p:txBody>
          <a:bodyPr wrap="square" lIns="28740" tIns="92367" rIns="28740"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n8n · workflows 01 a 17</a:t>
            </a:r>
            <a:endParaRPr lang="en-US" sz="1300" dirty="0"/>
          </a:p>
        </p:txBody>
      </p:sp>
      <p:sp>
        <p:nvSpPr>
          <p:cNvPr id="12" name="Text 10"/>
          <p:cNvSpPr/>
          <p:nvPr/>
        </p:nvSpPr>
        <p:spPr>
          <a:xfrm>
            <a:off x="812800" y="3513832"/>
            <a:ext cx="1447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Montserrat" pitchFamily="34" charset="0"/>
                <a:ea typeface="Montserrat" pitchFamily="34" charset="-122"/>
                <a:cs typeface="Montserrat" pitchFamily="34" charset="-120"/>
              </a:rPr>
              <a:t>Serviços</a:t>
            </a:r>
            <a:endParaRPr lang="en-US" sz="1300" dirty="0"/>
          </a:p>
        </p:txBody>
      </p:sp>
      <p:sp>
        <p:nvSpPr>
          <p:cNvPr id="13" name="Text 11"/>
          <p:cNvSpPr/>
          <p:nvPr/>
        </p:nvSpPr>
        <p:spPr>
          <a:xfrm>
            <a:off x="2314575" y="3396357"/>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Azure AI Speech</a:t>
            </a:r>
            <a:endParaRPr lang="en-US" sz="1300" dirty="0"/>
          </a:p>
        </p:txBody>
      </p:sp>
      <p:sp>
        <p:nvSpPr>
          <p:cNvPr id="14" name="Text 12"/>
          <p:cNvSpPr/>
          <p:nvPr/>
        </p:nvSpPr>
        <p:spPr>
          <a:xfrm>
            <a:off x="4606925" y="3396357"/>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OpenAI (17)</a:t>
            </a:r>
            <a:endParaRPr lang="en-US" sz="1300" dirty="0"/>
          </a:p>
        </p:txBody>
      </p:sp>
      <p:sp>
        <p:nvSpPr>
          <p:cNvPr id="15" name="Text 13"/>
          <p:cNvSpPr/>
          <p:nvPr/>
        </p:nvSpPr>
        <p:spPr>
          <a:xfrm>
            <a:off x="6899275" y="3396357"/>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Google Routes (12)</a:t>
            </a:r>
            <a:endParaRPr lang="en-US" sz="1300" dirty="0"/>
          </a:p>
        </p:txBody>
      </p:sp>
      <p:sp>
        <p:nvSpPr>
          <p:cNvPr id="16" name="Text 14"/>
          <p:cNvSpPr/>
          <p:nvPr/>
        </p:nvSpPr>
        <p:spPr>
          <a:xfrm>
            <a:off x="9191625" y="3396357"/>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Doc Intelligence</a:t>
            </a:r>
            <a:endParaRPr lang="en-US" sz="1300" dirty="0"/>
          </a:p>
        </p:txBody>
      </p:sp>
      <p:sp>
        <p:nvSpPr>
          <p:cNvPr id="17" name="Text 15"/>
          <p:cNvSpPr/>
          <p:nvPr/>
        </p:nvSpPr>
        <p:spPr>
          <a:xfrm>
            <a:off x="812800" y="4068763"/>
            <a:ext cx="1447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Montserrat" pitchFamily="34" charset="0"/>
                <a:ea typeface="Montserrat" pitchFamily="34" charset="-122"/>
                <a:cs typeface="Montserrat" pitchFamily="34" charset="-120"/>
              </a:rPr>
              <a:t>Dados</a:t>
            </a:r>
            <a:endParaRPr lang="en-US" sz="1300" dirty="0"/>
          </a:p>
        </p:txBody>
      </p:sp>
      <p:sp>
        <p:nvSpPr>
          <p:cNvPr id="18" name="Text 16"/>
          <p:cNvSpPr/>
          <p:nvPr/>
        </p:nvSpPr>
        <p:spPr>
          <a:xfrm>
            <a:off x="2311400" y="3954463"/>
            <a:ext cx="2190750" cy="459680"/>
          </a:xfrm>
          <a:prstGeom prst="roundRect">
            <a:avLst>
              <a:gd name="adj" fmla="val 19340"/>
            </a:avLst>
          </a:prstGeom>
          <a:solidFill>
            <a:srgbClr val="E9E2FC"/>
          </a:solidFill>
          <a:ln/>
        </p:spPr>
        <p:txBody>
          <a:bodyPr wrap="square" lIns="58830" tIns="88262" rIns="58830" bIns="62862"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CRM do hospital · status</a:t>
            </a:r>
            <a:endParaRPr lang="en-US" sz="1300" dirty="0"/>
          </a:p>
        </p:txBody>
      </p:sp>
      <p:sp>
        <p:nvSpPr>
          <p:cNvPr id="19" name="Text 17"/>
          <p:cNvSpPr/>
          <p:nvPr/>
        </p:nvSpPr>
        <p:spPr>
          <a:xfrm>
            <a:off x="4603750" y="3954463"/>
            <a:ext cx="2190750" cy="459680"/>
          </a:xfrm>
          <a:prstGeom prst="roundRect">
            <a:avLst>
              <a:gd name="adj" fmla="val 19340"/>
            </a:avLst>
          </a:prstGeom>
          <a:solidFill>
            <a:srgbClr val="E9E2FC"/>
          </a:solidFill>
          <a:ln/>
        </p:spPr>
        <p:txBody>
          <a:bodyPr wrap="square" lIns="58830" tIns="88262" rIns="58830" bIns="62862"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PostgreSQL · eventos</a:t>
            </a:r>
            <a:endParaRPr lang="en-US" sz="1300" dirty="0"/>
          </a:p>
        </p:txBody>
      </p:sp>
      <p:sp>
        <p:nvSpPr>
          <p:cNvPr id="20" name="Text 18"/>
          <p:cNvSpPr/>
          <p:nvPr/>
        </p:nvSpPr>
        <p:spPr>
          <a:xfrm>
            <a:off x="6896100" y="3954463"/>
            <a:ext cx="2190750" cy="459680"/>
          </a:xfrm>
          <a:prstGeom prst="roundRect">
            <a:avLst>
              <a:gd name="adj" fmla="val 19340"/>
            </a:avLst>
          </a:prstGeom>
          <a:solidFill>
            <a:srgbClr val="E9E2FC"/>
          </a:solidFill>
          <a:ln/>
        </p:spPr>
        <p:txBody>
          <a:bodyPr wrap="square" lIns="58830" tIns="88262" rIns="58830" bIns="62862"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Redis · tempo real</a:t>
            </a:r>
            <a:endParaRPr lang="en-US" sz="1300" dirty="0"/>
          </a:p>
        </p:txBody>
      </p:sp>
      <p:sp>
        <p:nvSpPr>
          <p:cNvPr id="21" name="Text 19"/>
          <p:cNvSpPr/>
          <p:nvPr/>
        </p:nvSpPr>
        <p:spPr>
          <a:xfrm>
            <a:off x="9188450" y="3954463"/>
            <a:ext cx="2190750" cy="459680"/>
          </a:xfrm>
          <a:prstGeom prst="roundRect">
            <a:avLst>
              <a:gd name="adj" fmla="val 19340"/>
            </a:avLst>
          </a:prstGeom>
          <a:solidFill>
            <a:srgbClr val="E9E2FC"/>
          </a:solidFill>
          <a:ln/>
        </p:spPr>
        <p:txBody>
          <a:bodyPr wrap="square" lIns="58830" tIns="88262" rIns="58830" bIns="62862"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Service Bus</a:t>
            </a:r>
            <a:endParaRPr lang="en-US" sz="1300" dirty="0"/>
          </a:p>
        </p:txBody>
      </p:sp>
      <p:sp>
        <p:nvSpPr>
          <p:cNvPr id="22" name="Text 20"/>
          <p:cNvSpPr/>
          <p:nvPr/>
        </p:nvSpPr>
        <p:spPr>
          <a:xfrm>
            <a:off x="812800" y="4623693"/>
            <a:ext cx="1447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Montserrat" pitchFamily="34" charset="0"/>
                <a:ea typeface="Montserrat" pitchFamily="34" charset="-122"/>
                <a:cs typeface="Montserrat" pitchFamily="34" charset="-120"/>
              </a:rPr>
              <a:t>Governança</a:t>
            </a:r>
            <a:endParaRPr lang="en-US" sz="1300" dirty="0"/>
          </a:p>
        </p:txBody>
      </p:sp>
      <p:sp>
        <p:nvSpPr>
          <p:cNvPr id="23" name="Text 21"/>
          <p:cNvSpPr/>
          <p:nvPr/>
        </p:nvSpPr>
        <p:spPr>
          <a:xfrm>
            <a:off x="2314575" y="4506218"/>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Entra ID</a:t>
            </a:r>
            <a:endParaRPr lang="en-US" sz="1300" dirty="0"/>
          </a:p>
        </p:txBody>
      </p:sp>
      <p:sp>
        <p:nvSpPr>
          <p:cNvPr id="24" name="Text 22"/>
          <p:cNvSpPr/>
          <p:nvPr/>
        </p:nvSpPr>
        <p:spPr>
          <a:xfrm>
            <a:off x="4606925" y="4506218"/>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Key Vault</a:t>
            </a:r>
            <a:endParaRPr lang="en-US" sz="1300" dirty="0"/>
          </a:p>
        </p:txBody>
      </p:sp>
      <p:sp>
        <p:nvSpPr>
          <p:cNvPr id="25" name="Text 23"/>
          <p:cNvSpPr/>
          <p:nvPr/>
        </p:nvSpPr>
        <p:spPr>
          <a:xfrm>
            <a:off x="6899275" y="4506218"/>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App Insights</a:t>
            </a:r>
            <a:endParaRPr lang="en-US" sz="1300" dirty="0"/>
          </a:p>
        </p:txBody>
      </p:sp>
      <p:sp>
        <p:nvSpPr>
          <p:cNvPr id="26" name="Text 24"/>
          <p:cNvSpPr/>
          <p:nvPr/>
        </p:nvSpPr>
        <p:spPr>
          <a:xfrm>
            <a:off x="9191625" y="4506218"/>
            <a:ext cx="2184400" cy="466030"/>
          </a:xfrm>
          <a:prstGeom prst="roundRect">
            <a:avLst>
              <a:gd name="adj" fmla="val 18395"/>
            </a:avLst>
          </a:prstGeom>
          <a:solidFill>
            <a:srgbClr val="FDFCFF"/>
          </a:solidFill>
          <a:ln w="6350">
            <a:solidFill>
              <a:srgbClr val="DCD2FA"/>
            </a:solidFill>
            <a:prstDash val="solid"/>
          </a:ln>
        </p:spPr>
        <p:txBody>
          <a:bodyPr wrap="square" lIns="63125" tIns="92367" rIns="63125" bIns="66967" rtlCol="0" anchor="t">
            <a:normAutofit/>
          </a:bodyPr>
          <a:lstStyle/>
          <a:p>
            <a:pPr marL="0" indent="0" algn="ctr">
              <a:lnSpc>
                <a:spcPts val="1820"/>
              </a:lnSpc>
              <a:buNone/>
            </a:pPr>
            <a:r>
              <a:rPr lang="en-US" sz="1300" dirty="0">
                <a:solidFill>
                  <a:srgbClr val="17153B"/>
                </a:solidFill>
                <a:latin typeface="Nunito Sans" pitchFamily="34" charset="0"/>
                <a:ea typeface="Nunito Sans" pitchFamily="34" charset="-122"/>
                <a:cs typeface="Nunito Sans" pitchFamily="34" charset="-120"/>
              </a:rPr>
              <a:t>Power BI</a:t>
            </a:r>
            <a:endParaRPr lang="en-US" sz="1300" dirty="0"/>
          </a:p>
        </p:txBody>
      </p:sp>
      <p:sp>
        <p:nvSpPr>
          <p:cNvPr id="27" name="Text 25"/>
          <p:cNvSpPr/>
          <p:nvPr/>
        </p:nvSpPr>
        <p:spPr>
          <a:xfrm>
            <a:off x="812800" y="591572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500 mil operações por mês são 0,2 por segundo em média: a divisão entre CRM, PostgreSQL e Redis é por papel, não por capacidade.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O limite clínico: o que a Daisy faz e o que ela não faz</a:t>
            </a:r>
            <a:endParaRPr lang="en-US" sz="3000" dirty="0"/>
          </a:p>
        </p:txBody>
      </p:sp>
      <p:sp>
        <p:nvSpPr>
          <p:cNvPr id="3" name="Shape 1"/>
          <p:cNvSpPr/>
          <p:nvPr/>
        </p:nvSpPr>
        <p:spPr>
          <a:xfrm>
            <a:off x="815975" y="1514475"/>
            <a:ext cx="5194300" cy="3582789"/>
          </a:xfrm>
          <a:prstGeom prst="roundRect">
            <a:avLst>
              <a:gd name="adj" fmla="val 4874"/>
            </a:avLst>
          </a:prstGeom>
          <a:solidFill>
            <a:srgbClr val="FDFCFF"/>
          </a:solidFill>
          <a:ln w="6350">
            <a:solidFill>
              <a:srgbClr val="E2D9FB"/>
            </a:solidFill>
            <a:prstDash val="solid"/>
          </a:ln>
        </p:spPr>
        <p:txBody>
          <a:bodyPr/>
          <a:lstStyle/>
          <a:p>
            <a:endParaRPr lang="pt-BR"/>
          </a:p>
        </p:txBody>
      </p:sp>
      <p:sp>
        <p:nvSpPr>
          <p:cNvPr id="4" name="Text 2"/>
          <p:cNvSpPr/>
          <p:nvPr/>
        </p:nvSpPr>
        <p:spPr>
          <a:xfrm>
            <a:off x="1073150" y="1771650"/>
            <a:ext cx="482034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BD6"/>
                </a:solidFill>
                <a:latin typeface="Montserrat" pitchFamily="34" charset="0"/>
                <a:ea typeface="Montserrat" pitchFamily="34" charset="-122"/>
                <a:cs typeface="Montserrat" pitchFamily="34" charset="-120"/>
              </a:rPr>
              <a:t>ZONA OPERACIONAL · A DAISY FAZ</a:t>
            </a:r>
            <a:endParaRPr lang="en-US" sz="1200" dirty="0"/>
          </a:p>
        </p:txBody>
      </p:sp>
      <p:pic>
        <p:nvPicPr>
          <p:cNvPr id="5" name="Image 0" descr="CheckCircle"/>
          <p:cNvPicPr>
            <a:picLocks noChangeAspect="1"/>
          </p:cNvPicPr>
          <p:nvPr/>
        </p:nvPicPr>
        <p:blipFill>
          <a:blip r:embed="rId3"/>
          <a:srcRect/>
          <a:stretch/>
        </p:blipFill>
        <p:spPr>
          <a:xfrm>
            <a:off x="1073150" y="2111970"/>
            <a:ext cx="254000" cy="254000"/>
          </a:xfrm>
          <a:prstGeom prst="rect">
            <a:avLst/>
          </a:prstGeom>
        </p:spPr>
      </p:pic>
      <p:sp>
        <p:nvSpPr>
          <p:cNvPr id="6" name="Text 3"/>
          <p:cNvSpPr/>
          <p:nvPr/>
        </p:nvSpPr>
        <p:spPr>
          <a:xfrm>
            <a:off x="1441450" y="211455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34F"/>
                </a:solidFill>
                <a:latin typeface="Nunito Sans" pitchFamily="34" charset="0"/>
                <a:ea typeface="Nunito Sans" pitchFamily="34" charset="-122"/>
                <a:cs typeface="Nunito Sans" pitchFamily="34" charset="-120"/>
              </a:rPr>
              <a:t>Lembretes e confirmação de agenda</a:t>
            </a:r>
            <a:endParaRPr lang="en-US" sz="1400" dirty="0"/>
          </a:p>
        </p:txBody>
      </p:sp>
      <p:pic>
        <p:nvPicPr>
          <p:cNvPr id="7" name="Image 1" descr="CheckCircle"/>
          <p:cNvPicPr>
            <a:picLocks noChangeAspect="1"/>
          </p:cNvPicPr>
          <p:nvPr/>
        </p:nvPicPr>
        <p:blipFill>
          <a:blip r:embed="rId3"/>
          <a:srcRect/>
          <a:stretch/>
        </p:blipFill>
        <p:spPr>
          <a:xfrm>
            <a:off x="1073150" y="2492970"/>
            <a:ext cx="254000" cy="254000"/>
          </a:xfrm>
          <a:prstGeom prst="rect">
            <a:avLst/>
          </a:prstGeom>
        </p:spPr>
      </p:pic>
      <p:sp>
        <p:nvSpPr>
          <p:cNvPr id="8" name="Text 4"/>
          <p:cNvSpPr/>
          <p:nvPr/>
        </p:nvSpPr>
        <p:spPr>
          <a:xfrm>
            <a:off x="1441450" y="249555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34F"/>
                </a:solidFill>
                <a:latin typeface="Nunito Sans" pitchFamily="34" charset="0"/>
                <a:ea typeface="Nunito Sans" pitchFamily="34" charset="-122"/>
                <a:cs typeface="Nunito Sans" pitchFamily="34" charset="-120"/>
              </a:rPr>
              <a:t>Posição na fila digital e Smart Queue</a:t>
            </a:r>
            <a:endParaRPr lang="en-US" sz="1400" dirty="0"/>
          </a:p>
        </p:txBody>
      </p:sp>
      <p:pic>
        <p:nvPicPr>
          <p:cNvPr id="9" name="Image 2" descr="CheckCircle"/>
          <p:cNvPicPr>
            <a:picLocks noChangeAspect="1"/>
          </p:cNvPicPr>
          <p:nvPr/>
        </p:nvPicPr>
        <p:blipFill>
          <a:blip r:embed="rId3"/>
          <a:srcRect/>
          <a:stretch/>
        </p:blipFill>
        <p:spPr>
          <a:xfrm>
            <a:off x="1073150" y="2873970"/>
            <a:ext cx="254000" cy="254000"/>
          </a:xfrm>
          <a:prstGeom prst="rect">
            <a:avLst/>
          </a:prstGeom>
        </p:spPr>
      </p:pic>
      <p:sp>
        <p:nvSpPr>
          <p:cNvPr id="10" name="Text 5"/>
          <p:cNvSpPr/>
          <p:nvPr/>
        </p:nvSpPr>
        <p:spPr>
          <a:xfrm>
            <a:off x="1441450" y="287655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34F"/>
                </a:solidFill>
                <a:latin typeface="Nunito Sans" pitchFamily="34" charset="0"/>
                <a:ea typeface="Nunito Sans" pitchFamily="34" charset="-122"/>
                <a:cs typeface="Nunito Sans" pitchFamily="34" charset="-120"/>
              </a:rPr>
              <a:t>Preparo e jejum já cadastrados pelo hospital</a:t>
            </a:r>
            <a:endParaRPr lang="en-US" sz="1400" dirty="0"/>
          </a:p>
        </p:txBody>
      </p:sp>
      <p:pic>
        <p:nvPicPr>
          <p:cNvPr id="11" name="Image 3" descr="CheckCircle"/>
          <p:cNvPicPr>
            <a:picLocks noChangeAspect="1"/>
          </p:cNvPicPr>
          <p:nvPr/>
        </p:nvPicPr>
        <p:blipFill>
          <a:blip r:embed="rId3"/>
          <a:srcRect/>
          <a:stretch/>
        </p:blipFill>
        <p:spPr>
          <a:xfrm>
            <a:off x="1073150" y="3254970"/>
            <a:ext cx="254000" cy="254000"/>
          </a:xfrm>
          <a:prstGeom prst="rect">
            <a:avLst/>
          </a:prstGeom>
        </p:spPr>
      </p:pic>
      <p:sp>
        <p:nvSpPr>
          <p:cNvPr id="12" name="Text 6"/>
          <p:cNvSpPr/>
          <p:nvPr/>
        </p:nvSpPr>
        <p:spPr>
          <a:xfrm>
            <a:off x="1441450" y="325755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34F"/>
                </a:solidFill>
                <a:latin typeface="Nunito Sans" pitchFamily="34" charset="0"/>
                <a:ea typeface="Nunito Sans" pitchFamily="34" charset="-122"/>
                <a:cs typeface="Nunito Sans" pitchFamily="34" charset="-120"/>
              </a:rPr>
              <a:t>Pix e boleto após validar nome e CPF</a:t>
            </a:r>
            <a:endParaRPr lang="en-US" sz="1400" dirty="0"/>
          </a:p>
        </p:txBody>
      </p:sp>
      <p:sp>
        <p:nvSpPr>
          <p:cNvPr id="13" name="Shape 7"/>
          <p:cNvSpPr/>
          <p:nvPr/>
        </p:nvSpPr>
        <p:spPr>
          <a:xfrm>
            <a:off x="6191250" y="1511300"/>
            <a:ext cx="5187950" cy="3589139"/>
          </a:xfrm>
          <a:prstGeom prst="roundRect">
            <a:avLst>
              <a:gd name="adj" fmla="val 4954"/>
            </a:avLst>
          </a:prstGeom>
          <a:solidFill>
            <a:srgbClr val="211843"/>
          </a:solidFill>
          <a:ln/>
        </p:spPr>
        <p:txBody>
          <a:bodyPr/>
          <a:lstStyle/>
          <a:p>
            <a:endParaRPr lang="pt-BR"/>
          </a:p>
        </p:txBody>
      </p:sp>
      <p:sp>
        <p:nvSpPr>
          <p:cNvPr id="14" name="Text 8"/>
          <p:cNvSpPr/>
          <p:nvPr/>
        </p:nvSpPr>
        <p:spPr>
          <a:xfrm>
            <a:off x="6445250" y="1765300"/>
            <a:ext cx="482034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9B4"/>
                </a:solidFill>
                <a:latin typeface="Montserrat" pitchFamily="34" charset="0"/>
                <a:ea typeface="Montserrat" pitchFamily="34" charset="-122"/>
                <a:cs typeface="Montserrat" pitchFamily="34" charset="-120"/>
              </a:rPr>
              <a:t>FRONTEIRA · VAI PARA UM HUMANO</a:t>
            </a:r>
            <a:endParaRPr lang="en-US" sz="1200" dirty="0"/>
          </a:p>
        </p:txBody>
      </p:sp>
      <p:pic>
        <p:nvPicPr>
          <p:cNvPr id="15" name="Image 4" descr="Warning"/>
          <p:cNvPicPr>
            <a:picLocks noChangeAspect="1"/>
          </p:cNvPicPr>
          <p:nvPr/>
        </p:nvPicPr>
        <p:blipFill>
          <a:blip r:embed="rId4"/>
          <a:srcRect/>
          <a:stretch/>
        </p:blipFill>
        <p:spPr>
          <a:xfrm>
            <a:off x="6445250" y="2105620"/>
            <a:ext cx="254000" cy="254000"/>
          </a:xfrm>
          <a:prstGeom prst="rect">
            <a:avLst/>
          </a:prstGeom>
        </p:spPr>
      </p:pic>
      <p:sp>
        <p:nvSpPr>
          <p:cNvPr id="16" name="Text 9"/>
          <p:cNvSpPr/>
          <p:nvPr/>
        </p:nvSpPr>
        <p:spPr>
          <a:xfrm>
            <a:off x="6813550" y="210820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8FF"/>
                </a:solidFill>
                <a:latin typeface="Nunito Sans" pitchFamily="34" charset="0"/>
                <a:ea typeface="Nunito Sans" pitchFamily="34" charset="-122"/>
                <a:cs typeface="Nunito Sans" pitchFamily="34" charset="-120"/>
              </a:rPr>
              <a:t>Interpretar laudos e exames</a:t>
            </a:r>
            <a:endParaRPr lang="en-US" sz="1400" dirty="0"/>
          </a:p>
        </p:txBody>
      </p:sp>
      <p:pic>
        <p:nvPicPr>
          <p:cNvPr id="17" name="Image 5" descr="Warning"/>
          <p:cNvPicPr>
            <a:picLocks noChangeAspect="1"/>
          </p:cNvPicPr>
          <p:nvPr/>
        </p:nvPicPr>
        <p:blipFill>
          <a:blip r:embed="rId4"/>
          <a:srcRect/>
          <a:stretch/>
        </p:blipFill>
        <p:spPr>
          <a:xfrm>
            <a:off x="6445250" y="2486620"/>
            <a:ext cx="254000" cy="254000"/>
          </a:xfrm>
          <a:prstGeom prst="rect">
            <a:avLst/>
          </a:prstGeom>
        </p:spPr>
      </p:pic>
      <p:sp>
        <p:nvSpPr>
          <p:cNvPr id="18" name="Text 10"/>
          <p:cNvSpPr/>
          <p:nvPr/>
        </p:nvSpPr>
        <p:spPr>
          <a:xfrm>
            <a:off x="6813550" y="248920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8FF"/>
                </a:solidFill>
                <a:latin typeface="Nunito Sans" pitchFamily="34" charset="0"/>
                <a:ea typeface="Nunito Sans" pitchFamily="34" charset="-122"/>
                <a:cs typeface="Nunito Sans" pitchFamily="34" charset="-120"/>
              </a:rPr>
              <a:t>Alterar ou suspender medicamentos</a:t>
            </a:r>
            <a:endParaRPr lang="en-US" sz="1400" dirty="0"/>
          </a:p>
        </p:txBody>
      </p:sp>
      <p:pic>
        <p:nvPicPr>
          <p:cNvPr id="19" name="Image 6" descr="Warning"/>
          <p:cNvPicPr>
            <a:picLocks noChangeAspect="1"/>
          </p:cNvPicPr>
          <p:nvPr/>
        </p:nvPicPr>
        <p:blipFill>
          <a:blip r:embed="rId4"/>
          <a:srcRect/>
          <a:stretch/>
        </p:blipFill>
        <p:spPr>
          <a:xfrm>
            <a:off x="6445250" y="2867620"/>
            <a:ext cx="254000" cy="254000"/>
          </a:xfrm>
          <a:prstGeom prst="rect">
            <a:avLst/>
          </a:prstGeom>
        </p:spPr>
      </p:pic>
      <p:sp>
        <p:nvSpPr>
          <p:cNvPr id="20" name="Text 11"/>
          <p:cNvSpPr/>
          <p:nvPr/>
        </p:nvSpPr>
        <p:spPr>
          <a:xfrm>
            <a:off x="6813550" y="287020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8FF"/>
                </a:solidFill>
                <a:latin typeface="Nunito Sans" pitchFamily="34" charset="0"/>
                <a:ea typeface="Nunito Sans" pitchFamily="34" charset="-122"/>
                <a:cs typeface="Nunito Sans" pitchFamily="34" charset="-120"/>
              </a:rPr>
              <a:t>Avaliar sintomas ou diagnosticar</a:t>
            </a:r>
            <a:endParaRPr lang="en-US" sz="1400" dirty="0"/>
          </a:p>
        </p:txBody>
      </p:sp>
      <p:pic>
        <p:nvPicPr>
          <p:cNvPr id="21" name="Image 7" descr="Warning"/>
          <p:cNvPicPr>
            <a:picLocks noChangeAspect="1"/>
          </p:cNvPicPr>
          <p:nvPr/>
        </p:nvPicPr>
        <p:blipFill>
          <a:blip r:embed="rId4"/>
          <a:srcRect/>
          <a:stretch/>
        </p:blipFill>
        <p:spPr>
          <a:xfrm>
            <a:off x="6445250" y="3248620"/>
            <a:ext cx="254000" cy="254000"/>
          </a:xfrm>
          <a:prstGeom prst="rect">
            <a:avLst/>
          </a:prstGeom>
        </p:spPr>
      </p:pic>
      <p:sp>
        <p:nvSpPr>
          <p:cNvPr id="22" name="Text 12"/>
          <p:cNvSpPr/>
          <p:nvPr/>
        </p:nvSpPr>
        <p:spPr>
          <a:xfrm>
            <a:off x="6813550" y="3251200"/>
            <a:ext cx="4441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8FF"/>
                </a:solidFill>
                <a:latin typeface="Nunito Sans" pitchFamily="34" charset="0"/>
                <a:ea typeface="Nunito Sans" pitchFamily="34" charset="-122"/>
                <a:cs typeface="Nunito Sans" pitchFamily="34" charset="-120"/>
              </a:rPr>
              <a:t>Urgência: orienta pronto-socorro ou 192</a:t>
            </a:r>
            <a:endParaRPr lang="en-US" sz="1400" dirty="0"/>
          </a:p>
        </p:txBody>
      </p:sp>
      <p:sp>
        <p:nvSpPr>
          <p:cNvPr id="23" name="Text 13"/>
          <p:cNvSpPr/>
          <p:nvPr/>
        </p:nvSpPr>
        <p:spPr>
          <a:xfrm>
            <a:off x="812800" y="5379839"/>
            <a:ext cx="3437434" cy="665361"/>
          </a:xfrm>
          <a:prstGeom prst="roundRect">
            <a:avLst>
              <a:gd name="adj" fmla="val 15270"/>
            </a:avLst>
          </a:prstGeom>
          <a:solidFill>
            <a:srgbClr val="E9E2FC"/>
          </a:solidFill>
          <a:ln/>
        </p:spPr>
        <p:txBody>
          <a:bodyPr wrap="square" lIns="122642" tIns="97242" rIns="28663" bIns="71842" rtlCol="0" anchor="t">
            <a:normAutofit/>
          </a:bodyPr>
          <a:lstStyle/>
          <a:p>
            <a:pPr marL="0" indent="0" algn="l">
              <a:lnSpc>
                <a:spcPts val="1620"/>
              </a:lnSpc>
              <a:buNone/>
            </a:pPr>
            <a:r>
              <a:rPr lang="en-US" sz="1200" b="1" dirty="0">
                <a:solidFill>
                  <a:srgbClr val="3B2A8F"/>
                </a:solidFill>
                <a:latin typeface="Nunito Sans" pitchFamily="34" charset="0"/>
                <a:ea typeface="Nunito Sans" pitchFamily="34" charset="-122"/>
                <a:cs typeface="Nunito Sans" pitchFamily="34" charset="-120"/>
              </a:rPr>
              <a:t>LGPD:</a:t>
            </a:r>
            <a:r>
              <a:rPr lang="en-US" sz="1200" dirty="0">
                <a:solidFill>
                  <a:srgbClr val="3B2A8F"/>
                </a:solidFill>
                <a:latin typeface="Nunito Sans" pitchFamily="34" charset="0"/>
                <a:ea typeface="Nunito Sans" pitchFamily="34" charset="-122"/>
                <a:cs typeface="Nunito Sans" pitchFamily="34" charset="-120"/>
              </a:rPr>
              <a:t> CPF, e-mail e telefone mascarados; nenhum dado clínico em log</a:t>
            </a:r>
            <a:endParaRPr lang="en-US" sz="1200" dirty="0"/>
          </a:p>
        </p:txBody>
      </p:sp>
      <p:sp>
        <p:nvSpPr>
          <p:cNvPr id="24" name="Text 14"/>
          <p:cNvSpPr/>
          <p:nvPr/>
        </p:nvSpPr>
        <p:spPr>
          <a:xfrm>
            <a:off x="4377234" y="5379839"/>
            <a:ext cx="3437533" cy="665361"/>
          </a:xfrm>
          <a:prstGeom prst="roundRect">
            <a:avLst>
              <a:gd name="adj" fmla="val 15270"/>
            </a:avLst>
          </a:prstGeom>
          <a:solidFill>
            <a:srgbClr val="E9E2FC"/>
          </a:solidFill>
          <a:ln/>
        </p:spPr>
        <p:txBody>
          <a:bodyPr wrap="square" lIns="122642" tIns="97242" rIns="28660" bIns="71842" rtlCol="0" anchor="t">
            <a:normAutofit/>
          </a:bodyPr>
          <a:lstStyle/>
          <a:p>
            <a:pPr marL="0" indent="0" algn="l">
              <a:lnSpc>
                <a:spcPts val="1620"/>
              </a:lnSpc>
              <a:buNone/>
            </a:pPr>
            <a:r>
              <a:rPr lang="en-US" sz="1200" b="1" dirty="0">
                <a:solidFill>
                  <a:srgbClr val="3B2A8F"/>
                </a:solidFill>
                <a:latin typeface="Nunito Sans" pitchFamily="34" charset="0"/>
                <a:ea typeface="Nunito Sans" pitchFamily="34" charset="-122"/>
                <a:cs typeface="Nunito Sans" pitchFamily="34" charset="-120"/>
              </a:rPr>
              <a:t>GPS do médico:</a:t>
            </a:r>
            <a:r>
              <a:rPr lang="en-US" sz="1200" dirty="0">
                <a:solidFill>
                  <a:srgbClr val="3B2A8F"/>
                </a:solidFill>
                <a:latin typeface="Nunito Sans" pitchFamily="34" charset="0"/>
                <a:ea typeface="Nunito Sans" pitchFamily="34" charset="-122"/>
                <a:cs typeface="Nunito Sans" pitchFamily="34" charset="-120"/>
              </a:rPr>
              <a:t> só com consentimento, apagado em até 6 h</a:t>
            </a:r>
            <a:endParaRPr lang="en-US" sz="1200" dirty="0"/>
          </a:p>
        </p:txBody>
      </p:sp>
      <p:sp>
        <p:nvSpPr>
          <p:cNvPr id="25" name="Text 15"/>
          <p:cNvSpPr/>
          <p:nvPr/>
        </p:nvSpPr>
        <p:spPr>
          <a:xfrm>
            <a:off x="7941766" y="5379839"/>
            <a:ext cx="3437434" cy="665361"/>
          </a:xfrm>
          <a:prstGeom prst="roundRect">
            <a:avLst>
              <a:gd name="adj" fmla="val 15270"/>
            </a:avLst>
          </a:prstGeom>
          <a:solidFill>
            <a:srgbClr val="E9E2FC"/>
          </a:solidFill>
          <a:ln/>
        </p:spPr>
        <p:txBody>
          <a:bodyPr wrap="square" lIns="122642" tIns="97242" rIns="28663" bIns="71842" rtlCol="0" anchor="t">
            <a:normAutofit/>
          </a:bodyPr>
          <a:lstStyle/>
          <a:p>
            <a:pPr marL="0" indent="0" algn="l">
              <a:lnSpc>
                <a:spcPts val="1620"/>
              </a:lnSpc>
              <a:buNone/>
            </a:pPr>
            <a:r>
              <a:rPr lang="en-US" sz="1200" b="1" dirty="0">
                <a:solidFill>
                  <a:srgbClr val="3B2A8F"/>
                </a:solidFill>
                <a:latin typeface="Nunito Sans" pitchFamily="34" charset="0"/>
                <a:ea typeface="Nunito Sans" pitchFamily="34" charset="-122"/>
                <a:cs typeface="Nunito Sans" pitchFamily="34" charset="-120"/>
              </a:rPr>
              <a:t>Auditoria:</a:t>
            </a:r>
            <a:r>
              <a:rPr lang="en-US" sz="1200" dirty="0">
                <a:solidFill>
                  <a:srgbClr val="3B2A8F"/>
                </a:solidFill>
                <a:latin typeface="Nunito Sans" pitchFamily="34" charset="0"/>
                <a:ea typeface="Nunito Sans" pitchFamily="34" charset="-122"/>
                <a:cs typeface="Nunito Sans" pitchFamily="34" charset="-120"/>
              </a:rPr>
              <a:t> 34 regras e todo evento com correlation_id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Como provamos o valor: três contas simples, medidas desde o primeiro dia</a:t>
            </a:r>
            <a:endParaRPr lang="en-US" sz="3000" dirty="0"/>
          </a:p>
        </p:txBody>
      </p:sp>
      <p:sp>
        <p:nvSpPr>
          <p:cNvPr id="3" name="Shape 1"/>
          <p:cNvSpPr/>
          <p:nvPr/>
        </p:nvSpPr>
        <p:spPr>
          <a:xfrm>
            <a:off x="815975" y="1933575"/>
            <a:ext cx="10560050" cy="577850"/>
          </a:xfrm>
          <a:prstGeom prst="roundRect">
            <a:avLst>
              <a:gd name="adj" fmla="val 21429"/>
            </a:avLst>
          </a:prstGeom>
          <a:solidFill>
            <a:srgbClr val="FDFCFF"/>
          </a:solidFill>
          <a:ln w="6350">
            <a:solidFill>
              <a:srgbClr val="E2D9FB"/>
            </a:solidFill>
            <a:prstDash val="solid"/>
          </a:ln>
        </p:spPr>
        <p:txBody>
          <a:bodyPr/>
          <a:lstStyle/>
          <a:p>
            <a:endParaRPr lang="pt-BR"/>
          </a:p>
        </p:txBody>
      </p:sp>
      <p:sp>
        <p:nvSpPr>
          <p:cNvPr id="4" name="Text 2"/>
          <p:cNvSpPr/>
          <p:nvPr/>
        </p:nvSpPr>
        <p:spPr>
          <a:xfrm>
            <a:off x="1022350" y="2089150"/>
            <a:ext cx="248539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B2BD6"/>
                </a:solidFill>
                <a:latin typeface="Montserrat" pitchFamily="34" charset="0"/>
                <a:ea typeface="Montserrat" pitchFamily="34" charset="-122"/>
                <a:cs typeface="Montserrat" pitchFamily="34" charset="-120"/>
              </a:rPr>
              <a:t>Taxa de no-show</a:t>
            </a:r>
            <a:endParaRPr lang="en-US" sz="1500" dirty="0"/>
          </a:p>
        </p:txBody>
      </p:sp>
      <p:sp>
        <p:nvSpPr>
          <p:cNvPr id="5" name="Text 3"/>
          <p:cNvSpPr/>
          <p:nvPr/>
        </p:nvSpPr>
        <p:spPr>
          <a:xfrm>
            <a:off x="3587750" y="2089150"/>
            <a:ext cx="490537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6234F"/>
                </a:solidFill>
                <a:latin typeface="Nunito Sans" pitchFamily="34" charset="0"/>
                <a:ea typeface="Nunito Sans" pitchFamily="34" charset="-122"/>
                <a:cs typeface="Nunito Sans" pitchFamily="34" charset="-120"/>
              </a:rPr>
              <a:t>faltas ÷ agendamentos</a:t>
            </a:r>
            <a:endParaRPr lang="en-US" sz="1500" dirty="0"/>
          </a:p>
        </p:txBody>
      </p:sp>
      <p:sp>
        <p:nvSpPr>
          <p:cNvPr id="6" name="Text 4"/>
          <p:cNvSpPr/>
          <p:nvPr/>
        </p:nvSpPr>
        <p:spPr>
          <a:xfrm>
            <a:off x="8422640" y="2089150"/>
            <a:ext cx="274701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7153B"/>
                </a:solidFill>
                <a:latin typeface="Montserrat" pitchFamily="34" charset="0"/>
                <a:ea typeface="Montserrat" pitchFamily="34" charset="-122"/>
                <a:cs typeface="Montserrat" pitchFamily="34" charset="-120"/>
              </a:rPr>
              <a:t>8,7% hoje</a:t>
            </a:r>
            <a:endParaRPr lang="en-US" sz="1500" dirty="0"/>
          </a:p>
        </p:txBody>
      </p:sp>
      <p:sp>
        <p:nvSpPr>
          <p:cNvPr id="7" name="Shape 5"/>
          <p:cNvSpPr/>
          <p:nvPr/>
        </p:nvSpPr>
        <p:spPr>
          <a:xfrm>
            <a:off x="815975" y="2632075"/>
            <a:ext cx="10560050" cy="577850"/>
          </a:xfrm>
          <a:prstGeom prst="roundRect">
            <a:avLst>
              <a:gd name="adj" fmla="val 21429"/>
            </a:avLst>
          </a:prstGeom>
          <a:solidFill>
            <a:srgbClr val="FDFCFF"/>
          </a:solidFill>
          <a:ln w="6350">
            <a:solidFill>
              <a:srgbClr val="E2D9FB"/>
            </a:solidFill>
            <a:prstDash val="solid"/>
          </a:ln>
        </p:spPr>
        <p:txBody>
          <a:bodyPr/>
          <a:lstStyle/>
          <a:p>
            <a:endParaRPr lang="pt-BR"/>
          </a:p>
        </p:txBody>
      </p:sp>
      <p:sp>
        <p:nvSpPr>
          <p:cNvPr id="8" name="Text 6"/>
          <p:cNvSpPr/>
          <p:nvPr/>
        </p:nvSpPr>
        <p:spPr>
          <a:xfrm>
            <a:off x="1022350" y="2787650"/>
            <a:ext cx="248539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B2BD6"/>
                </a:solidFill>
                <a:latin typeface="Montserrat" pitchFamily="34" charset="0"/>
                <a:ea typeface="Montserrat" pitchFamily="34" charset="-122"/>
                <a:cs typeface="Montserrat" pitchFamily="34" charset="-120"/>
              </a:rPr>
              <a:t>Eficiência do encaixe</a:t>
            </a:r>
            <a:endParaRPr lang="en-US" sz="1500" dirty="0"/>
          </a:p>
        </p:txBody>
      </p:sp>
      <p:sp>
        <p:nvSpPr>
          <p:cNvPr id="9" name="Text 7"/>
          <p:cNvSpPr/>
          <p:nvPr/>
        </p:nvSpPr>
        <p:spPr>
          <a:xfrm>
            <a:off x="3587750" y="2787650"/>
            <a:ext cx="490537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6234F"/>
                </a:solidFill>
                <a:latin typeface="Nunito Sans" pitchFamily="34" charset="0"/>
                <a:ea typeface="Nunito Sans" pitchFamily="34" charset="-122"/>
                <a:cs typeface="Nunito Sans" pitchFamily="34" charset="-120"/>
              </a:rPr>
              <a:t>convites aceitos ÷ convites enviados</a:t>
            </a:r>
            <a:endParaRPr lang="en-US" sz="1500" dirty="0"/>
          </a:p>
        </p:txBody>
      </p:sp>
      <p:sp>
        <p:nvSpPr>
          <p:cNvPr id="10" name="Text 8"/>
          <p:cNvSpPr/>
          <p:nvPr/>
        </p:nvSpPr>
        <p:spPr>
          <a:xfrm>
            <a:off x="8422640" y="2787650"/>
            <a:ext cx="274701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7153B"/>
                </a:solidFill>
                <a:latin typeface="Montserrat" pitchFamily="34" charset="0"/>
                <a:ea typeface="Montserrat" pitchFamily="34" charset="-122"/>
                <a:cs typeface="Montserrat" pitchFamily="34" charset="-120"/>
              </a:rPr>
              <a:t>48%</a:t>
            </a:r>
            <a:endParaRPr lang="en-US" sz="1500" dirty="0"/>
          </a:p>
        </p:txBody>
      </p:sp>
      <p:sp>
        <p:nvSpPr>
          <p:cNvPr id="11" name="Shape 9"/>
          <p:cNvSpPr/>
          <p:nvPr/>
        </p:nvSpPr>
        <p:spPr>
          <a:xfrm>
            <a:off x="812800" y="3327400"/>
            <a:ext cx="10566400" cy="571500"/>
          </a:xfrm>
          <a:prstGeom prst="roundRect">
            <a:avLst>
              <a:gd name="adj" fmla="val 22222"/>
            </a:avLst>
          </a:prstGeom>
          <a:solidFill>
            <a:srgbClr val="6D3AE8"/>
          </a:solidFill>
          <a:ln/>
        </p:spPr>
        <p:txBody>
          <a:bodyPr/>
          <a:lstStyle/>
          <a:p>
            <a:endParaRPr lang="pt-BR"/>
          </a:p>
        </p:txBody>
      </p:sp>
      <p:sp>
        <p:nvSpPr>
          <p:cNvPr id="12" name="Text 10"/>
          <p:cNvSpPr/>
          <p:nvPr/>
        </p:nvSpPr>
        <p:spPr>
          <a:xfrm>
            <a:off x="1016000" y="3479800"/>
            <a:ext cx="248539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AFF"/>
                </a:solidFill>
                <a:latin typeface="Montserrat" pitchFamily="34" charset="0"/>
                <a:ea typeface="Montserrat" pitchFamily="34" charset="-122"/>
                <a:cs typeface="Montserrat" pitchFamily="34" charset="-120"/>
              </a:rPr>
              <a:t>Receita preservada</a:t>
            </a:r>
            <a:endParaRPr lang="en-US" sz="1500" dirty="0"/>
          </a:p>
        </p:txBody>
      </p:sp>
      <p:sp>
        <p:nvSpPr>
          <p:cNvPr id="13" name="Text 11"/>
          <p:cNvSpPr/>
          <p:nvPr/>
        </p:nvSpPr>
        <p:spPr>
          <a:xfrm>
            <a:off x="3581400" y="3479800"/>
            <a:ext cx="491845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DE8FF"/>
                </a:solidFill>
                <a:latin typeface="Nunito Sans" pitchFamily="34" charset="0"/>
                <a:ea typeface="Nunito Sans" pitchFamily="34" charset="-122"/>
                <a:cs typeface="Nunito Sans" pitchFamily="34" charset="-120"/>
              </a:rPr>
              <a:t>vagas reaproveitadas × ticket médio</a:t>
            </a:r>
            <a:endParaRPr lang="en-US" sz="1500" dirty="0"/>
          </a:p>
        </p:txBody>
      </p:sp>
      <p:sp>
        <p:nvSpPr>
          <p:cNvPr id="14" name="Text 12"/>
          <p:cNvSpPr/>
          <p:nvPr/>
        </p:nvSpPr>
        <p:spPr>
          <a:xfrm>
            <a:off x="8428990" y="3479800"/>
            <a:ext cx="274701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FBFAFF"/>
                </a:solidFill>
                <a:latin typeface="Montserrat" pitchFamily="34" charset="0"/>
                <a:ea typeface="Montserrat" pitchFamily="34" charset="-122"/>
                <a:cs typeface="Montserrat" pitchFamily="34" charset="-120"/>
              </a:rPr>
              <a:t>vale para cada encaixe</a:t>
            </a:r>
            <a:endParaRPr lang="en-US" sz="1500" dirty="0"/>
          </a:p>
        </p:txBody>
      </p:sp>
      <p:sp>
        <p:nvSpPr>
          <p:cNvPr id="15" name="Text 13"/>
          <p:cNvSpPr/>
          <p:nvPr/>
        </p:nvSpPr>
        <p:spPr>
          <a:xfrm>
            <a:off x="812800" y="4178300"/>
            <a:ext cx="5350129"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AE8"/>
                </a:solidFill>
                <a:latin typeface="Montserrat" pitchFamily="34" charset="0"/>
                <a:ea typeface="Montserrat" pitchFamily="34" charset="-122"/>
                <a:cs typeface="Montserrat" pitchFamily="34" charset="-120"/>
              </a:rPr>
              <a:t>R$ 147 mil</a:t>
            </a:r>
            <a:endParaRPr lang="en-US" sz="3600" dirty="0"/>
          </a:p>
        </p:txBody>
      </p:sp>
      <p:sp>
        <p:nvSpPr>
          <p:cNvPr id="16" name="Text 14"/>
          <p:cNvSpPr/>
          <p:nvPr/>
        </p:nvSpPr>
        <p:spPr>
          <a:xfrm>
            <a:off x="812800" y="4673600"/>
            <a:ext cx="535012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por ano com os 589 encaixes realizados</a:t>
            </a:r>
            <a:endParaRPr lang="en-US" sz="1300" dirty="0"/>
          </a:p>
        </p:txBody>
      </p:sp>
      <p:sp>
        <p:nvSpPr>
          <p:cNvPr id="17" name="Text 15"/>
          <p:cNvSpPr/>
          <p:nvPr/>
        </p:nvSpPr>
        <p:spPr>
          <a:xfrm>
            <a:off x="6184900" y="4178300"/>
            <a:ext cx="5350129"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AE8"/>
                </a:solidFill>
                <a:latin typeface="Montserrat" pitchFamily="34" charset="0"/>
                <a:ea typeface="Montserrat" pitchFamily="34" charset="-122"/>
                <a:cs typeface="Montserrat" pitchFamily="34" charset="-120"/>
              </a:rPr>
              <a:t>R$ 700 mil</a:t>
            </a:r>
            <a:endParaRPr lang="en-US" sz="3600" dirty="0"/>
          </a:p>
        </p:txBody>
      </p:sp>
      <p:sp>
        <p:nvSpPr>
          <p:cNvPr id="18" name="Text 16"/>
          <p:cNvSpPr/>
          <p:nvPr/>
        </p:nvSpPr>
        <p:spPr>
          <a:xfrm>
            <a:off x="6184900" y="4673600"/>
            <a:ext cx="535012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870"/>
                </a:solidFill>
                <a:latin typeface="Nunito Sans" pitchFamily="34" charset="0"/>
                <a:ea typeface="Nunito Sans" pitchFamily="34" charset="-122"/>
                <a:cs typeface="Nunito Sans" pitchFamily="34" charset="-120"/>
              </a:rPr>
              <a:t>por ano se as 2,8 mil faltas forem evitadas</a:t>
            </a:r>
            <a:endParaRPr lang="en-US" sz="13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Ticket médio ilustrativo de R$ 250 por consulta; trocar pelo valor real do hospital parceiro. Base: 200 mil agendamentos, set/2025–ago/2026.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Fora da DaisyCare, lembrete ativo derrubou as faltas em todos os casos</a:t>
            </a:r>
            <a:endParaRPr lang="en-US" sz="3000" dirty="0"/>
          </a:p>
        </p:txBody>
      </p:sp>
      <p:sp>
        <p:nvSpPr>
          <p:cNvPr id="3" name="Text 1"/>
          <p:cNvSpPr/>
          <p:nvPr/>
        </p:nvSpPr>
        <p:spPr>
          <a:xfrm>
            <a:off x="812800" y="17145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870"/>
                </a:solidFill>
                <a:latin typeface="Nunito Sans" pitchFamily="34" charset="0"/>
                <a:ea typeface="Nunito Sans" pitchFamily="34" charset="-122"/>
                <a:cs typeface="Nunito Sans" pitchFamily="34" charset="-120"/>
              </a:rPr>
              <a:t>Taxa de faltas antes e depois; a DaisyCare soma a isso o encaixe, a cobertura e a fila digital</a:t>
            </a:r>
            <a:endParaRPr lang="en-US" sz="1400" dirty="0"/>
          </a:p>
        </p:txBody>
      </p:sp>
      <p:sp>
        <p:nvSpPr>
          <p:cNvPr id="4" name="Text 2"/>
          <p:cNvSpPr/>
          <p:nvPr/>
        </p:nvSpPr>
        <p:spPr>
          <a:xfrm>
            <a:off x="812800" y="2297311"/>
            <a:ext cx="34010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Hospitais estaduais do Ceará</a:t>
            </a:r>
            <a:endParaRPr lang="en-US" sz="1500" dirty="0"/>
          </a:p>
        </p:txBody>
      </p:sp>
      <p:sp>
        <p:nvSpPr>
          <p:cNvPr id="5" name="Text 3"/>
          <p:cNvSpPr/>
          <p:nvPr/>
        </p:nvSpPr>
        <p:spPr>
          <a:xfrm>
            <a:off x="812800" y="2538611"/>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WhatsApp · 2024 → mar–ago/2025</a:t>
            </a:r>
            <a:endParaRPr lang="en-US" sz="1200" dirty="0"/>
          </a:p>
        </p:txBody>
      </p:sp>
      <p:sp>
        <p:nvSpPr>
          <p:cNvPr id="6" name="Shape 4"/>
          <p:cNvSpPr/>
          <p:nvPr/>
        </p:nvSpPr>
        <p:spPr>
          <a:xfrm>
            <a:off x="4318000" y="2288381"/>
            <a:ext cx="4508500" cy="190500"/>
          </a:xfrm>
          <a:prstGeom prst="roundRect">
            <a:avLst>
              <a:gd name="adj" fmla="val 26667"/>
            </a:avLst>
          </a:prstGeom>
          <a:solidFill>
            <a:srgbClr val="D9D1F2"/>
          </a:solidFill>
          <a:ln/>
        </p:spPr>
        <p:txBody>
          <a:bodyPr/>
          <a:lstStyle/>
          <a:p>
            <a:endParaRPr lang="pt-BR"/>
          </a:p>
        </p:txBody>
      </p:sp>
      <p:sp>
        <p:nvSpPr>
          <p:cNvPr id="7" name="Text 5"/>
          <p:cNvSpPr/>
          <p:nvPr/>
        </p:nvSpPr>
        <p:spPr>
          <a:xfrm>
            <a:off x="8928100" y="2268141"/>
            <a:ext cx="11430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35,5% antes</a:t>
            </a:r>
            <a:endParaRPr lang="en-US" sz="1300" dirty="0"/>
          </a:p>
        </p:txBody>
      </p:sp>
      <p:sp>
        <p:nvSpPr>
          <p:cNvPr id="8" name="Shape 6"/>
          <p:cNvSpPr/>
          <p:nvPr/>
        </p:nvSpPr>
        <p:spPr>
          <a:xfrm>
            <a:off x="4318000" y="2570262"/>
            <a:ext cx="2946400" cy="190500"/>
          </a:xfrm>
          <a:prstGeom prst="roundRect">
            <a:avLst>
              <a:gd name="adj" fmla="val 26667"/>
            </a:avLst>
          </a:prstGeom>
          <a:solidFill>
            <a:srgbClr val="6D3AE8"/>
          </a:solidFill>
          <a:ln/>
        </p:spPr>
        <p:txBody>
          <a:bodyPr/>
          <a:lstStyle/>
          <a:p>
            <a:endParaRPr lang="pt-BR"/>
          </a:p>
        </p:txBody>
      </p:sp>
      <p:sp>
        <p:nvSpPr>
          <p:cNvPr id="9" name="Text 7"/>
          <p:cNvSpPr/>
          <p:nvPr/>
        </p:nvSpPr>
        <p:spPr>
          <a:xfrm>
            <a:off x="7366000" y="2550021"/>
            <a:ext cx="19812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153B"/>
                </a:solidFill>
                <a:latin typeface="Nunito Sans" pitchFamily="34" charset="0"/>
                <a:ea typeface="Nunito Sans" pitchFamily="34" charset="-122"/>
                <a:cs typeface="Nunito Sans" pitchFamily="34" charset="-120"/>
              </a:rPr>
              <a:t>23,2% depois · −35%</a:t>
            </a:r>
            <a:endParaRPr lang="en-US" sz="1300" dirty="0"/>
          </a:p>
        </p:txBody>
      </p:sp>
      <p:sp>
        <p:nvSpPr>
          <p:cNvPr id="10" name="Text 8"/>
          <p:cNvSpPr/>
          <p:nvPr/>
        </p:nvSpPr>
        <p:spPr>
          <a:xfrm>
            <a:off x="812800" y="3000772"/>
            <a:ext cx="34010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Rede estadual do RJ</a:t>
            </a:r>
            <a:endParaRPr lang="en-US" sz="1500" dirty="0"/>
          </a:p>
        </p:txBody>
      </p:sp>
      <p:sp>
        <p:nvSpPr>
          <p:cNvPr id="11" name="Text 9"/>
          <p:cNvSpPr/>
          <p:nvPr/>
        </p:nvSpPr>
        <p:spPr>
          <a:xfrm>
            <a:off x="812800" y="3242072"/>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assistente virtual Serena · 2025 → 2026</a:t>
            </a:r>
            <a:endParaRPr lang="en-US" sz="1200" dirty="0"/>
          </a:p>
        </p:txBody>
      </p:sp>
      <p:sp>
        <p:nvSpPr>
          <p:cNvPr id="12" name="Shape 10"/>
          <p:cNvSpPr/>
          <p:nvPr/>
        </p:nvSpPr>
        <p:spPr>
          <a:xfrm>
            <a:off x="4318000" y="2991842"/>
            <a:ext cx="5461000" cy="190500"/>
          </a:xfrm>
          <a:prstGeom prst="roundRect">
            <a:avLst>
              <a:gd name="adj" fmla="val 26667"/>
            </a:avLst>
          </a:prstGeom>
          <a:solidFill>
            <a:srgbClr val="D9D1F2"/>
          </a:solidFill>
          <a:ln/>
        </p:spPr>
        <p:txBody>
          <a:bodyPr/>
          <a:lstStyle/>
          <a:p>
            <a:endParaRPr lang="pt-BR"/>
          </a:p>
        </p:txBody>
      </p:sp>
      <p:sp>
        <p:nvSpPr>
          <p:cNvPr id="13" name="Text 11"/>
          <p:cNvSpPr/>
          <p:nvPr/>
        </p:nvSpPr>
        <p:spPr>
          <a:xfrm>
            <a:off x="9880600" y="2971602"/>
            <a:ext cx="9753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43% antes</a:t>
            </a:r>
            <a:endParaRPr lang="en-US" sz="1300" dirty="0"/>
          </a:p>
        </p:txBody>
      </p:sp>
      <p:sp>
        <p:nvSpPr>
          <p:cNvPr id="14" name="Shape 12"/>
          <p:cNvSpPr/>
          <p:nvPr/>
        </p:nvSpPr>
        <p:spPr>
          <a:xfrm>
            <a:off x="4318000" y="3273723"/>
            <a:ext cx="4064000" cy="190500"/>
          </a:xfrm>
          <a:prstGeom prst="roundRect">
            <a:avLst>
              <a:gd name="adj" fmla="val 26667"/>
            </a:avLst>
          </a:prstGeom>
          <a:solidFill>
            <a:srgbClr val="6D3AE8"/>
          </a:solidFill>
          <a:ln/>
        </p:spPr>
        <p:txBody>
          <a:bodyPr/>
          <a:lstStyle/>
          <a:p>
            <a:endParaRPr lang="pt-BR"/>
          </a:p>
        </p:txBody>
      </p:sp>
      <p:sp>
        <p:nvSpPr>
          <p:cNvPr id="15" name="Text 13"/>
          <p:cNvSpPr/>
          <p:nvPr/>
        </p:nvSpPr>
        <p:spPr>
          <a:xfrm>
            <a:off x="8483600" y="3253482"/>
            <a:ext cx="181356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153B"/>
                </a:solidFill>
                <a:latin typeface="Nunito Sans" pitchFamily="34" charset="0"/>
                <a:ea typeface="Nunito Sans" pitchFamily="34" charset="-122"/>
                <a:cs typeface="Nunito Sans" pitchFamily="34" charset="-120"/>
              </a:rPr>
              <a:t>32% depois · −26%</a:t>
            </a:r>
            <a:endParaRPr lang="en-US" sz="1300" dirty="0"/>
          </a:p>
        </p:txBody>
      </p:sp>
      <p:sp>
        <p:nvSpPr>
          <p:cNvPr id="16" name="Text 14"/>
          <p:cNvSpPr/>
          <p:nvPr/>
        </p:nvSpPr>
        <p:spPr>
          <a:xfrm>
            <a:off x="812800" y="3704233"/>
            <a:ext cx="34010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153B"/>
                </a:solidFill>
                <a:latin typeface="Montserrat" pitchFamily="34" charset="0"/>
                <a:ea typeface="Montserrat" pitchFamily="34" charset="-122"/>
                <a:cs typeface="Montserrat" pitchFamily="34" charset="-120"/>
              </a:rPr>
              <a:t>Barts Health NHS, Londres</a:t>
            </a:r>
            <a:endParaRPr lang="en-US" sz="1500" dirty="0"/>
          </a:p>
        </p:txBody>
      </p:sp>
      <p:sp>
        <p:nvSpPr>
          <p:cNvPr id="17" name="Text 15"/>
          <p:cNvSpPr/>
          <p:nvPr/>
        </p:nvSpPr>
        <p:spPr>
          <a:xfrm>
            <a:off x="812800" y="3945533"/>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ensaio com cerca de 20 mil pacientes</a:t>
            </a:r>
            <a:endParaRPr lang="en-US" sz="1200" dirty="0"/>
          </a:p>
        </p:txBody>
      </p:sp>
      <p:sp>
        <p:nvSpPr>
          <p:cNvPr id="18" name="Shape 16"/>
          <p:cNvSpPr/>
          <p:nvPr/>
        </p:nvSpPr>
        <p:spPr>
          <a:xfrm>
            <a:off x="4318000" y="3695303"/>
            <a:ext cx="1409700" cy="190500"/>
          </a:xfrm>
          <a:prstGeom prst="roundRect">
            <a:avLst>
              <a:gd name="adj" fmla="val 26667"/>
            </a:avLst>
          </a:prstGeom>
          <a:solidFill>
            <a:srgbClr val="D9D1F2"/>
          </a:solidFill>
          <a:ln/>
        </p:spPr>
        <p:txBody>
          <a:bodyPr/>
          <a:lstStyle/>
          <a:p>
            <a:endParaRPr lang="pt-BR"/>
          </a:p>
        </p:txBody>
      </p:sp>
      <p:sp>
        <p:nvSpPr>
          <p:cNvPr id="19" name="Text 17"/>
          <p:cNvSpPr/>
          <p:nvPr/>
        </p:nvSpPr>
        <p:spPr>
          <a:xfrm>
            <a:off x="5829300" y="3675063"/>
            <a:ext cx="11430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11,1% antes</a:t>
            </a:r>
            <a:endParaRPr lang="en-US" sz="1300" dirty="0"/>
          </a:p>
        </p:txBody>
      </p:sp>
      <p:sp>
        <p:nvSpPr>
          <p:cNvPr id="20" name="Shape 18"/>
          <p:cNvSpPr/>
          <p:nvPr/>
        </p:nvSpPr>
        <p:spPr>
          <a:xfrm>
            <a:off x="4318000" y="3977184"/>
            <a:ext cx="1066800" cy="190500"/>
          </a:xfrm>
          <a:prstGeom prst="roundRect">
            <a:avLst>
              <a:gd name="adj" fmla="val 26667"/>
            </a:avLst>
          </a:prstGeom>
          <a:solidFill>
            <a:srgbClr val="6D3AE8"/>
          </a:solidFill>
          <a:ln/>
        </p:spPr>
        <p:txBody>
          <a:bodyPr/>
          <a:lstStyle/>
          <a:p>
            <a:endParaRPr lang="pt-BR"/>
          </a:p>
        </p:txBody>
      </p:sp>
      <p:sp>
        <p:nvSpPr>
          <p:cNvPr id="21" name="Text 19"/>
          <p:cNvSpPr/>
          <p:nvPr/>
        </p:nvSpPr>
        <p:spPr>
          <a:xfrm>
            <a:off x="5486400" y="3956943"/>
            <a:ext cx="18592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153B"/>
                </a:solidFill>
                <a:latin typeface="Nunito Sans" pitchFamily="34" charset="0"/>
                <a:ea typeface="Nunito Sans" pitchFamily="34" charset="-122"/>
                <a:cs typeface="Nunito Sans" pitchFamily="34" charset="-120"/>
              </a:rPr>
              <a:t>8,4% depois · −24%</a:t>
            </a:r>
            <a:endParaRPr lang="en-US" sz="1300" dirty="0"/>
          </a:p>
        </p:txBody>
      </p:sp>
      <p:sp>
        <p:nvSpPr>
          <p:cNvPr id="22" name="Text 20"/>
          <p:cNvSpPr/>
          <p:nvPr/>
        </p:nvSpPr>
        <p:spPr>
          <a:xfrm>
            <a:off x="812800" y="4492823"/>
            <a:ext cx="10566400" cy="485080"/>
          </a:xfrm>
          <a:prstGeom prst="roundRect">
            <a:avLst>
              <a:gd name="adj" fmla="val 20945"/>
            </a:avLst>
          </a:prstGeom>
          <a:solidFill>
            <a:srgbClr val="E9E2FC"/>
          </a:solidFill>
          <a:ln/>
        </p:spPr>
        <p:txBody>
          <a:bodyPr wrap="square" lIns="122642" tIns="97242" rIns="0" bIns="71842" rtlCol="0" anchor="t">
            <a:normAutofit/>
          </a:bodyPr>
          <a:lstStyle/>
          <a:p>
            <a:pPr marL="0" indent="0" algn="l">
              <a:lnSpc>
                <a:spcPts val="1820"/>
              </a:lnSpc>
              <a:buNone/>
            </a:pPr>
            <a:r>
              <a:rPr lang="en-US" sz="1300" dirty="0">
                <a:solidFill>
                  <a:srgbClr val="3B2A8F"/>
                </a:solidFill>
                <a:latin typeface="Nunito Sans" pitchFamily="34" charset="0"/>
                <a:ea typeface="Nunito Sans" pitchFamily="34" charset="-122"/>
                <a:cs typeface="Nunito Sans" pitchFamily="34" charset="-120"/>
              </a:rPr>
              <a:t>Revisão Cochrane, 8 ensaios e 6.615 pessoas: comparecimento de 78,6% com mensagem no celular, contra 67,8% sem lembrete.</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890"/>
                </a:solidFill>
                <a:latin typeface="Nunito Sans" pitchFamily="34" charset="0"/>
                <a:ea typeface="Nunito Sans" pitchFamily="34" charset="-122"/>
                <a:cs typeface="Nunito Sans" pitchFamily="34" charset="-120"/>
              </a:rPr>
              <a:t>Fontes: O Povo com dados da Sesa-CE (dez/2025); Correio da Manhã (jun/2026); Behavioural Insights Team/GOV.UK; Cochrane CD007458.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FE"/>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190500"/>
          </a:xfrm>
          <a:prstGeom prst="rect">
            <a:avLst/>
          </a:prstGeom>
          <a:noFill/>
        </p:spPr>
        <p:txBody>
          <a:bodyPr wrap="square" lIns="0" tIns="0" rIns="0" bIns="0" anchor="t">
            <a:spAutoFit/>
          </a:bodyPr>
          <a:lstStyle/>
          <a:p>
            <a:pPr algn="l">
              <a:lnSpc>
                <a:spcPct val="120000"/>
              </a:lnSpc>
            </a:pPr>
            <a:r>
              <a:rPr sz="1200" b="1" i="0">
                <a:solidFill>
                  <a:srgbClr val="5B2BD6"/>
                </a:solidFill>
                <a:latin typeface="Montserrat"/>
              </a:rPr>
              <a:t>INDICADORES DE MERCADO</a:t>
            </a:r>
          </a:p>
        </p:txBody>
      </p:sp>
      <p:sp>
        <p:nvSpPr>
          <p:cNvPr id="3" name="TextBox 2"/>
          <p:cNvSpPr txBox="1"/>
          <p:nvPr/>
        </p:nvSpPr>
        <p:spPr>
          <a:xfrm>
            <a:off x="812800" y="1092200"/>
            <a:ext cx="10566400" cy="889000"/>
          </a:xfrm>
          <a:prstGeom prst="rect">
            <a:avLst/>
          </a:prstGeom>
          <a:noFill/>
        </p:spPr>
        <p:txBody>
          <a:bodyPr wrap="square" lIns="0" tIns="0" rIns="0" bIns="0" anchor="t">
            <a:spAutoFit/>
          </a:bodyPr>
          <a:lstStyle/>
          <a:p>
            <a:pPr algn="l">
              <a:lnSpc>
                <a:spcPct val="105000"/>
              </a:lnSpc>
            </a:pPr>
            <a:r>
              <a:rPr sz="3000" b="1" i="0">
                <a:solidFill>
                  <a:srgbClr val="17153B"/>
                </a:solidFill>
                <a:latin typeface="Montserrat"/>
              </a:rPr>
              <a:t>Três países, redes públicas e revisões científicas mostram a mesma alavanca</a:t>
            </a:r>
          </a:p>
        </p:txBody>
      </p:sp>
      <p:sp>
        <p:nvSpPr>
          <p:cNvPr id="4" name="TextBox 3"/>
          <p:cNvSpPr txBox="1"/>
          <p:nvPr/>
        </p:nvSpPr>
        <p:spPr>
          <a:xfrm>
            <a:off x="812800" y="2095500"/>
            <a:ext cx="10566400" cy="317500"/>
          </a:xfrm>
          <a:prstGeom prst="rect">
            <a:avLst/>
          </a:prstGeom>
          <a:noFill/>
        </p:spPr>
        <p:txBody>
          <a:bodyPr wrap="square" lIns="0" tIns="0" rIns="0" bIns="0" anchor="t">
            <a:spAutoFit/>
          </a:bodyPr>
          <a:lstStyle/>
          <a:p>
            <a:pPr algn="l">
              <a:lnSpc>
                <a:spcPct val="120000"/>
              </a:lnSpc>
            </a:pPr>
            <a:r>
              <a:rPr sz="1600" b="0" i="1">
                <a:solidFill>
                  <a:srgbClr val="5B2BD6"/>
                </a:solidFill>
                <a:latin typeface="Nunito Sans"/>
              </a:rPr>
              <a:t>comunicação digital + agenda viva + decisão automatizada</a:t>
            </a:r>
          </a:p>
        </p:txBody>
      </p:sp>
      <p:sp>
        <p:nvSpPr>
          <p:cNvPr id="5" name="Rounded Rectangle 4"/>
          <p:cNvSpPr/>
          <p:nvPr/>
        </p:nvSpPr>
        <p:spPr>
          <a:xfrm>
            <a:off x="812800" y="2730500"/>
            <a:ext cx="2527300" cy="2667000"/>
          </a:xfrm>
          <a:prstGeom prst="roundRect">
            <a:avLst>
              <a:gd name="adj" fmla="val 6030"/>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904240" y="2730500"/>
            <a:ext cx="2344420" cy="38100"/>
          </a:xfrm>
          <a:prstGeom prst="rect">
            <a:avLst/>
          </a:prstGeom>
          <a:solidFill>
            <a:srgbClr val="6D3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6000" y="2984500"/>
            <a:ext cx="2120900" cy="444500"/>
          </a:xfrm>
          <a:prstGeom prst="rect">
            <a:avLst/>
          </a:prstGeom>
          <a:noFill/>
        </p:spPr>
        <p:txBody>
          <a:bodyPr wrap="square" lIns="0" tIns="0" rIns="0" bIns="0" anchor="t">
            <a:spAutoFit/>
          </a:bodyPr>
          <a:lstStyle/>
          <a:p>
            <a:pPr algn="l">
              <a:lnSpc>
                <a:spcPct val="120000"/>
              </a:lnSpc>
            </a:pPr>
            <a:r>
              <a:rPr sz="2200" b="1" i="0">
                <a:solidFill>
                  <a:srgbClr val="6D3AE8"/>
                </a:solidFill>
                <a:latin typeface="Montserrat"/>
              </a:rPr>
              <a:t>23%</a:t>
            </a:r>
          </a:p>
        </p:txBody>
      </p:sp>
      <p:sp>
        <p:nvSpPr>
          <p:cNvPr id="8" name="TextBox 7"/>
          <p:cNvSpPr txBox="1"/>
          <p:nvPr/>
        </p:nvSpPr>
        <p:spPr>
          <a:xfrm>
            <a:off x="1016000" y="3556000"/>
            <a:ext cx="2120900" cy="952500"/>
          </a:xfrm>
          <a:prstGeom prst="rect">
            <a:avLst/>
          </a:prstGeom>
          <a:noFill/>
        </p:spPr>
        <p:txBody>
          <a:bodyPr wrap="square" lIns="0" tIns="0" rIns="0" bIns="0" anchor="t">
            <a:spAutoFit/>
          </a:bodyPr>
          <a:lstStyle/>
          <a:p>
            <a:pPr algn="l">
              <a:lnSpc>
                <a:spcPct val="130000"/>
              </a:lnSpc>
            </a:pPr>
            <a:r>
              <a:rPr sz="1400" b="0" i="0">
                <a:solidFill>
                  <a:srgbClr val="26234F"/>
                </a:solidFill>
                <a:latin typeface="Nunito Sans"/>
              </a:rPr>
              <a:t>no-show médio no mundo</a:t>
            </a:r>
          </a:p>
        </p:txBody>
      </p:sp>
      <p:sp>
        <p:nvSpPr>
          <p:cNvPr id="9" name="TextBox 8"/>
          <p:cNvSpPr txBox="1"/>
          <p:nvPr/>
        </p:nvSpPr>
        <p:spPr>
          <a:xfrm>
            <a:off x="1016000" y="4699000"/>
            <a:ext cx="2120900" cy="508000"/>
          </a:xfrm>
          <a:prstGeom prst="rect">
            <a:avLst/>
          </a:prstGeom>
          <a:noFill/>
        </p:spPr>
        <p:txBody>
          <a:bodyPr wrap="square" lIns="0" tIns="0" rIns="0" bIns="0" anchor="b">
            <a:spAutoFit/>
          </a:bodyPr>
          <a:lstStyle/>
          <a:p>
            <a:pPr algn="l">
              <a:lnSpc>
                <a:spcPct val="130000"/>
              </a:lnSpc>
            </a:pPr>
            <a:r>
              <a:rPr sz="1200" b="0" i="0">
                <a:solidFill>
                  <a:srgbClr val="6B6890"/>
                </a:solidFill>
                <a:latin typeface="Nunito Sans"/>
              </a:rPr>
              <a:t>Revisão de 105 estudos · Dantas et al., 2018</a:t>
            </a:r>
          </a:p>
        </p:txBody>
      </p:sp>
      <p:sp>
        <p:nvSpPr>
          <p:cNvPr id="10" name="Rounded Rectangle 9"/>
          <p:cNvSpPr/>
          <p:nvPr/>
        </p:nvSpPr>
        <p:spPr>
          <a:xfrm>
            <a:off x="3492500" y="2730500"/>
            <a:ext cx="2527300" cy="2667000"/>
          </a:xfrm>
          <a:prstGeom prst="roundRect">
            <a:avLst>
              <a:gd name="adj" fmla="val 6030"/>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3583940" y="2730500"/>
            <a:ext cx="2344420" cy="38100"/>
          </a:xfrm>
          <a:prstGeom prst="rect">
            <a:avLst/>
          </a:prstGeom>
          <a:solidFill>
            <a:srgbClr val="6D3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95700" y="2984500"/>
            <a:ext cx="2120900" cy="444500"/>
          </a:xfrm>
          <a:prstGeom prst="rect">
            <a:avLst/>
          </a:prstGeom>
          <a:noFill/>
        </p:spPr>
        <p:txBody>
          <a:bodyPr wrap="square" lIns="0" tIns="0" rIns="0" bIns="0" anchor="t">
            <a:spAutoFit/>
          </a:bodyPr>
          <a:lstStyle/>
          <a:p>
            <a:pPr algn="l">
              <a:lnSpc>
                <a:spcPct val="120000"/>
              </a:lnSpc>
            </a:pPr>
            <a:r>
              <a:rPr sz="2200" b="1" i="0">
                <a:solidFill>
                  <a:srgbClr val="6D3AE8"/>
                </a:solidFill>
                <a:latin typeface="Montserrat"/>
              </a:rPr>
              <a:t>+14%</a:t>
            </a:r>
          </a:p>
        </p:txBody>
      </p:sp>
      <p:sp>
        <p:nvSpPr>
          <p:cNvPr id="13" name="TextBox 12"/>
          <p:cNvSpPr txBox="1"/>
          <p:nvPr/>
        </p:nvSpPr>
        <p:spPr>
          <a:xfrm>
            <a:off x="3695700" y="3556000"/>
            <a:ext cx="2120900" cy="952500"/>
          </a:xfrm>
          <a:prstGeom prst="rect">
            <a:avLst/>
          </a:prstGeom>
          <a:noFill/>
        </p:spPr>
        <p:txBody>
          <a:bodyPr wrap="square" lIns="0" tIns="0" rIns="0" bIns="0" anchor="t">
            <a:spAutoFit/>
          </a:bodyPr>
          <a:lstStyle/>
          <a:p>
            <a:pPr algn="l">
              <a:lnSpc>
                <a:spcPct val="130000"/>
              </a:lnSpc>
            </a:pPr>
            <a:r>
              <a:rPr sz="1400" b="0" i="0">
                <a:solidFill>
                  <a:srgbClr val="26234F"/>
                </a:solidFill>
                <a:latin typeface="Nunito Sans"/>
              </a:rPr>
              <a:t>mais chance de comparecer com mensagem no celular</a:t>
            </a:r>
          </a:p>
        </p:txBody>
      </p:sp>
      <p:sp>
        <p:nvSpPr>
          <p:cNvPr id="14" name="TextBox 13"/>
          <p:cNvSpPr txBox="1"/>
          <p:nvPr/>
        </p:nvSpPr>
        <p:spPr>
          <a:xfrm>
            <a:off x="3695700" y="4699000"/>
            <a:ext cx="2120900" cy="508000"/>
          </a:xfrm>
          <a:prstGeom prst="rect">
            <a:avLst/>
          </a:prstGeom>
          <a:noFill/>
        </p:spPr>
        <p:txBody>
          <a:bodyPr wrap="square" lIns="0" tIns="0" rIns="0" bIns="0" anchor="b">
            <a:spAutoFit/>
          </a:bodyPr>
          <a:lstStyle/>
          <a:p>
            <a:pPr algn="l">
              <a:lnSpc>
                <a:spcPct val="130000"/>
              </a:lnSpc>
            </a:pPr>
            <a:r>
              <a:rPr sz="1200" b="0" i="0">
                <a:solidFill>
                  <a:srgbClr val="6B6890"/>
                </a:solidFill>
                <a:latin typeface="Nunito Sans"/>
              </a:rPr>
              <a:t>Cochrane · 8 ensaios, 6.615 pessoas</a:t>
            </a:r>
          </a:p>
        </p:txBody>
      </p:sp>
      <p:sp>
        <p:nvSpPr>
          <p:cNvPr id="15" name="Rounded Rectangle 14"/>
          <p:cNvSpPr/>
          <p:nvPr/>
        </p:nvSpPr>
        <p:spPr>
          <a:xfrm>
            <a:off x="6172200" y="2730500"/>
            <a:ext cx="2527300" cy="2667000"/>
          </a:xfrm>
          <a:prstGeom prst="roundRect">
            <a:avLst>
              <a:gd name="adj" fmla="val 6030"/>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263640" y="2730500"/>
            <a:ext cx="2344420" cy="38100"/>
          </a:xfrm>
          <a:prstGeom prst="rect">
            <a:avLst/>
          </a:prstGeom>
          <a:solidFill>
            <a:srgbClr val="6D3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5400" y="2984500"/>
            <a:ext cx="2120900" cy="444500"/>
          </a:xfrm>
          <a:prstGeom prst="rect">
            <a:avLst/>
          </a:prstGeom>
          <a:noFill/>
        </p:spPr>
        <p:txBody>
          <a:bodyPr wrap="square" lIns="0" tIns="0" rIns="0" bIns="0" anchor="t">
            <a:spAutoFit/>
          </a:bodyPr>
          <a:lstStyle/>
          <a:p>
            <a:pPr algn="l">
              <a:lnSpc>
                <a:spcPct val="120000"/>
              </a:lnSpc>
            </a:pPr>
            <a:r>
              <a:rPr sz="2200" b="1" i="0">
                <a:solidFill>
                  <a:srgbClr val="6D3AE8"/>
                </a:solidFill>
                <a:latin typeface="Montserrat"/>
              </a:rPr>
              <a:t>−17% a −28%</a:t>
            </a:r>
          </a:p>
        </p:txBody>
      </p:sp>
      <p:sp>
        <p:nvSpPr>
          <p:cNvPr id="18" name="TextBox 17"/>
          <p:cNvSpPr txBox="1"/>
          <p:nvPr/>
        </p:nvSpPr>
        <p:spPr>
          <a:xfrm>
            <a:off x="6375400" y="3556000"/>
            <a:ext cx="2120900" cy="952500"/>
          </a:xfrm>
          <a:prstGeom prst="rect">
            <a:avLst/>
          </a:prstGeom>
          <a:noFill/>
        </p:spPr>
        <p:txBody>
          <a:bodyPr wrap="square" lIns="0" tIns="0" rIns="0" bIns="0" anchor="t">
            <a:spAutoFit/>
          </a:bodyPr>
          <a:lstStyle/>
          <a:p>
            <a:pPr algn="l">
              <a:lnSpc>
                <a:spcPct val="130000"/>
              </a:lnSpc>
            </a:pPr>
            <a:r>
              <a:rPr sz="1400" b="0" i="0">
                <a:solidFill>
                  <a:srgbClr val="26234F"/>
                </a:solidFill>
                <a:latin typeface="Nunito Sans"/>
              </a:rPr>
              <a:t>de faltas em hospitais com plataforma de lembrete</a:t>
            </a:r>
          </a:p>
        </p:txBody>
      </p:sp>
      <p:sp>
        <p:nvSpPr>
          <p:cNvPr id="19" name="TextBox 18"/>
          <p:cNvSpPr txBox="1"/>
          <p:nvPr/>
        </p:nvSpPr>
        <p:spPr>
          <a:xfrm>
            <a:off x="6375400" y="4699000"/>
            <a:ext cx="2120900" cy="508000"/>
          </a:xfrm>
          <a:prstGeom prst="rect">
            <a:avLst/>
          </a:prstGeom>
          <a:noFill/>
        </p:spPr>
        <p:txBody>
          <a:bodyPr wrap="square" lIns="0" tIns="0" rIns="0" bIns="0" anchor="b">
            <a:spAutoFit/>
          </a:bodyPr>
          <a:lstStyle/>
          <a:p>
            <a:pPr algn="l">
              <a:lnSpc>
                <a:spcPct val="130000"/>
              </a:lnSpc>
            </a:pPr>
            <a:r>
              <a:rPr sz="1200" b="0" i="0">
                <a:solidFill>
                  <a:srgbClr val="6B6890"/>
                </a:solidFill>
                <a:latin typeface="Nunito Sans"/>
              </a:rPr>
              <a:t>Guy’s and St Thomas’ (Londres) e Gulfport (EUA)</a:t>
            </a:r>
          </a:p>
        </p:txBody>
      </p:sp>
      <p:sp>
        <p:nvSpPr>
          <p:cNvPr id="20" name="Rounded Rectangle 19"/>
          <p:cNvSpPr/>
          <p:nvPr/>
        </p:nvSpPr>
        <p:spPr>
          <a:xfrm>
            <a:off x="8851900" y="2730500"/>
            <a:ext cx="2527300" cy="2667000"/>
          </a:xfrm>
          <a:prstGeom prst="roundRect">
            <a:avLst>
              <a:gd name="adj" fmla="val 6030"/>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943340" y="2730500"/>
            <a:ext cx="2344420" cy="38100"/>
          </a:xfrm>
          <a:prstGeom prst="rect">
            <a:avLst/>
          </a:prstGeom>
          <a:solidFill>
            <a:srgbClr val="6D3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55100" y="2984500"/>
            <a:ext cx="2120900" cy="444500"/>
          </a:xfrm>
          <a:prstGeom prst="rect">
            <a:avLst/>
          </a:prstGeom>
          <a:noFill/>
        </p:spPr>
        <p:txBody>
          <a:bodyPr wrap="square" lIns="0" tIns="0" rIns="0" bIns="0" anchor="t">
            <a:spAutoFit/>
          </a:bodyPr>
          <a:lstStyle/>
          <a:p>
            <a:pPr algn="l">
              <a:lnSpc>
                <a:spcPct val="120000"/>
              </a:lnSpc>
            </a:pPr>
            <a:r>
              <a:rPr sz="2200" b="1" i="0">
                <a:solidFill>
                  <a:srgbClr val="6D3AE8"/>
                </a:solidFill>
                <a:latin typeface="Montserrat"/>
              </a:rPr>
              <a:t>43% → 32%</a:t>
            </a:r>
          </a:p>
        </p:txBody>
      </p:sp>
      <p:sp>
        <p:nvSpPr>
          <p:cNvPr id="23" name="TextBox 22"/>
          <p:cNvSpPr txBox="1"/>
          <p:nvPr/>
        </p:nvSpPr>
        <p:spPr>
          <a:xfrm>
            <a:off x="9055100" y="3556000"/>
            <a:ext cx="2120900" cy="952500"/>
          </a:xfrm>
          <a:prstGeom prst="rect">
            <a:avLst/>
          </a:prstGeom>
          <a:noFill/>
        </p:spPr>
        <p:txBody>
          <a:bodyPr wrap="square" lIns="0" tIns="0" rIns="0" bIns="0" anchor="t">
            <a:spAutoFit/>
          </a:bodyPr>
          <a:lstStyle/>
          <a:p>
            <a:pPr algn="l">
              <a:lnSpc>
                <a:spcPct val="130000"/>
              </a:lnSpc>
            </a:pPr>
            <a:r>
              <a:rPr sz="1400" b="0" i="0">
                <a:solidFill>
                  <a:srgbClr val="26234F"/>
                </a:solidFill>
                <a:latin typeface="Nunito Sans"/>
              </a:rPr>
              <a:t>de faltas na rede estadual do RJ com assistente virtual</a:t>
            </a:r>
          </a:p>
        </p:txBody>
      </p:sp>
      <p:sp>
        <p:nvSpPr>
          <p:cNvPr id="24" name="TextBox 23"/>
          <p:cNvSpPr txBox="1"/>
          <p:nvPr/>
        </p:nvSpPr>
        <p:spPr>
          <a:xfrm>
            <a:off x="9055100" y="4699000"/>
            <a:ext cx="2120900" cy="508000"/>
          </a:xfrm>
          <a:prstGeom prst="rect">
            <a:avLst/>
          </a:prstGeom>
          <a:noFill/>
        </p:spPr>
        <p:txBody>
          <a:bodyPr wrap="square" lIns="0" tIns="0" rIns="0" bIns="0" anchor="b">
            <a:spAutoFit/>
          </a:bodyPr>
          <a:lstStyle/>
          <a:p>
            <a:pPr algn="l">
              <a:lnSpc>
                <a:spcPct val="130000"/>
              </a:lnSpc>
            </a:pPr>
            <a:r>
              <a:rPr sz="1200" b="0" i="0">
                <a:solidFill>
                  <a:srgbClr val="6B6890"/>
                </a:solidFill>
                <a:latin typeface="Nunito Sans"/>
              </a:rPr>
              <a:t>Correio da Manhã, jun/2026</a:t>
            </a:r>
          </a:p>
        </p:txBody>
      </p:sp>
      <p:sp>
        <p:nvSpPr>
          <p:cNvPr id="25" name="TextBox 24"/>
          <p:cNvSpPr txBox="1"/>
          <p:nvPr/>
        </p:nvSpPr>
        <p:spPr>
          <a:xfrm>
            <a:off x="812800" y="6248400"/>
            <a:ext cx="105664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12 fontes abertas, conferidas em 14/10/2026. Valores de casos diferentes não são somados.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FE"/>
        </a:solidFill>
        <a:effectLst/>
      </p:bgPr>
    </p:bg>
    <p:spTree>
      <p:nvGrpSpPr>
        <p:cNvPr id="1" name=""/>
        <p:cNvGrpSpPr/>
        <p:nvPr/>
      </p:nvGrpSpPr>
      <p:grpSpPr>
        <a:xfrm>
          <a:off x="0" y="0"/>
          <a:ext cx="0" cy="0"/>
          <a:chOff x="0" y="0"/>
          <a:chExt cx="0" cy="0"/>
        </a:xfrm>
      </p:grpSpPr>
      <p:sp>
        <p:nvSpPr>
          <p:cNvPr id="2" name="TextBox 1"/>
          <p:cNvSpPr txBox="1"/>
          <p:nvPr/>
        </p:nvSpPr>
        <p:spPr>
          <a:xfrm>
            <a:off x="812800" y="762000"/>
            <a:ext cx="10566400" cy="190500"/>
          </a:xfrm>
          <a:prstGeom prst="rect">
            <a:avLst/>
          </a:prstGeom>
          <a:noFill/>
        </p:spPr>
        <p:txBody>
          <a:bodyPr wrap="square" lIns="0" tIns="0" rIns="0" bIns="0" anchor="t">
            <a:spAutoFit/>
          </a:bodyPr>
          <a:lstStyle/>
          <a:p>
            <a:pPr algn="l">
              <a:lnSpc>
                <a:spcPct val="120000"/>
              </a:lnSpc>
            </a:pPr>
            <a:r>
              <a:rPr sz="1200" b="1" i="0">
                <a:solidFill>
                  <a:srgbClr val="5B2BD6"/>
                </a:solidFill>
                <a:latin typeface="Montserrat"/>
              </a:rPr>
              <a:t>REINO UNIDO E ESTADOS UNIDOS</a:t>
            </a:r>
          </a:p>
        </p:txBody>
      </p:sp>
      <p:sp>
        <p:nvSpPr>
          <p:cNvPr id="3" name="TextBox 2"/>
          <p:cNvSpPr txBox="1"/>
          <p:nvPr/>
        </p:nvSpPr>
        <p:spPr>
          <a:xfrm>
            <a:off x="812800" y="1016000"/>
            <a:ext cx="10566400" cy="444500"/>
          </a:xfrm>
          <a:prstGeom prst="rect">
            <a:avLst/>
          </a:prstGeom>
          <a:noFill/>
        </p:spPr>
        <p:txBody>
          <a:bodyPr wrap="square" lIns="0" tIns="0" rIns="0" bIns="0" anchor="t">
            <a:spAutoFit/>
          </a:bodyPr>
          <a:lstStyle/>
          <a:p>
            <a:pPr algn="l">
              <a:lnSpc>
                <a:spcPct val="105000"/>
              </a:lnSpc>
            </a:pPr>
            <a:r>
              <a:rPr sz="2600" b="1" i="0">
                <a:solidFill>
                  <a:srgbClr val="17153B"/>
                </a:solidFill>
                <a:latin typeface="Montserrat"/>
              </a:rPr>
              <a:t>Lá fora, lembrete e lista de espera já pagam a conta</a:t>
            </a:r>
          </a:p>
        </p:txBody>
      </p:sp>
      <p:sp>
        <p:nvSpPr>
          <p:cNvPr id="4" name="Rounded Rectangle 3"/>
          <p:cNvSpPr/>
          <p:nvPr/>
        </p:nvSpPr>
        <p:spPr>
          <a:xfrm>
            <a:off x="812800" y="166370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90600" y="166370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11,1% → 8,4%</a:t>
            </a:r>
          </a:p>
        </p:txBody>
      </p:sp>
      <p:sp>
        <p:nvSpPr>
          <p:cNvPr id="6" name="TextBox 5"/>
          <p:cNvSpPr txBox="1"/>
          <p:nvPr/>
        </p:nvSpPr>
        <p:spPr>
          <a:xfrm>
            <a:off x="3390900" y="175260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Barts Health NHS · Londres</a:t>
            </a:r>
          </a:p>
        </p:txBody>
      </p:sp>
      <p:sp>
        <p:nvSpPr>
          <p:cNvPr id="7" name="TextBox 6"/>
          <p:cNvSpPr txBox="1"/>
          <p:nvPr/>
        </p:nvSpPr>
        <p:spPr>
          <a:xfrm>
            <a:off x="3390900" y="200660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ensaio com ~20 mil pacientes, 2013–14</a:t>
            </a:r>
          </a:p>
        </p:txBody>
      </p:sp>
      <p:sp>
        <p:nvSpPr>
          <p:cNvPr id="8" name="TextBox 7"/>
          <p:cNvSpPr txBox="1"/>
          <p:nvPr/>
        </p:nvSpPr>
        <p:spPr>
          <a:xfrm>
            <a:off x="7645400" y="175260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faltas com lembrete que cita o custo</a:t>
            </a:r>
          </a:p>
        </p:txBody>
      </p:sp>
      <p:sp>
        <p:nvSpPr>
          <p:cNvPr id="9" name="TextBox 8"/>
          <p:cNvSpPr txBox="1"/>
          <p:nvPr/>
        </p:nvSpPr>
        <p:spPr>
          <a:xfrm>
            <a:off x="7645400" y="200660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Behavioural Insights Team / GOV.UK</a:t>
            </a:r>
          </a:p>
        </p:txBody>
      </p:sp>
      <p:sp>
        <p:nvSpPr>
          <p:cNvPr id="10" name="Rounded Rectangle 9"/>
          <p:cNvSpPr/>
          <p:nvPr/>
        </p:nvSpPr>
        <p:spPr>
          <a:xfrm>
            <a:off x="812800" y="235585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90600" y="235585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5,5 mi</a:t>
            </a:r>
          </a:p>
        </p:txBody>
      </p:sp>
      <p:sp>
        <p:nvSpPr>
          <p:cNvPr id="12" name="TextBox 11"/>
          <p:cNvSpPr txBox="1"/>
          <p:nvPr/>
        </p:nvSpPr>
        <p:spPr>
          <a:xfrm>
            <a:off x="3390900" y="244475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NHS England</a:t>
            </a:r>
          </a:p>
        </p:txBody>
      </p:sp>
      <p:sp>
        <p:nvSpPr>
          <p:cNvPr id="13" name="TextBox 12"/>
          <p:cNvSpPr txBox="1"/>
          <p:nvPr/>
        </p:nvSpPr>
        <p:spPr>
          <a:xfrm>
            <a:off x="3390900" y="269875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ambulatórios, 2012–13</a:t>
            </a:r>
          </a:p>
        </p:txBody>
      </p:sp>
      <p:sp>
        <p:nvSpPr>
          <p:cNvPr id="14" name="TextBox 13"/>
          <p:cNvSpPr txBox="1"/>
          <p:nvPr/>
        </p:nvSpPr>
        <p:spPr>
          <a:xfrm>
            <a:off x="7645400" y="244475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consultas perdidas em um ano (9,3%)</a:t>
            </a:r>
          </a:p>
        </p:txBody>
      </p:sp>
      <p:sp>
        <p:nvSpPr>
          <p:cNvPr id="15" name="TextBox 14"/>
          <p:cNvSpPr txBox="1"/>
          <p:nvPr/>
        </p:nvSpPr>
        <p:spPr>
          <a:xfrm>
            <a:off x="7645400" y="269875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Warwick Business School</a:t>
            </a:r>
          </a:p>
        </p:txBody>
      </p:sp>
      <p:sp>
        <p:nvSpPr>
          <p:cNvPr id="16" name="Rounded Rectangle 15"/>
          <p:cNvSpPr/>
          <p:nvPr/>
        </p:nvSpPr>
        <p:spPr>
          <a:xfrm>
            <a:off x="812800" y="304800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90600" y="304800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−17,2%</a:t>
            </a:r>
          </a:p>
        </p:txBody>
      </p:sp>
      <p:sp>
        <p:nvSpPr>
          <p:cNvPr id="18" name="TextBox 17"/>
          <p:cNvSpPr txBox="1"/>
          <p:nvPr/>
        </p:nvSpPr>
        <p:spPr>
          <a:xfrm>
            <a:off x="3390900" y="313690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Guy’s and St Thomas’ NHS</a:t>
            </a:r>
          </a:p>
        </p:txBody>
      </p:sp>
      <p:sp>
        <p:nvSpPr>
          <p:cNvPr id="19" name="TextBox 18"/>
          <p:cNvSpPr txBox="1"/>
          <p:nvPr/>
        </p:nvSpPr>
        <p:spPr>
          <a:xfrm>
            <a:off x="3390900" y="339090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Londres, 1º ano a partir de abr/2016</a:t>
            </a:r>
          </a:p>
        </p:txBody>
      </p:sp>
      <p:sp>
        <p:nvSpPr>
          <p:cNvPr id="20" name="TextBox 19"/>
          <p:cNvSpPr txBox="1"/>
          <p:nvPr/>
        </p:nvSpPr>
        <p:spPr>
          <a:xfrm>
            <a:off x="7645400" y="313690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faltas; benefício de £ 2,6 mi no 1º ano</a:t>
            </a:r>
          </a:p>
        </p:txBody>
      </p:sp>
      <p:sp>
        <p:nvSpPr>
          <p:cNvPr id="21" name="TextBox 20"/>
          <p:cNvSpPr txBox="1"/>
          <p:nvPr/>
        </p:nvSpPr>
        <p:spPr>
          <a:xfrm>
            <a:off x="7645400" y="339090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DrDoctor</a:t>
            </a:r>
          </a:p>
        </p:txBody>
      </p:sp>
      <p:sp>
        <p:nvSpPr>
          <p:cNvPr id="22" name="Rounded Rectangle 21"/>
          <p:cNvSpPr/>
          <p:nvPr/>
        </p:nvSpPr>
        <p:spPr>
          <a:xfrm>
            <a:off x="812800" y="374015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90600" y="374015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−28%</a:t>
            </a:r>
          </a:p>
        </p:txBody>
      </p:sp>
      <p:sp>
        <p:nvSpPr>
          <p:cNvPr id="24" name="TextBox 23"/>
          <p:cNvSpPr txBox="1"/>
          <p:nvPr/>
        </p:nvSpPr>
        <p:spPr>
          <a:xfrm>
            <a:off x="3390900" y="382905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Memorial Hospital at Gulfport</a:t>
            </a:r>
          </a:p>
        </p:txBody>
      </p:sp>
      <p:sp>
        <p:nvSpPr>
          <p:cNvPr id="25" name="TextBox 24"/>
          <p:cNvSpPr txBox="1"/>
          <p:nvPr/>
        </p:nvSpPr>
        <p:spPr>
          <a:xfrm>
            <a:off x="3390900" y="408305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EUA · Mississippi, 7 meses</a:t>
            </a:r>
          </a:p>
        </p:txBody>
      </p:sp>
      <p:sp>
        <p:nvSpPr>
          <p:cNvPr id="26" name="TextBox 25"/>
          <p:cNvSpPr txBox="1"/>
          <p:nvPr/>
        </p:nvSpPr>
        <p:spPr>
          <a:xfrm>
            <a:off x="7645400" y="382905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no-show; ~US$ 804 mil em 7 meses</a:t>
            </a:r>
          </a:p>
        </p:txBody>
      </p:sp>
      <p:sp>
        <p:nvSpPr>
          <p:cNvPr id="27" name="TextBox 26"/>
          <p:cNvSpPr txBox="1"/>
          <p:nvPr/>
        </p:nvSpPr>
        <p:spPr>
          <a:xfrm>
            <a:off x="7645400" y="408305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Health Catalyst</a:t>
            </a:r>
          </a:p>
        </p:txBody>
      </p:sp>
      <p:sp>
        <p:nvSpPr>
          <p:cNvPr id="28" name="Rounded Rectangle 27"/>
          <p:cNvSpPr/>
          <p:nvPr/>
        </p:nvSpPr>
        <p:spPr>
          <a:xfrm>
            <a:off x="812800" y="443230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90600" y="443230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−20%</a:t>
            </a:r>
          </a:p>
        </p:txBody>
      </p:sp>
      <p:sp>
        <p:nvSpPr>
          <p:cNvPr id="30" name="TextBox 29"/>
          <p:cNvSpPr txBox="1"/>
          <p:nvPr/>
        </p:nvSpPr>
        <p:spPr>
          <a:xfrm>
            <a:off x="3390900" y="452120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Mile Bluff Medical Center</a:t>
            </a:r>
          </a:p>
        </p:txBody>
      </p:sp>
      <p:sp>
        <p:nvSpPr>
          <p:cNvPr id="31" name="TextBox 30"/>
          <p:cNvSpPr txBox="1"/>
          <p:nvPr/>
        </p:nvSpPr>
        <p:spPr>
          <a:xfrm>
            <a:off x="3390900" y="477520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EUA · Wisconsin, 7 meses</a:t>
            </a:r>
          </a:p>
        </p:txBody>
      </p:sp>
      <p:sp>
        <p:nvSpPr>
          <p:cNvPr id="32" name="TextBox 31"/>
          <p:cNvSpPr txBox="1"/>
          <p:nvPr/>
        </p:nvSpPr>
        <p:spPr>
          <a:xfrm>
            <a:off x="7645400" y="452120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no-show; US$ 200 mil a mais por ano</a:t>
            </a:r>
          </a:p>
        </p:txBody>
      </p:sp>
      <p:sp>
        <p:nvSpPr>
          <p:cNvPr id="33" name="TextBox 32"/>
          <p:cNvSpPr txBox="1"/>
          <p:nvPr/>
        </p:nvSpPr>
        <p:spPr>
          <a:xfrm>
            <a:off x="7645400" y="477520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Luma Health</a:t>
            </a:r>
          </a:p>
        </p:txBody>
      </p:sp>
      <p:sp>
        <p:nvSpPr>
          <p:cNvPr id="34" name="Rounded Rectangle 33"/>
          <p:cNvSpPr/>
          <p:nvPr/>
        </p:nvSpPr>
        <p:spPr>
          <a:xfrm>
            <a:off x="812800" y="512445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990600" y="512445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US$ 1,2 mi</a:t>
            </a:r>
          </a:p>
        </p:txBody>
      </p:sp>
      <p:sp>
        <p:nvSpPr>
          <p:cNvPr id="36" name="TextBox 35"/>
          <p:cNvSpPr txBox="1"/>
          <p:nvPr/>
        </p:nvSpPr>
        <p:spPr>
          <a:xfrm>
            <a:off x="3390900" y="521335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Houston ENT &amp; Allergy</a:t>
            </a:r>
          </a:p>
        </p:txBody>
      </p:sp>
      <p:sp>
        <p:nvSpPr>
          <p:cNvPr id="37" name="TextBox 36"/>
          <p:cNvSpPr txBox="1"/>
          <p:nvPr/>
        </p:nvSpPr>
        <p:spPr>
          <a:xfrm>
            <a:off x="3390900" y="546735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EUA · Texas</a:t>
            </a:r>
          </a:p>
        </p:txBody>
      </p:sp>
      <p:sp>
        <p:nvSpPr>
          <p:cNvPr id="38" name="TextBox 37"/>
          <p:cNvSpPr txBox="1"/>
          <p:nvPr/>
        </p:nvSpPr>
        <p:spPr>
          <a:xfrm>
            <a:off x="7645400" y="521335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receita extra com lista de espera inteligente</a:t>
            </a:r>
          </a:p>
        </p:txBody>
      </p:sp>
      <p:sp>
        <p:nvSpPr>
          <p:cNvPr id="39" name="TextBox 38"/>
          <p:cNvSpPr txBox="1"/>
          <p:nvPr/>
        </p:nvSpPr>
        <p:spPr>
          <a:xfrm>
            <a:off x="7645400" y="546735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Luma Health</a:t>
            </a:r>
          </a:p>
        </p:txBody>
      </p:sp>
      <p:sp>
        <p:nvSpPr>
          <p:cNvPr id="40" name="TextBox 39"/>
          <p:cNvSpPr txBox="1"/>
          <p:nvPr/>
        </p:nvSpPr>
        <p:spPr>
          <a:xfrm>
            <a:off x="812800" y="6248400"/>
            <a:ext cx="105664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Casos de fornecedores (DrDoctor, Health Catalyst, Luma Health) são resultados divulgados pelas próprias empresas.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FE"/>
        </a:solidFill>
        <a:effectLst/>
      </p:bgPr>
    </p:bg>
    <p:spTree>
      <p:nvGrpSpPr>
        <p:cNvPr id="1" name=""/>
        <p:cNvGrpSpPr/>
        <p:nvPr/>
      </p:nvGrpSpPr>
      <p:grpSpPr>
        <a:xfrm>
          <a:off x="0" y="0"/>
          <a:ext cx="0" cy="0"/>
          <a:chOff x="0" y="0"/>
          <a:chExt cx="0" cy="0"/>
        </a:xfrm>
      </p:grpSpPr>
      <p:sp>
        <p:nvSpPr>
          <p:cNvPr id="2" name="TextBox 1"/>
          <p:cNvSpPr txBox="1"/>
          <p:nvPr/>
        </p:nvSpPr>
        <p:spPr>
          <a:xfrm>
            <a:off x="812800" y="762000"/>
            <a:ext cx="10566400" cy="190500"/>
          </a:xfrm>
          <a:prstGeom prst="rect">
            <a:avLst/>
          </a:prstGeom>
          <a:noFill/>
        </p:spPr>
        <p:txBody>
          <a:bodyPr wrap="square" lIns="0" tIns="0" rIns="0" bIns="0" anchor="t">
            <a:spAutoFit/>
          </a:bodyPr>
          <a:lstStyle/>
          <a:p>
            <a:pPr algn="l">
              <a:lnSpc>
                <a:spcPct val="120000"/>
              </a:lnSpc>
            </a:pPr>
            <a:r>
              <a:rPr sz="1200" b="1" i="0">
                <a:solidFill>
                  <a:srgbClr val="5B2BD6"/>
                </a:solidFill>
                <a:latin typeface="Montserrat"/>
              </a:rPr>
              <a:t>BRASIL E ESTUDOS CIENTÍFICOS</a:t>
            </a:r>
          </a:p>
        </p:txBody>
      </p:sp>
      <p:sp>
        <p:nvSpPr>
          <p:cNvPr id="3" name="TextBox 2"/>
          <p:cNvSpPr txBox="1"/>
          <p:nvPr/>
        </p:nvSpPr>
        <p:spPr>
          <a:xfrm>
            <a:off x="812800" y="1016000"/>
            <a:ext cx="10566400" cy="444500"/>
          </a:xfrm>
          <a:prstGeom prst="rect">
            <a:avLst/>
          </a:prstGeom>
          <a:noFill/>
        </p:spPr>
        <p:txBody>
          <a:bodyPr wrap="square" lIns="0" tIns="0" rIns="0" bIns="0" anchor="t">
            <a:spAutoFit/>
          </a:bodyPr>
          <a:lstStyle/>
          <a:p>
            <a:pPr algn="l">
              <a:lnSpc>
                <a:spcPct val="105000"/>
              </a:lnSpc>
            </a:pPr>
            <a:r>
              <a:rPr sz="2600" b="1" i="0">
                <a:solidFill>
                  <a:srgbClr val="17153B"/>
                </a:solidFill>
                <a:latin typeface="Montserrat"/>
              </a:rPr>
              <a:t>No Brasil, a falta é grande e o WhatsApp já funciona</a:t>
            </a:r>
          </a:p>
        </p:txBody>
      </p:sp>
      <p:sp>
        <p:nvSpPr>
          <p:cNvPr id="4" name="Rounded Rectangle 3"/>
          <p:cNvSpPr/>
          <p:nvPr/>
        </p:nvSpPr>
        <p:spPr>
          <a:xfrm>
            <a:off x="812800" y="166370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90600" y="166370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35,5% → 23,2%</a:t>
            </a:r>
          </a:p>
        </p:txBody>
      </p:sp>
      <p:sp>
        <p:nvSpPr>
          <p:cNvPr id="6" name="TextBox 5"/>
          <p:cNvSpPr txBox="1"/>
          <p:nvPr/>
        </p:nvSpPr>
        <p:spPr>
          <a:xfrm>
            <a:off x="3390900" y="175260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Hospitais estaduais do Ceará</a:t>
            </a:r>
          </a:p>
        </p:txBody>
      </p:sp>
      <p:sp>
        <p:nvSpPr>
          <p:cNvPr id="7" name="TextBox 6"/>
          <p:cNvSpPr txBox="1"/>
          <p:nvPr/>
        </p:nvSpPr>
        <p:spPr>
          <a:xfrm>
            <a:off x="3390900" y="200660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WhatsApp, 2024 → mar–ago/2025</a:t>
            </a:r>
          </a:p>
        </p:txBody>
      </p:sp>
      <p:sp>
        <p:nvSpPr>
          <p:cNvPr id="8" name="TextBox 7"/>
          <p:cNvSpPr txBox="1"/>
          <p:nvPr/>
        </p:nvSpPr>
        <p:spPr>
          <a:xfrm>
            <a:off x="7645400" y="175260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faltas a consultas e cirurgias</a:t>
            </a:r>
          </a:p>
        </p:txBody>
      </p:sp>
      <p:sp>
        <p:nvSpPr>
          <p:cNvPr id="9" name="TextBox 8"/>
          <p:cNvSpPr txBox="1"/>
          <p:nvPr/>
        </p:nvSpPr>
        <p:spPr>
          <a:xfrm>
            <a:off x="7645400" y="200660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O Povo, com dados da Sesa-CE</a:t>
            </a:r>
          </a:p>
        </p:txBody>
      </p:sp>
      <p:sp>
        <p:nvSpPr>
          <p:cNvPr id="10" name="Rounded Rectangle 9"/>
          <p:cNvSpPr/>
          <p:nvPr/>
        </p:nvSpPr>
        <p:spPr>
          <a:xfrm>
            <a:off x="812800" y="235585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90600" y="235585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43% → 32%</a:t>
            </a:r>
          </a:p>
        </p:txBody>
      </p:sp>
      <p:sp>
        <p:nvSpPr>
          <p:cNvPr id="12" name="TextBox 11"/>
          <p:cNvSpPr txBox="1"/>
          <p:nvPr/>
        </p:nvSpPr>
        <p:spPr>
          <a:xfrm>
            <a:off x="3390900" y="244475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Rede estadual do RJ · Serena</a:t>
            </a:r>
          </a:p>
        </p:txBody>
      </p:sp>
      <p:sp>
        <p:nvSpPr>
          <p:cNvPr id="13" name="TextBox 12"/>
          <p:cNvSpPr txBox="1"/>
          <p:nvPr/>
        </p:nvSpPr>
        <p:spPr>
          <a:xfrm>
            <a:off x="3390900" y="269875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assistente virtual, 2025 → jun/2026</a:t>
            </a:r>
          </a:p>
        </p:txBody>
      </p:sp>
      <p:sp>
        <p:nvSpPr>
          <p:cNvPr id="14" name="TextBox 13"/>
          <p:cNvSpPr txBox="1"/>
          <p:nvPr/>
        </p:nvSpPr>
        <p:spPr>
          <a:xfrm>
            <a:off x="7645400" y="244475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faltas em consultas e exames</a:t>
            </a:r>
          </a:p>
        </p:txBody>
      </p:sp>
      <p:sp>
        <p:nvSpPr>
          <p:cNvPr id="15" name="TextBox 14"/>
          <p:cNvSpPr txBox="1"/>
          <p:nvPr/>
        </p:nvSpPr>
        <p:spPr>
          <a:xfrm>
            <a:off x="7645400" y="269875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Correio da Manhã e CONASS</a:t>
            </a:r>
          </a:p>
        </p:txBody>
      </p:sp>
      <p:sp>
        <p:nvSpPr>
          <p:cNvPr id="16" name="Rounded Rectangle 15"/>
          <p:cNvSpPr/>
          <p:nvPr/>
        </p:nvSpPr>
        <p:spPr>
          <a:xfrm>
            <a:off x="812800" y="304800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90600" y="304800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 13%</a:t>
            </a:r>
          </a:p>
        </p:txBody>
      </p:sp>
      <p:sp>
        <p:nvSpPr>
          <p:cNvPr id="18" name="TextBox 17"/>
          <p:cNvSpPr txBox="1"/>
          <p:nvPr/>
        </p:nvSpPr>
        <p:spPr>
          <a:xfrm>
            <a:off x="3390900" y="313690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Porto Alegre · especialidades</a:t>
            </a:r>
          </a:p>
        </p:txBody>
      </p:sp>
      <p:sp>
        <p:nvSpPr>
          <p:cNvPr id="19" name="TextBox 18"/>
          <p:cNvSpPr txBox="1"/>
          <p:nvPr/>
        </p:nvSpPr>
        <p:spPr>
          <a:xfrm>
            <a:off x="3390900" y="339090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2025</a:t>
            </a:r>
          </a:p>
        </p:txBody>
      </p:sp>
      <p:sp>
        <p:nvSpPr>
          <p:cNvPr id="20" name="TextBox 19"/>
          <p:cNvSpPr txBox="1"/>
          <p:nvPr/>
        </p:nvSpPr>
        <p:spPr>
          <a:xfrm>
            <a:off x="7645400" y="313690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consultas perdidas: 45.607 no ano</a:t>
            </a:r>
          </a:p>
        </p:txBody>
      </p:sp>
      <p:sp>
        <p:nvSpPr>
          <p:cNvPr id="21" name="TextBox 20"/>
          <p:cNvSpPr txBox="1"/>
          <p:nvPr/>
        </p:nvSpPr>
        <p:spPr>
          <a:xfrm>
            <a:off x="7645400" y="339090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Prefeitura de Porto Alegre</a:t>
            </a:r>
          </a:p>
        </p:txBody>
      </p:sp>
      <p:sp>
        <p:nvSpPr>
          <p:cNvPr id="22" name="Rounded Rectangle 21"/>
          <p:cNvSpPr/>
          <p:nvPr/>
        </p:nvSpPr>
        <p:spPr>
          <a:xfrm>
            <a:off x="812800" y="374015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90600" y="374015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 30%</a:t>
            </a:r>
          </a:p>
        </p:txBody>
      </p:sp>
      <p:sp>
        <p:nvSpPr>
          <p:cNvPr id="24" name="TextBox 23"/>
          <p:cNvSpPr txBox="1"/>
          <p:nvPr/>
        </p:nvSpPr>
        <p:spPr>
          <a:xfrm>
            <a:off x="3390900" y="382905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Ribeirão Preto · atenção primária</a:t>
            </a:r>
          </a:p>
        </p:txBody>
      </p:sp>
      <p:sp>
        <p:nvSpPr>
          <p:cNvPr id="25" name="TextBox 24"/>
          <p:cNvSpPr txBox="1"/>
          <p:nvPr/>
        </p:nvSpPr>
        <p:spPr>
          <a:xfrm>
            <a:off x="3390900" y="408305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2020–21</a:t>
            </a:r>
          </a:p>
        </p:txBody>
      </p:sp>
      <p:sp>
        <p:nvSpPr>
          <p:cNvPr id="26" name="TextBox 25"/>
          <p:cNvSpPr txBox="1"/>
          <p:nvPr/>
        </p:nvSpPr>
        <p:spPr>
          <a:xfrm>
            <a:off x="7645400" y="382905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absenteísmo em consultas agendadas</a:t>
            </a:r>
          </a:p>
        </p:txBody>
      </p:sp>
      <p:sp>
        <p:nvSpPr>
          <p:cNvPr id="27" name="TextBox 26"/>
          <p:cNvSpPr txBox="1"/>
          <p:nvPr/>
        </p:nvSpPr>
        <p:spPr>
          <a:xfrm>
            <a:off x="7645400" y="408305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Interface (Botucatu), 2023</a:t>
            </a:r>
          </a:p>
        </p:txBody>
      </p:sp>
      <p:sp>
        <p:nvSpPr>
          <p:cNvPr id="28" name="Rounded Rectangle 27"/>
          <p:cNvSpPr/>
          <p:nvPr/>
        </p:nvSpPr>
        <p:spPr>
          <a:xfrm>
            <a:off x="812800" y="443230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90600" y="443230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23%</a:t>
            </a:r>
          </a:p>
        </p:txBody>
      </p:sp>
      <p:sp>
        <p:nvSpPr>
          <p:cNvPr id="30" name="TextBox 29"/>
          <p:cNvSpPr txBox="1"/>
          <p:nvPr/>
        </p:nvSpPr>
        <p:spPr>
          <a:xfrm>
            <a:off x="3390900" y="452120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Revisão de 105 estudos</a:t>
            </a:r>
          </a:p>
        </p:txBody>
      </p:sp>
      <p:sp>
        <p:nvSpPr>
          <p:cNvPr id="31" name="TextBox 30"/>
          <p:cNvSpPr txBox="1"/>
          <p:nvPr/>
        </p:nvSpPr>
        <p:spPr>
          <a:xfrm>
            <a:off x="3390900" y="477520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mundo, publicados até 2017</a:t>
            </a:r>
          </a:p>
        </p:txBody>
      </p:sp>
      <p:sp>
        <p:nvSpPr>
          <p:cNvPr id="32" name="TextBox 31"/>
          <p:cNvSpPr txBox="1"/>
          <p:nvPr/>
        </p:nvSpPr>
        <p:spPr>
          <a:xfrm>
            <a:off x="7645400" y="452120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no-show médio; África 43%, Oceania 13%</a:t>
            </a:r>
          </a:p>
        </p:txBody>
      </p:sp>
      <p:sp>
        <p:nvSpPr>
          <p:cNvPr id="33" name="TextBox 32"/>
          <p:cNvSpPr txBox="1"/>
          <p:nvPr/>
        </p:nvSpPr>
        <p:spPr>
          <a:xfrm>
            <a:off x="7645400" y="477520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Dantas et al., Health Policy, 2018</a:t>
            </a:r>
          </a:p>
        </p:txBody>
      </p:sp>
      <p:sp>
        <p:nvSpPr>
          <p:cNvPr id="34" name="Rounded Rectangle 33"/>
          <p:cNvSpPr/>
          <p:nvPr/>
        </p:nvSpPr>
        <p:spPr>
          <a:xfrm>
            <a:off x="812800" y="5124450"/>
            <a:ext cx="10566400" cy="615950"/>
          </a:xfrm>
          <a:prstGeom prst="roundRect">
            <a:avLst>
              <a:gd name="adj" fmla="val 18556"/>
            </a:avLst>
          </a:prstGeom>
          <a:solidFill>
            <a:srgbClr val="FDFCFF"/>
          </a:solidFill>
          <a:ln w="6350">
            <a:solidFill>
              <a:srgbClr val="E2D9F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990600" y="5124450"/>
            <a:ext cx="2222500" cy="615950"/>
          </a:xfrm>
          <a:prstGeom prst="rect">
            <a:avLst/>
          </a:prstGeom>
          <a:noFill/>
        </p:spPr>
        <p:txBody>
          <a:bodyPr wrap="square" lIns="0" tIns="0" rIns="0" bIns="0" anchor="ctr">
            <a:spAutoFit/>
          </a:bodyPr>
          <a:lstStyle/>
          <a:p>
            <a:pPr algn="l">
              <a:lnSpc>
                <a:spcPct val="120000"/>
              </a:lnSpc>
            </a:pPr>
            <a:r>
              <a:rPr sz="2000" b="1" i="0">
                <a:solidFill>
                  <a:srgbClr val="6D3AE8"/>
                </a:solidFill>
                <a:latin typeface="Montserrat"/>
              </a:rPr>
              <a:t>+14%</a:t>
            </a:r>
          </a:p>
        </p:txBody>
      </p:sp>
      <p:sp>
        <p:nvSpPr>
          <p:cNvPr id="36" name="TextBox 35"/>
          <p:cNvSpPr txBox="1"/>
          <p:nvPr/>
        </p:nvSpPr>
        <p:spPr>
          <a:xfrm>
            <a:off x="3390900" y="5213350"/>
            <a:ext cx="4064000" cy="228600"/>
          </a:xfrm>
          <a:prstGeom prst="rect">
            <a:avLst/>
          </a:prstGeom>
          <a:noFill/>
        </p:spPr>
        <p:txBody>
          <a:bodyPr wrap="square" lIns="0" tIns="0" rIns="0" bIns="0" anchor="t">
            <a:spAutoFit/>
          </a:bodyPr>
          <a:lstStyle/>
          <a:p>
            <a:pPr algn="l">
              <a:lnSpc>
                <a:spcPct val="120000"/>
              </a:lnSpc>
            </a:pPr>
            <a:r>
              <a:rPr sz="1400" b="1" i="0">
                <a:solidFill>
                  <a:srgbClr val="17153B"/>
                </a:solidFill>
                <a:latin typeface="Nunito Sans"/>
              </a:rPr>
              <a:t>Cochrane · mensagem no celular</a:t>
            </a:r>
          </a:p>
        </p:txBody>
      </p:sp>
      <p:sp>
        <p:nvSpPr>
          <p:cNvPr id="37" name="TextBox 36"/>
          <p:cNvSpPr txBox="1"/>
          <p:nvPr/>
        </p:nvSpPr>
        <p:spPr>
          <a:xfrm>
            <a:off x="3390900" y="5467350"/>
            <a:ext cx="40640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8 ensaios, 6.615 pessoas</a:t>
            </a:r>
          </a:p>
        </p:txBody>
      </p:sp>
      <p:sp>
        <p:nvSpPr>
          <p:cNvPr id="38" name="TextBox 37"/>
          <p:cNvSpPr txBox="1"/>
          <p:nvPr/>
        </p:nvSpPr>
        <p:spPr>
          <a:xfrm>
            <a:off x="7645400" y="5213350"/>
            <a:ext cx="3556000" cy="228600"/>
          </a:xfrm>
          <a:prstGeom prst="rect">
            <a:avLst/>
          </a:prstGeom>
          <a:noFill/>
        </p:spPr>
        <p:txBody>
          <a:bodyPr wrap="square" lIns="0" tIns="0" rIns="0" bIns="0" anchor="t">
            <a:spAutoFit/>
          </a:bodyPr>
          <a:lstStyle/>
          <a:p>
            <a:pPr algn="l">
              <a:lnSpc>
                <a:spcPct val="120000"/>
              </a:lnSpc>
            </a:pPr>
            <a:r>
              <a:rPr sz="1300" b="0" i="0">
                <a:solidFill>
                  <a:srgbClr val="26234F"/>
                </a:solidFill>
                <a:latin typeface="Nunito Sans"/>
              </a:rPr>
              <a:t>mais comparecimento (78,6% contra 67,8%)</a:t>
            </a:r>
          </a:p>
        </p:txBody>
      </p:sp>
      <p:sp>
        <p:nvSpPr>
          <p:cNvPr id="39" name="TextBox 38"/>
          <p:cNvSpPr txBox="1"/>
          <p:nvPr/>
        </p:nvSpPr>
        <p:spPr>
          <a:xfrm>
            <a:off x="7645400" y="5467350"/>
            <a:ext cx="3556000" cy="203200"/>
          </a:xfrm>
          <a:prstGeom prst="rect">
            <a:avLst/>
          </a:prstGeom>
          <a:noFill/>
        </p:spPr>
        <p:txBody>
          <a:bodyPr wrap="square" lIns="0" tIns="0" rIns="0" bIns="0" anchor="t">
            <a:spAutoFit/>
          </a:bodyPr>
          <a:lstStyle/>
          <a:p>
            <a:pPr algn="l">
              <a:lnSpc>
                <a:spcPct val="120000"/>
              </a:lnSpc>
            </a:pPr>
            <a:r>
              <a:rPr sz="1200" b="0" i="0">
                <a:solidFill>
                  <a:srgbClr val="5B2BD6"/>
                </a:solidFill>
                <a:latin typeface="Nunito Sans"/>
              </a:rPr>
              <a:t>Cochrane CD007458</a:t>
            </a:r>
          </a:p>
        </p:txBody>
      </p:sp>
      <p:sp>
        <p:nvSpPr>
          <p:cNvPr id="40" name="TextBox 39"/>
          <p:cNvSpPr txBox="1"/>
          <p:nvPr/>
        </p:nvSpPr>
        <p:spPr>
          <a:xfrm>
            <a:off x="812800" y="6248400"/>
            <a:ext cx="10566400" cy="203200"/>
          </a:xfrm>
          <a:prstGeom prst="rect">
            <a:avLst/>
          </a:prstGeom>
          <a:noFill/>
        </p:spPr>
        <p:txBody>
          <a:bodyPr wrap="square" lIns="0" tIns="0" rIns="0" bIns="0" anchor="t">
            <a:spAutoFit/>
          </a:bodyPr>
          <a:lstStyle/>
          <a:p>
            <a:pPr algn="l">
              <a:lnSpc>
                <a:spcPct val="120000"/>
              </a:lnSpc>
            </a:pPr>
            <a:r>
              <a:rPr sz="1200" b="0" i="0">
                <a:solidFill>
                  <a:srgbClr val="6B6890"/>
                </a:solidFill>
                <a:latin typeface="Nunito Sans"/>
              </a:rPr>
              <a:t>Referências de setor, imprensa e estudos; não são auditorias. Trocar pelos números reais do hospital parceiro assim que o piloto rodar.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17153B"/>
                </a:solidFill>
                <a:latin typeface="Montserrat" pitchFamily="34" charset="0"/>
                <a:ea typeface="Montserrat" pitchFamily="34" charset="-122"/>
                <a:cs typeface="Montserrat" pitchFamily="34" charset="-120"/>
              </a:rPr>
              <a:t>Próximos passos: implantar sem “virar a chave” de uma vez</a:t>
            </a:r>
            <a:endParaRPr lang="en-US" sz="3200" dirty="0"/>
          </a:p>
        </p:txBody>
      </p:sp>
      <p:pic>
        <p:nvPicPr>
          <p:cNvPr id="3" name="Image 0" descr="ellipse"/>
          <p:cNvPicPr>
            <a:picLocks noChangeAspect="1"/>
          </p:cNvPicPr>
          <p:nvPr/>
        </p:nvPicPr>
        <p:blipFill>
          <a:blip r:embed="rId3"/>
          <a:srcRect/>
          <a:stretch/>
        </p:blipFill>
        <p:spPr>
          <a:xfrm>
            <a:off x="812800" y="2569270"/>
            <a:ext cx="304800" cy="304800"/>
          </a:xfrm>
          <a:prstGeom prst="rect">
            <a:avLst/>
          </a:prstGeom>
        </p:spPr>
      </p:pic>
      <p:sp>
        <p:nvSpPr>
          <p:cNvPr id="4" name="Text 1"/>
          <p:cNvSpPr/>
          <p:nvPr/>
        </p:nvSpPr>
        <p:spPr>
          <a:xfrm>
            <a:off x="812800" y="2962970"/>
            <a:ext cx="25638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Nunito Sans" pitchFamily="34" charset="0"/>
                <a:ea typeface="Nunito Sans" pitchFamily="34" charset="-122"/>
                <a:cs typeface="Nunito Sans" pitchFamily="34" charset="-120"/>
              </a:rPr>
              <a:t>2–4 semanas</a:t>
            </a:r>
            <a:endParaRPr lang="en-US" sz="1300" dirty="0"/>
          </a:p>
        </p:txBody>
      </p:sp>
      <p:sp>
        <p:nvSpPr>
          <p:cNvPr id="5" name="Text 2"/>
          <p:cNvSpPr/>
          <p:nvPr/>
        </p:nvSpPr>
        <p:spPr>
          <a:xfrm>
            <a:off x="812800" y="328295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53B"/>
                </a:solidFill>
                <a:latin typeface="Montserrat" pitchFamily="34" charset="0"/>
                <a:ea typeface="Montserrat" pitchFamily="34" charset="-122"/>
                <a:cs typeface="Montserrat" pitchFamily="34" charset="-120"/>
              </a:rPr>
              <a:t>Descoberta</a:t>
            </a:r>
            <a:endParaRPr lang="en-US" sz="2000" dirty="0"/>
          </a:p>
        </p:txBody>
      </p:sp>
      <p:sp>
        <p:nvSpPr>
          <p:cNvPr id="6" name="Text 3"/>
          <p:cNvSpPr/>
          <p:nvPr/>
        </p:nvSpPr>
        <p:spPr>
          <a:xfrm>
            <a:off x="812800" y="3676650"/>
            <a:ext cx="256387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Mapear a agenda, os sistemas e as regras do hospital parceiro</a:t>
            </a:r>
            <a:endParaRPr lang="en-US" sz="1300" dirty="0"/>
          </a:p>
        </p:txBody>
      </p:sp>
      <p:pic>
        <p:nvPicPr>
          <p:cNvPr id="7" name="Image 1" descr="ellipse"/>
          <p:cNvPicPr>
            <a:picLocks noChangeAspect="1"/>
          </p:cNvPicPr>
          <p:nvPr/>
        </p:nvPicPr>
        <p:blipFill>
          <a:blip r:embed="rId4"/>
          <a:srcRect/>
          <a:stretch/>
        </p:blipFill>
        <p:spPr>
          <a:xfrm>
            <a:off x="3505200" y="2569270"/>
            <a:ext cx="304800" cy="304800"/>
          </a:xfrm>
          <a:prstGeom prst="rect">
            <a:avLst/>
          </a:prstGeom>
        </p:spPr>
      </p:pic>
      <p:sp>
        <p:nvSpPr>
          <p:cNvPr id="8" name="Text 4"/>
          <p:cNvSpPr/>
          <p:nvPr/>
        </p:nvSpPr>
        <p:spPr>
          <a:xfrm>
            <a:off x="3505200" y="2962970"/>
            <a:ext cx="25638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Nunito Sans" pitchFamily="34" charset="0"/>
                <a:ea typeface="Nunito Sans" pitchFamily="34" charset="-122"/>
                <a:cs typeface="Nunito Sans" pitchFamily="34" charset="-120"/>
              </a:rPr>
              <a:t>4–8 semanas</a:t>
            </a:r>
            <a:endParaRPr lang="en-US" sz="1300" dirty="0"/>
          </a:p>
        </p:txBody>
      </p:sp>
      <p:sp>
        <p:nvSpPr>
          <p:cNvPr id="9" name="Text 5"/>
          <p:cNvSpPr/>
          <p:nvPr/>
        </p:nvSpPr>
        <p:spPr>
          <a:xfrm>
            <a:off x="3505200" y="328295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53B"/>
                </a:solidFill>
                <a:latin typeface="Montserrat" pitchFamily="34" charset="0"/>
                <a:ea typeface="Montserrat" pitchFamily="34" charset="-122"/>
                <a:cs typeface="Montserrat" pitchFamily="34" charset="-120"/>
              </a:rPr>
              <a:t>Piloto</a:t>
            </a:r>
            <a:endParaRPr lang="en-US" sz="2000" dirty="0"/>
          </a:p>
        </p:txBody>
      </p:sp>
      <p:sp>
        <p:nvSpPr>
          <p:cNvPr id="10" name="Text 6"/>
          <p:cNvSpPr/>
          <p:nvPr/>
        </p:nvSpPr>
        <p:spPr>
          <a:xfrm>
            <a:off x="3505200" y="3676650"/>
            <a:ext cx="256387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Daisy em uma unidade, escopo controlado, no-show e NPS medidos por 90 dias</a:t>
            </a:r>
            <a:endParaRPr lang="en-US" sz="1300" dirty="0"/>
          </a:p>
        </p:txBody>
      </p:sp>
      <p:pic>
        <p:nvPicPr>
          <p:cNvPr id="11" name="Image 2" descr="ellipse"/>
          <p:cNvPicPr>
            <a:picLocks noChangeAspect="1"/>
          </p:cNvPicPr>
          <p:nvPr/>
        </p:nvPicPr>
        <p:blipFill>
          <a:blip r:embed="rId3"/>
          <a:srcRect/>
          <a:stretch/>
        </p:blipFill>
        <p:spPr>
          <a:xfrm>
            <a:off x="6197600" y="2569270"/>
            <a:ext cx="304800" cy="304800"/>
          </a:xfrm>
          <a:prstGeom prst="rect">
            <a:avLst/>
          </a:prstGeom>
        </p:spPr>
      </p:pic>
      <p:sp>
        <p:nvSpPr>
          <p:cNvPr id="12" name="Text 7"/>
          <p:cNvSpPr/>
          <p:nvPr/>
        </p:nvSpPr>
        <p:spPr>
          <a:xfrm>
            <a:off x="6197600" y="2962970"/>
            <a:ext cx="25638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Nunito Sans" pitchFamily="34" charset="0"/>
                <a:ea typeface="Nunito Sans" pitchFamily="34" charset="-122"/>
                <a:cs typeface="Nunito Sans" pitchFamily="34" charset="-120"/>
              </a:rPr>
              <a:t>6–12 semanas</a:t>
            </a:r>
            <a:endParaRPr lang="en-US" sz="1300" dirty="0"/>
          </a:p>
        </p:txBody>
      </p:sp>
      <p:sp>
        <p:nvSpPr>
          <p:cNvPr id="13" name="Text 8"/>
          <p:cNvSpPr/>
          <p:nvPr/>
        </p:nvSpPr>
        <p:spPr>
          <a:xfrm>
            <a:off x="6197600" y="328295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53B"/>
                </a:solidFill>
                <a:latin typeface="Montserrat" pitchFamily="34" charset="0"/>
                <a:ea typeface="Montserrat" pitchFamily="34" charset="-122"/>
                <a:cs typeface="Montserrat" pitchFamily="34" charset="-120"/>
              </a:rPr>
              <a:t>Integração</a:t>
            </a:r>
            <a:endParaRPr lang="en-US" sz="2000" dirty="0"/>
          </a:p>
        </p:txBody>
      </p:sp>
      <p:sp>
        <p:nvSpPr>
          <p:cNvPr id="14" name="Text 9"/>
          <p:cNvSpPr/>
          <p:nvPr/>
        </p:nvSpPr>
        <p:spPr>
          <a:xfrm>
            <a:off x="6197600" y="3676650"/>
            <a:ext cx="256387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APIs oficiais, login corporativo, segredos e monitoramento</a:t>
            </a:r>
            <a:endParaRPr lang="en-US" sz="1300" dirty="0"/>
          </a:p>
        </p:txBody>
      </p:sp>
      <p:pic>
        <p:nvPicPr>
          <p:cNvPr id="15" name="Image 3" descr="ellipse"/>
          <p:cNvPicPr>
            <a:picLocks noChangeAspect="1"/>
          </p:cNvPicPr>
          <p:nvPr/>
        </p:nvPicPr>
        <p:blipFill>
          <a:blip r:embed="rId3"/>
          <a:srcRect/>
          <a:stretch/>
        </p:blipFill>
        <p:spPr>
          <a:xfrm>
            <a:off x="8890000" y="2569270"/>
            <a:ext cx="304800" cy="304800"/>
          </a:xfrm>
          <a:prstGeom prst="rect">
            <a:avLst/>
          </a:prstGeom>
        </p:spPr>
      </p:pic>
      <p:sp>
        <p:nvSpPr>
          <p:cNvPr id="16" name="Text 10"/>
          <p:cNvSpPr/>
          <p:nvPr/>
        </p:nvSpPr>
        <p:spPr>
          <a:xfrm>
            <a:off x="8890000" y="2962970"/>
            <a:ext cx="25638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BD6"/>
                </a:solidFill>
                <a:latin typeface="Nunito Sans" pitchFamily="34" charset="0"/>
                <a:ea typeface="Nunito Sans" pitchFamily="34" charset="-122"/>
                <a:cs typeface="Nunito Sans" pitchFamily="34" charset="-120"/>
              </a:rPr>
              <a:t>Contínuo</a:t>
            </a:r>
            <a:endParaRPr lang="en-US" sz="1300" dirty="0"/>
          </a:p>
        </p:txBody>
      </p:sp>
      <p:sp>
        <p:nvSpPr>
          <p:cNvPr id="17" name="Text 11"/>
          <p:cNvSpPr/>
          <p:nvPr/>
        </p:nvSpPr>
        <p:spPr>
          <a:xfrm>
            <a:off x="8890000" y="328295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53B"/>
                </a:solidFill>
                <a:latin typeface="Montserrat" pitchFamily="34" charset="0"/>
                <a:ea typeface="Montserrat" pitchFamily="34" charset="-122"/>
                <a:cs typeface="Montserrat" pitchFamily="34" charset="-120"/>
              </a:rPr>
              <a:t>Escala</a:t>
            </a:r>
            <a:endParaRPr lang="en-US" sz="2000" dirty="0"/>
          </a:p>
        </p:txBody>
      </p:sp>
      <p:sp>
        <p:nvSpPr>
          <p:cNvPr id="18" name="Text 12"/>
          <p:cNvSpPr/>
          <p:nvPr/>
        </p:nvSpPr>
        <p:spPr>
          <a:xfrm>
            <a:off x="8890000" y="3676650"/>
            <a:ext cx="256387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Mais unidades e especialidades, com observabilidade</a:t>
            </a:r>
            <a:endParaRPr lang="en-US" sz="1300" dirty="0"/>
          </a:p>
        </p:txBody>
      </p:sp>
      <p:pic>
        <p:nvPicPr>
          <p:cNvPr id="19" name="Image 4" descr="line"/>
          <p:cNvPicPr>
            <a:picLocks noChangeAspect="1"/>
          </p:cNvPicPr>
          <p:nvPr/>
        </p:nvPicPr>
        <p:blipFill>
          <a:blip r:embed="rId5"/>
          <a:srcRect/>
          <a:stretch/>
        </p:blipFill>
        <p:spPr>
          <a:xfrm>
            <a:off x="965200" y="2708970"/>
            <a:ext cx="10160000" cy="50800"/>
          </a:xfrm>
          <a:prstGeom prst="rect">
            <a:avLst/>
          </a:prstGeom>
        </p:spPr>
      </p:pic>
      <p:sp>
        <p:nvSpPr>
          <p:cNvPr id="20" name="Text 13"/>
          <p:cNvSpPr/>
          <p:nvPr/>
        </p:nvSpPr>
        <p:spPr>
          <a:xfrm>
            <a:off x="812800" y="5232400"/>
            <a:ext cx="10566400" cy="812800"/>
          </a:xfrm>
          <a:prstGeom prst="roundRect">
            <a:avLst>
              <a:gd name="adj" fmla="val 18750"/>
            </a:avLst>
          </a:prstGeom>
          <a:solidFill>
            <a:srgbClr val="6D3AE8"/>
          </a:solidFill>
          <a:ln/>
        </p:spPr>
        <p:txBody>
          <a:bodyPr wrap="square" lIns="260164" tIns="183964" rIns="0" bIns="158564" rtlCol="0" anchor="t">
            <a:normAutofit/>
          </a:bodyPr>
          <a:lstStyle/>
          <a:p>
            <a:pPr marL="0" indent="0" algn="l">
              <a:lnSpc>
                <a:spcPts val="2800"/>
              </a:lnSpc>
              <a:buNone/>
            </a:pPr>
            <a:r>
              <a:rPr lang="en-US" sz="2000" b="1" dirty="0">
                <a:solidFill>
                  <a:srgbClr val="FBFAFF"/>
                </a:solidFill>
                <a:latin typeface="Montserrat" pitchFamily="34" charset="0"/>
                <a:ea typeface="Montserrat" pitchFamily="34" charset="-122"/>
                <a:cs typeface="Montserrat" pitchFamily="34" charset="-120"/>
              </a:rPr>
              <a:t>Consulta cancelada não é perdida. </a:t>
            </a:r>
            <a:r>
              <a:rPr lang="en-US" sz="2000" b="1" dirty="0">
                <a:solidFill>
                  <a:srgbClr val="D6CDF7"/>
                </a:solidFill>
                <a:latin typeface="Montserrat" pitchFamily="34" charset="0"/>
                <a:ea typeface="Montserrat" pitchFamily="34" charset="-122"/>
                <a:cs typeface="Montserrat" pitchFamily="34" charset="-120"/>
              </a:rPr>
              <a:t>É vaga para outro paciente.</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BFA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BFAFF"/>
              </a:gs>
              <a:gs pos="60000">
                <a:srgbClr val="F1ECFE"/>
              </a:gs>
              <a:gs pos="100000">
                <a:srgbClr val="E7DFFC"/>
              </a:gs>
            </a:gsLst>
            <a:lin ang="1800000" scaled="0"/>
          </a:gradFill>
          <a:ln/>
        </p:spPr>
        <p:txBody>
          <a:bodyPr/>
          <a:lstStyle/>
          <a:p>
            <a:endParaRPr lang="pt-BR"/>
          </a:p>
        </p:txBody>
      </p:sp>
      <p:pic>
        <p:nvPicPr>
          <p:cNvPr id="3" name="Image 0" descr="Daisy acenando dentro de um anel de luz lilás"/>
          <p:cNvPicPr>
            <a:picLocks noChangeAspect="1"/>
          </p:cNvPicPr>
          <p:nvPr/>
        </p:nvPicPr>
        <p:blipFill>
          <a:blip r:embed="rId3"/>
          <a:srcRect/>
          <a:stretch/>
        </p:blipFill>
        <p:spPr>
          <a:xfrm>
            <a:off x="812800" y="1206500"/>
            <a:ext cx="5334000" cy="4445000"/>
          </a:xfrm>
          <a:prstGeom prst="rect">
            <a:avLst/>
          </a:prstGeom>
        </p:spPr>
      </p:pic>
      <p:sp>
        <p:nvSpPr>
          <p:cNvPr id="4" name="Text 1"/>
          <p:cNvSpPr>
            <a:spLocks noGrp="1"/>
          </p:cNvSpPr>
          <p:nvPr>
            <p:ph type="title"/>
          </p:nvPr>
        </p:nvSpPr>
        <p:spPr>
          <a:xfrm>
            <a:off x="6604000" y="1740098"/>
            <a:ext cx="4918456" cy="1533922"/>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7153B"/>
                </a:solidFill>
                <a:latin typeface="Montserrat" pitchFamily="34" charset="0"/>
                <a:ea typeface="Montserrat" pitchFamily="34" charset="-122"/>
                <a:cs typeface="Montserrat" pitchFamily="34" charset="-120"/>
              </a:rPr>
              <a:t>Tecnologia em saúde </a:t>
            </a:r>
            <a:r>
              <a:rPr lang="en-US" sz="3600" b="1" i="0" kern="0" spc="-50" dirty="0">
                <a:solidFill>
                  <a:srgbClr val="6D3AE8"/>
                </a:solidFill>
                <a:latin typeface="Montserrat" pitchFamily="34" charset="0"/>
                <a:ea typeface="Montserrat" pitchFamily="34" charset="-122"/>
                <a:cs typeface="Montserrat" pitchFamily="34" charset="-120"/>
              </a:rPr>
              <a:t>não precisa ser fria.</a:t>
            </a:r>
            <a:endParaRPr lang="en-US" sz="3600" dirty="0"/>
          </a:p>
        </p:txBody>
      </p:sp>
      <p:sp>
        <p:nvSpPr>
          <p:cNvPr id="5" name="Text 2"/>
          <p:cNvSpPr/>
          <p:nvPr/>
        </p:nvSpPr>
        <p:spPr>
          <a:xfrm>
            <a:off x="6604000" y="3451820"/>
            <a:ext cx="4918456" cy="1203722"/>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4870"/>
                </a:solidFill>
                <a:latin typeface="Nunito Sans" pitchFamily="34" charset="0"/>
                <a:ea typeface="Nunito Sans" pitchFamily="34" charset="-122"/>
                <a:cs typeface="Nunito Sans" pitchFamily="34" charset="-120"/>
              </a:rPr>
              <a:t>Com automação, dados estruturados e empatia, a DaisyCare organiza a jornada para que a operação tenha previsibilidade e o paciente receba o cuidado na hora certa.</a:t>
            </a:r>
            <a:endParaRPr lang="en-US" sz="1600" dirty="0"/>
          </a:p>
        </p:txBody>
      </p:sp>
      <p:sp>
        <p:nvSpPr>
          <p:cNvPr id="6" name="Text 3"/>
          <p:cNvSpPr/>
          <p:nvPr/>
        </p:nvSpPr>
        <p:spPr>
          <a:xfrm>
            <a:off x="6604000" y="4833342"/>
            <a:ext cx="491845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2BD6"/>
                </a:solidFill>
                <a:latin typeface="Montserrat" pitchFamily="34" charset="0"/>
                <a:ea typeface="Montserrat" pitchFamily="34" charset="-122"/>
                <a:cs typeface="Montserrat" pitchFamily="34" charset="-120"/>
              </a:rPr>
              <a:t>Obrigado.</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251A4D"/>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51A4D"/>
              </a:gs>
              <a:gs pos="100000">
                <a:srgbClr val="1B1338"/>
              </a:gs>
            </a:gsLst>
            <a:lin ang="2700000" scaled="0"/>
          </a:gradFill>
          <a:ln/>
        </p:spPr>
        <p:txBody>
          <a:bodyPr/>
          <a:lstStyle/>
          <a:p>
            <a:endParaRPr lang="pt-BR"/>
          </a:p>
        </p:txBody>
      </p:sp>
      <p:sp>
        <p:nvSpPr>
          <p:cNvPr id="3" name="Text 1"/>
          <p:cNvSpPr/>
          <p:nvPr/>
        </p:nvSpPr>
        <p:spPr>
          <a:xfrm>
            <a:off x="812800" y="449589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9A6F4"/>
                </a:solidFill>
                <a:latin typeface="Montserrat" pitchFamily="34" charset="0"/>
                <a:ea typeface="Montserrat" pitchFamily="34" charset="-122"/>
                <a:cs typeface="Montserrat" pitchFamily="34" charset="-120"/>
              </a:rPr>
              <a:t>PARA AS PERGUNTAS DA BANCA</a:t>
            </a:r>
            <a:endParaRPr lang="en-US" sz="1200" dirty="0"/>
          </a:p>
        </p:txBody>
      </p:sp>
      <p:sp>
        <p:nvSpPr>
          <p:cNvPr id="4" name="Text 2"/>
          <p:cNvSpPr>
            <a:spLocks noGrp="1"/>
          </p:cNvSpPr>
          <p:nvPr>
            <p:ph type="title"/>
          </p:nvPr>
        </p:nvSpPr>
        <p:spPr>
          <a:xfrm>
            <a:off x="812800" y="4836220"/>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i="0" kern="0" spc="-150" dirty="0">
                <a:solidFill>
                  <a:srgbClr val="FBFAFF"/>
                </a:solidFill>
                <a:latin typeface="Montserrat" pitchFamily="34" charset="0"/>
                <a:ea typeface="Montserrat" pitchFamily="34" charset="-122"/>
                <a:cs typeface="Montserrat" pitchFamily="34" charset="-120"/>
              </a:rPr>
              <a:t>Apêndice</a:t>
            </a:r>
            <a:endParaRPr lang="en-US" sz="6000" dirty="0"/>
          </a:p>
        </p:txBody>
      </p:sp>
      <p:sp>
        <p:nvSpPr>
          <p:cNvPr id="5" name="Text 3"/>
          <p:cNvSpPr/>
          <p:nvPr/>
        </p:nvSpPr>
        <p:spPr>
          <a:xfrm>
            <a:off x="812800" y="572522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B8FF"/>
                </a:solidFill>
                <a:latin typeface="Nunito Sans" pitchFamily="34" charset="0"/>
                <a:ea typeface="Nunito Sans" pitchFamily="34" charset="-122"/>
                <a:cs typeface="Nunito Sans" pitchFamily="34" charset="-120"/>
              </a:rPr>
              <a:t>IA preditiva, dados e escala, contingência</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1F164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FBFAFF"/>
                </a:solidFill>
                <a:latin typeface="Montserrat" pitchFamily="34" charset="0"/>
                <a:ea typeface="Montserrat" pitchFamily="34" charset="-122"/>
                <a:cs typeface="Montserrat" pitchFamily="34" charset="-120"/>
              </a:rPr>
              <a:t>IA preditiva onde faz sentido, e apenas onde faz</a:t>
            </a:r>
            <a:endParaRPr lang="en-US" sz="3000" dirty="0"/>
          </a:p>
        </p:txBody>
      </p:sp>
      <p:sp>
        <p:nvSpPr>
          <p:cNvPr id="3" name="Shape 1"/>
          <p:cNvSpPr/>
          <p:nvPr/>
        </p:nvSpPr>
        <p:spPr>
          <a:xfrm>
            <a:off x="812800" y="1587500"/>
            <a:ext cx="5105400" cy="1399381"/>
          </a:xfrm>
          <a:prstGeom prst="roundRect">
            <a:avLst>
              <a:gd name="adj" fmla="val 10891"/>
            </a:avLst>
          </a:prstGeom>
          <a:solidFill>
            <a:srgbClr val="2E2160"/>
          </a:solidFill>
          <a:ln/>
        </p:spPr>
        <p:txBody>
          <a:bodyPr/>
          <a:lstStyle/>
          <a:p>
            <a:endParaRPr lang="pt-BR"/>
          </a:p>
        </p:txBody>
      </p:sp>
      <p:sp>
        <p:nvSpPr>
          <p:cNvPr id="4" name="Text 2"/>
          <p:cNvSpPr/>
          <p:nvPr/>
        </p:nvSpPr>
        <p:spPr>
          <a:xfrm>
            <a:off x="1041400" y="1790700"/>
            <a:ext cx="478764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B8FF"/>
                </a:solidFill>
                <a:latin typeface="Nunito Sans" pitchFamily="34" charset="0"/>
                <a:ea typeface="Nunito Sans" pitchFamily="34" charset="-122"/>
                <a:cs typeface="Nunito Sans" pitchFamily="34" charset="-120"/>
              </a:rPr>
              <a:t>Base treinada</a:t>
            </a:r>
            <a:endParaRPr lang="en-US" sz="1300" dirty="0"/>
          </a:p>
        </p:txBody>
      </p:sp>
      <p:sp>
        <p:nvSpPr>
          <p:cNvPr id="5" name="Text 3"/>
          <p:cNvSpPr/>
          <p:nvPr/>
        </p:nvSpPr>
        <p:spPr>
          <a:xfrm>
            <a:off x="1041400" y="2047180"/>
            <a:ext cx="4787646" cy="505420"/>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FBFAFF"/>
                </a:solidFill>
                <a:latin typeface="Montserrat" pitchFamily="34" charset="0"/>
                <a:ea typeface="Montserrat" pitchFamily="34" charset="-122"/>
                <a:cs typeface="Montserrat" pitchFamily="34" charset="-120"/>
              </a:rPr>
              <a:t>~200 mil</a:t>
            </a:r>
            <a:endParaRPr lang="en-US" sz="3600" dirty="0"/>
          </a:p>
        </p:txBody>
      </p:sp>
      <p:sp>
        <p:nvSpPr>
          <p:cNvPr id="6" name="Text 4"/>
          <p:cNvSpPr/>
          <p:nvPr/>
        </p:nvSpPr>
        <p:spPr>
          <a:xfrm>
            <a:off x="1041400" y="2552601"/>
            <a:ext cx="478764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B8FF"/>
                </a:solidFill>
                <a:latin typeface="Nunito Sans" pitchFamily="34" charset="0"/>
                <a:ea typeface="Nunito Sans" pitchFamily="34" charset="-122"/>
                <a:cs typeface="Nunito Sans" pitchFamily="34" charset="-120"/>
              </a:rPr>
              <a:t>agendamentos</a:t>
            </a:r>
            <a:endParaRPr lang="en-US" sz="1300" dirty="0"/>
          </a:p>
        </p:txBody>
      </p:sp>
      <p:sp>
        <p:nvSpPr>
          <p:cNvPr id="7" name="Shape 5"/>
          <p:cNvSpPr/>
          <p:nvPr/>
        </p:nvSpPr>
        <p:spPr>
          <a:xfrm>
            <a:off x="812800" y="3164681"/>
            <a:ext cx="2463800" cy="1142901"/>
          </a:xfrm>
          <a:prstGeom prst="roundRect">
            <a:avLst>
              <a:gd name="adj" fmla="val 13334"/>
            </a:avLst>
          </a:prstGeom>
          <a:solidFill>
            <a:srgbClr val="2E2160"/>
          </a:solidFill>
          <a:ln/>
        </p:spPr>
        <p:txBody>
          <a:bodyPr/>
          <a:lstStyle/>
          <a:p>
            <a:endParaRPr lang="pt-BR"/>
          </a:p>
        </p:txBody>
      </p:sp>
      <p:sp>
        <p:nvSpPr>
          <p:cNvPr id="8" name="Text 6"/>
          <p:cNvSpPr/>
          <p:nvPr/>
        </p:nvSpPr>
        <p:spPr>
          <a:xfrm>
            <a:off x="1041400" y="3367881"/>
            <a:ext cx="206679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B8FF"/>
                </a:solidFill>
                <a:latin typeface="Nunito Sans" pitchFamily="34" charset="0"/>
                <a:ea typeface="Nunito Sans" pitchFamily="34" charset="-122"/>
                <a:cs typeface="Nunito Sans" pitchFamily="34" charset="-120"/>
              </a:rPr>
              <a:t>AUC</a:t>
            </a:r>
            <a:endParaRPr lang="en-US" sz="1300" dirty="0"/>
          </a:p>
        </p:txBody>
      </p:sp>
      <p:sp>
        <p:nvSpPr>
          <p:cNvPr id="9" name="Text 7"/>
          <p:cNvSpPr/>
          <p:nvPr/>
        </p:nvSpPr>
        <p:spPr>
          <a:xfrm>
            <a:off x="1041400" y="3624362"/>
            <a:ext cx="2066798" cy="505420"/>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FBFAFF"/>
                </a:solidFill>
                <a:latin typeface="Montserrat" pitchFamily="34" charset="0"/>
                <a:ea typeface="Montserrat" pitchFamily="34" charset="-122"/>
                <a:cs typeface="Montserrat" pitchFamily="34" charset="-120"/>
              </a:rPr>
              <a:t>0,708</a:t>
            </a:r>
            <a:endParaRPr lang="en-US" sz="3600" dirty="0"/>
          </a:p>
        </p:txBody>
      </p:sp>
      <p:sp>
        <p:nvSpPr>
          <p:cNvPr id="10" name="Shape 8"/>
          <p:cNvSpPr/>
          <p:nvPr/>
        </p:nvSpPr>
        <p:spPr>
          <a:xfrm>
            <a:off x="3454400" y="3164681"/>
            <a:ext cx="2463800" cy="1142901"/>
          </a:xfrm>
          <a:prstGeom prst="roundRect">
            <a:avLst>
              <a:gd name="adj" fmla="val 13334"/>
            </a:avLst>
          </a:prstGeom>
          <a:solidFill>
            <a:srgbClr val="2E2160"/>
          </a:solidFill>
          <a:ln/>
        </p:spPr>
        <p:txBody>
          <a:bodyPr/>
          <a:lstStyle/>
          <a:p>
            <a:endParaRPr lang="pt-BR"/>
          </a:p>
        </p:txBody>
      </p:sp>
      <p:sp>
        <p:nvSpPr>
          <p:cNvPr id="11" name="Text 9"/>
          <p:cNvSpPr/>
          <p:nvPr/>
        </p:nvSpPr>
        <p:spPr>
          <a:xfrm>
            <a:off x="3683000" y="3367881"/>
            <a:ext cx="206679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B8FF"/>
                </a:solidFill>
                <a:latin typeface="Nunito Sans" pitchFamily="34" charset="0"/>
                <a:ea typeface="Nunito Sans" pitchFamily="34" charset="-122"/>
                <a:cs typeface="Nunito Sans" pitchFamily="34" charset="-120"/>
              </a:rPr>
              <a:t>F1-score</a:t>
            </a:r>
            <a:endParaRPr lang="en-US" sz="1300" dirty="0"/>
          </a:p>
        </p:txBody>
      </p:sp>
      <p:sp>
        <p:nvSpPr>
          <p:cNvPr id="12" name="Text 10"/>
          <p:cNvSpPr/>
          <p:nvPr/>
        </p:nvSpPr>
        <p:spPr>
          <a:xfrm>
            <a:off x="3683000" y="3624362"/>
            <a:ext cx="2066798" cy="505420"/>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FBFAFF"/>
                </a:solidFill>
                <a:latin typeface="Montserrat" pitchFamily="34" charset="0"/>
                <a:ea typeface="Montserrat" pitchFamily="34" charset="-122"/>
                <a:cs typeface="Montserrat" pitchFamily="34" charset="-120"/>
              </a:rPr>
              <a:t>0,702</a:t>
            </a:r>
            <a:endParaRPr lang="en-US" sz="3600" dirty="0"/>
          </a:p>
        </p:txBody>
      </p:sp>
      <p:sp>
        <p:nvSpPr>
          <p:cNvPr id="13" name="Shape 11"/>
          <p:cNvSpPr/>
          <p:nvPr/>
        </p:nvSpPr>
        <p:spPr>
          <a:xfrm>
            <a:off x="6292850" y="1587500"/>
            <a:ext cx="0" cy="810121"/>
          </a:xfrm>
          <a:prstGeom prst="line">
            <a:avLst/>
          </a:prstGeom>
          <a:noFill/>
          <a:ln w="38100">
            <a:solidFill>
              <a:srgbClr val="B9A6F4"/>
            </a:solidFill>
            <a:prstDash val="solid"/>
          </a:ln>
        </p:spPr>
        <p:txBody>
          <a:bodyPr/>
          <a:lstStyle/>
          <a:p>
            <a:endParaRPr lang="pt-BR"/>
          </a:p>
        </p:txBody>
      </p:sp>
      <p:sp>
        <p:nvSpPr>
          <p:cNvPr id="14" name="Text 12"/>
          <p:cNvSpPr/>
          <p:nvPr/>
        </p:nvSpPr>
        <p:spPr>
          <a:xfrm>
            <a:off x="6489700" y="1612900"/>
            <a:ext cx="503618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Apoio, não substituição</a:t>
            </a:r>
            <a:endParaRPr lang="en-US" sz="1700" dirty="0"/>
          </a:p>
        </p:txBody>
      </p:sp>
      <p:sp>
        <p:nvSpPr>
          <p:cNvPr id="15" name="Text 13"/>
          <p:cNvSpPr/>
          <p:nvPr/>
        </p:nvSpPr>
        <p:spPr>
          <a:xfrm>
            <a:off x="6489700" y="1910060"/>
            <a:ext cx="503618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O modelo não decide quem vai faltar: ordena o risco para priorizar o contato preventivo</a:t>
            </a:r>
            <a:endParaRPr lang="en-US" sz="1300" dirty="0"/>
          </a:p>
        </p:txBody>
      </p:sp>
      <p:sp>
        <p:nvSpPr>
          <p:cNvPr id="16" name="Shape 14"/>
          <p:cNvSpPr/>
          <p:nvPr/>
        </p:nvSpPr>
        <p:spPr>
          <a:xfrm>
            <a:off x="6292850" y="2550021"/>
            <a:ext cx="0" cy="810121"/>
          </a:xfrm>
          <a:prstGeom prst="line">
            <a:avLst/>
          </a:prstGeom>
          <a:noFill/>
          <a:ln w="38100">
            <a:solidFill>
              <a:srgbClr val="B9A6F4"/>
            </a:solidFill>
            <a:prstDash val="solid"/>
          </a:ln>
        </p:spPr>
        <p:txBody>
          <a:bodyPr/>
          <a:lstStyle/>
          <a:p>
            <a:endParaRPr lang="pt-BR"/>
          </a:p>
        </p:txBody>
      </p:sp>
      <p:sp>
        <p:nvSpPr>
          <p:cNvPr id="17" name="Text 15"/>
          <p:cNvSpPr/>
          <p:nvPr/>
        </p:nvSpPr>
        <p:spPr>
          <a:xfrm>
            <a:off x="6489700" y="2575421"/>
            <a:ext cx="503618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Soberania humana</a:t>
            </a:r>
            <a:endParaRPr lang="en-US" sz="1700" dirty="0"/>
          </a:p>
        </p:txBody>
      </p:sp>
      <p:sp>
        <p:nvSpPr>
          <p:cNvPr id="18" name="Text 16"/>
          <p:cNvSpPr/>
          <p:nvPr/>
        </p:nvSpPr>
        <p:spPr>
          <a:xfrm>
            <a:off x="6489700" y="2872581"/>
            <a:ext cx="503618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Limites e prioridades calibrados com o hospital; a decisão assistencial continua humana</a:t>
            </a:r>
            <a:endParaRPr lang="en-US" sz="1300" dirty="0"/>
          </a:p>
        </p:txBody>
      </p:sp>
      <p:sp>
        <p:nvSpPr>
          <p:cNvPr id="19" name="Shape 17"/>
          <p:cNvSpPr/>
          <p:nvPr/>
        </p:nvSpPr>
        <p:spPr>
          <a:xfrm>
            <a:off x="6292850" y="3512542"/>
            <a:ext cx="0" cy="810121"/>
          </a:xfrm>
          <a:prstGeom prst="line">
            <a:avLst/>
          </a:prstGeom>
          <a:noFill/>
          <a:ln w="38100">
            <a:solidFill>
              <a:srgbClr val="B9A6F4"/>
            </a:solidFill>
            <a:prstDash val="solid"/>
          </a:ln>
        </p:spPr>
        <p:txBody>
          <a:bodyPr/>
          <a:lstStyle/>
          <a:p>
            <a:endParaRPr lang="pt-BR"/>
          </a:p>
        </p:txBody>
      </p:sp>
      <p:sp>
        <p:nvSpPr>
          <p:cNvPr id="20" name="Text 18"/>
          <p:cNvSpPr/>
          <p:nvPr/>
        </p:nvSpPr>
        <p:spPr>
          <a:xfrm>
            <a:off x="6489700" y="3537942"/>
            <a:ext cx="503618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Explicabilidade</a:t>
            </a:r>
            <a:endParaRPr lang="en-US" sz="1700" dirty="0"/>
          </a:p>
        </p:txBody>
      </p:sp>
      <p:sp>
        <p:nvSpPr>
          <p:cNvPr id="21" name="Text 19"/>
          <p:cNvSpPr/>
          <p:nvPr/>
        </p:nvSpPr>
        <p:spPr>
          <a:xfrm>
            <a:off x="6489700" y="3835102"/>
            <a:ext cx="503618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Desempenho e desvio monitorados, sem automatizar decisões clínicas às cegas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6F3F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17153B"/>
                </a:solidFill>
                <a:latin typeface="Montserrat" pitchFamily="34" charset="0"/>
                <a:ea typeface="Montserrat" pitchFamily="34" charset="-122"/>
                <a:cs typeface="Montserrat" pitchFamily="34" charset="-120"/>
              </a:rPr>
              <a:t>Mantemos o CRM do cliente: cada banco tem um papel, não uma cópia</a:t>
            </a:r>
            <a:endParaRPr lang="en-US" sz="3000" dirty="0"/>
          </a:p>
        </p:txBody>
      </p:sp>
      <p:sp>
        <p:nvSpPr>
          <p:cNvPr id="3" name="Shape 1"/>
          <p:cNvSpPr/>
          <p:nvPr/>
        </p:nvSpPr>
        <p:spPr>
          <a:xfrm>
            <a:off x="812800" y="1955800"/>
            <a:ext cx="10566400" cy="2054225"/>
          </a:xfrm>
          <a:prstGeom prst="rect">
            <a:avLst/>
          </a:prstGeom>
          <a:solidFill>
            <a:srgbClr val="FDFCFF"/>
          </a:solidFill>
          <a:ln/>
        </p:spPr>
        <p:txBody>
          <a:bodyPr/>
          <a:lstStyle/>
          <a:p>
            <a:endParaRPr lang="pt-B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8500"/>
          <a:ext cx="10553700" cy="2041525"/>
        </p:xfrm>
        <a:graphic>
          <a:graphicData uri="http://schemas.openxmlformats.org/drawingml/2006/table">
            <a:tbl>
              <a:tblPr/>
              <a:tblGrid>
                <a:gridCol w="2321814">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26234F"/>
                          </a:solidFill>
                          <a:latin typeface="Nunito Sans" pitchFamily="34" charset="0"/>
                          <a:ea typeface="Nunito Sans" pitchFamily="34" charset="-122"/>
                          <a:cs typeface="Nunito Sans" pitchFamily="34" charset="-120"/>
                        </a:rPr>
                        <a:t>Onde</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BBBABC"/>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BBBABC"/>
                      </a:solidFill>
                      <a:prstDash val="solid"/>
                      <a:round/>
                      <a:headEnd type="none" w="med" len="med"/>
                      <a:tailEnd type="none" w="med" len="med"/>
                    </a:lnB>
                    <a:solidFill>
                      <a:srgbClr val="EAE9EC"/>
                    </a:solidFill>
                  </a:tcPr>
                </a:tc>
                <a:tc>
                  <a:txBody>
                    <a:bodyPr/>
                    <a:lstStyle/>
                    <a:p>
                      <a:pPr marL="0" indent="0">
                        <a:lnSpc>
                          <a:spcPts val="1960"/>
                        </a:lnSpc>
                        <a:buNone/>
                      </a:pPr>
                      <a:r>
                        <a:rPr lang="en-US" sz="1400" b="1" dirty="0">
                          <a:solidFill>
                            <a:srgbClr val="26234F"/>
                          </a:solidFill>
                          <a:latin typeface="Nunito Sans" pitchFamily="34" charset="0"/>
                          <a:ea typeface="Nunito Sans" pitchFamily="34" charset="-122"/>
                          <a:cs typeface="Nunito Sans" pitchFamily="34" charset="-120"/>
                        </a:rPr>
                        <a:t>O que guarda</a:t>
                      </a:r>
                      <a:endParaRPr lang="en-US" sz="1400" dirty="0">
                        <a:latin typeface="Nunito Sans" charset="0"/>
                        <a:ea typeface="Nunito Sans" charset="0"/>
                        <a:cs typeface="Nunito Sans" charset="0"/>
                      </a:endParaRPr>
                    </a:p>
                  </a:txBody>
                  <a:tcPr marL="62230" marR="62230" marT="62230" marB="62230">
                    <a:lnL w="12700" cap="flat" cmpd="sng" algn="ctr">
                      <a:solidFill>
                        <a:srgbClr val="BBBABC"/>
                      </a:solidFill>
                      <a:prstDash val="solid"/>
                      <a:round/>
                      <a:headEnd type="none" w="med" len="med"/>
                      <a:tailEnd type="none" w="med" len="med"/>
                    </a:lnL>
                    <a:lnR w="12700" cap="flat" cmpd="sng" algn="ctr">
                      <a:solidFill>
                        <a:srgbClr val="BBBABC"/>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BBBABC"/>
                      </a:solidFill>
                      <a:prstDash val="solid"/>
                      <a:round/>
                      <a:headEnd type="none" w="med" len="med"/>
                      <a:tailEnd type="none" w="med" len="med"/>
                    </a:lnB>
                    <a:solidFill>
                      <a:srgbClr val="EAE9EC"/>
                    </a:solidFill>
                  </a:tcPr>
                </a:tc>
                <a:tc>
                  <a:txBody>
                    <a:bodyPr/>
                    <a:lstStyle/>
                    <a:p>
                      <a:pPr marL="0" indent="0">
                        <a:lnSpc>
                          <a:spcPts val="1960"/>
                        </a:lnSpc>
                        <a:buNone/>
                      </a:pPr>
                      <a:r>
                        <a:rPr lang="en-US" sz="1400" b="1" dirty="0">
                          <a:solidFill>
                            <a:srgbClr val="26234F"/>
                          </a:solidFill>
                          <a:latin typeface="Nunito Sans" pitchFamily="34" charset="0"/>
                          <a:ea typeface="Nunito Sans" pitchFamily="34" charset="-122"/>
                          <a:cs typeface="Nunito Sans" pitchFamily="34" charset="-120"/>
                        </a:rPr>
                        <a:t>Quem grava</a:t>
                      </a:r>
                      <a:endParaRPr lang="en-US" sz="1400" dirty="0">
                        <a:latin typeface="Nunito Sans" charset="0"/>
                        <a:ea typeface="Nunito Sans" charset="0"/>
                        <a:cs typeface="Nunito Sans" charset="0"/>
                      </a:endParaRPr>
                    </a:p>
                  </a:txBody>
                  <a:tcPr marL="62230" marR="62230" marT="62230" marB="62230">
                    <a:lnL w="12700" cap="flat" cmpd="sng" algn="ctr">
                      <a:solidFill>
                        <a:srgbClr val="BBBABC"/>
                      </a:solidFill>
                      <a:prstDash val="solid"/>
                      <a:round/>
                      <a:headEnd type="none" w="med" len="med"/>
                      <a:tailEnd type="none" w="med" len="med"/>
                    </a:lnL>
                    <a:lnR w="12700" cap="flat" cmpd="sng" algn="ctr">
                      <a:solidFill>
                        <a:srgbClr val="BBBABC"/>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BBBABC"/>
                      </a:solidFill>
                      <a:prstDash val="solid"/>
                      <a:round/>
                      <a:headEnd type="none" w="med" len="med"/>
                      <a:tailEnd type="none" w="med" len="med"/>
                    </a:lnB>
                    <a:solidFill>
                      <a:srgbClr val="EAE9EC"/>
                    </a:solidFill>
                  </a:tcPr>
                </a:tc>
                <a:tc>
                  <a:txBody>
                    <a:bodyPr/>
                    <a:lstStyle/>
                    <a:p>
                      <a:pPr marL="0" indent="0">
                        <a:lnSpc>
                          <a:spcPts val="1960"/>
                        </a:lnSpc>
                        <a:buNone/>
                      </a:pPr>
                      <a:r>
                        <a:rPr lang="en-US" sz="1400" b="1" dirty="0">
                          <a:solidFill>
                            <a:srgbClr val="26234F"/>
                          </a:solidFill>
                          <a:latin typeface="Nunito Sans" pitchFamily="34" charset="0"/>
                          <a:ea typeface="Nunito Sans" pitchFamily="34" charset="-122"/>
                          <a:cs typeface="Nunito Sans" pitchFamily="34" charset="-120"/>
                        </a:rPr>
                        <a:t>Quem lê</a:t>
                      </a:r>
                      <a:endParaRPr lang="en-US" sz="1400" dirty="0">
                        <a:latin typeface="Nunito Sans" charset="0"/>
                        <a:ea typeface="Nunito Sans" charset="0"/>
                        <a:cs typeface="Nunito Sans" charset="0"/>
                      </a:endParaRPr>
                    </a:p>
                  </a:txBody>
                  <a:tcPr marL="62230" marR="62230" marT="62230" marB="62230">
                    <a:lnL w="12700" cap="flat" cmpd="sng" algn="ctr">
                      <a:solidFill>
                        <a:srgbClr val="BBBABC"/>
                      </a:solidFill>
                      <a:prstDash val="solid"/>
                      <a:round/>
                      <a:headEnd type="none" w="med" len="med"/>
                      <a:tailEnd type="none" w="med" len="med"/>
                    </a:lnL>
                    <a:lnR w="12700" cap="flat" cmpd="sng" algn="ctr">
                      <a:solidFill>
                        <a:srgbClr val="BBBABC"/>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BBBABC"/>
                      </a:solidFill>
                      <a:prstDash val="solid"/>
                      <a:round/>
                      <a:headEnd type="none" w="med" len="med"/>
                      <a:tailEnd type="none" w="med" len="med"/>
                    </a:lnB>
                    <a:solidFill>
                      <a:srgbClr val="EAE9EC"/>
                    </a:solidFill>
                  </a:tcPr>
                </a:tc>
                <a:extLst>
                  <a:ext uri="{0D108BD9-81ED-4DB2-BD59-A6C34878D82A}">
                    <a16:rowId xmlns:a16="http://schemas.microsoft.com/office/drawing/2014/main" val="10000"/>
                  </a:ext>
                </a:extLst>
              </a:tr>
              <a:tr h="634802">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CRM do cliente</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BBABC"/>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Cadastro e status atual do paciente</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BBABC"/>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Só mudanças de status, em lote</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BBABC"/>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Atendimento e marketing</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BBABC"/>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extLst>
                  <a:ext uri="{0D108BD9-81ED-4DB2-BD59-A6C34878D82A}">
                    <a16:rowId xmlns:a16="http://schemas.microsoft.com/office/drawing/2014/main" val="10001"/>
                  </a:ext>
                </a:extLst>
              </a:tr>
              <a:tr h="634802">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PostgreSQL</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Trilha de eventos (audit.evento_integracao)</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Todos os workflows, mesmo correlation_id</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Power BI e auditoria</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Redis</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GPS do médico (6 h) e filas (16 h)</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Workflows 12 e 13</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tc>
                  <a:txBody>
                    <a:bodyPr/>
                    <a:lstStyle/>
                    <a:p>
                      <a:pPr marL="0" indent="0">
                        <a:lnSpc>
                          <a:spcPts val="1960"/>
                        </a:lnSpc>
                        <a:buNone/>
                      </a:pPr>
                      <a:r>
                        <a:rPr lang="en-US" sz="1400" dirty="0">
                          <a:solidFill>
                            <a:srgbClr val="26234F"/>
                          </a:solidFill>
                          <a:latin typeface="Nunito Sans" pitchFamily="34" charset="0"/>
                          <a:ea typeface="Nunito Sans" pitchFamily="34" charset="-122"/>
                          <a:cs typeface="Nunito Sans" pitchFamily="34" charset="-120"/>
                        </a:rPr>
                        <a:t>Os próprios workflows</a:t>
                      </a:r>
                      <a:endParaRPr lang="en-US" sz="1400" dirty="0">
                        <a:latin typeface="Nunito Sans" charset="0"/>
                        <a:ea typeface="Nunito Sans" charset="0"/>
                        <a:cs typeface="Nunito Sans" charset="0"/>
                      </a:endParaRPr>
                    </a:p>
                  </a:txBody>
                  <a:tcPr marL="62230" marR="62230" marT="62230" marB="6223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AC9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314825"/>
            <a:ext cx="3505708"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6D3AE8"/>
                </a:solidFill>
                <a:latin typeface="Montserrat" pitchFamily="34" charset="0"/>
                <a:ea typeface="Montserrat" pitchFamily="34" charset="-122"/>
                <a:cs typeface="Montserrat" pitchFamily="34" charset="-120"/>
              </a:rPr>
              <a:t>500 mil</a:t>
            </a:r>
            <a:endParaRPr lang="en-US" sz="3200" dirty="0"/>
          </a:p>
        </p:txBody>
      </p:sp>
      <p:sp>
        <p:nvSpPr>
          <p:cNvPr id="6" name="Text 3"/>
          <p:cNvSpPr/>
          <p:nvPr/>
        </p:nvSpPr>
        <p:spPr>
          <a:xfrm>
            <a:off x="812800" y="4746625"/>
            <a:ext cx="350570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operações por mês</a:t>
            </a:r>
            <a:endParaRPr lang="en-US" sz="1300" dirty="0"/>
          </a:p>
        </p:txBody>
      </p:sp>
      <p:sp>
        <p:nvSpPr>
          <p:cNvPr id="7" name="Text 4"/>
          <p:cNvSpPr/>
          <p:nvPr/>
        </p:nvSpPr>
        <p:spPr>
          <a:xfrm>
            <a:off x="4394200" y="4314825"/>
            <a:ext cx="3505708"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6D3AE8"/>
                </a:solidFill>
                <a:latin typeface="Montserrat" pitchFamily="34" charset="0"/>
                <a:ea typeface="Montserrat" pitchFamily="34" charset="-122"/>
                <a:cs typeface="Montserrat" pitchFamily="34" charset="-120"/>
              </a:rPr>
              <a:t>≈17 mil</a:t>
            </a:r>
            <a:endParaRPr lang="en-US" sz="3200" dirty="0"/>
          </a:p>
        </p:txBody>
      </p:sp>
      <p:sp>
        <p:nvSpPr>
          <p:cNvPr id="8" name="Text 5"/>
          <p:cNvSpPr/>
          <p:nvPr/>
        </p:nvSpPr>
        <p:spPr>
          <a:xfrm>
            <a:off x="4394200" y="4746625"/>
            <a:ext cx="350570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por dia</a:t>
            </a:r>
            <a:endParaRPr lang="en-US" sz="1300" dirty="0"/>
          </a:p>
        </p:txBody>
      </p:sp>
      <p:sp>
        <p:nvSpPr>
          <p:cNvPr id="9" name="Text 6"/>
          <p:cNvSpPr/>
          <p:nvPr/>
        </p:nvSpPr>
        <p:spPr>
          <a:xfrm>
            <a:off x="7975600" y="4314825"/>
            <a:ext cx="3505708"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6D3AE8"/>
                </a:solidFill>
                <a:latin typeface="Montserrat" pitchFamily="34" charset="0"/>
                <a:ea typeface="Montserrat" pitchFamily="34" charset="-122"/>
                <a:cs typeface="Montserrat" pitchFamily="34" charset="-120"/>
              </a:rPr>
              <a:t>0,2/s</a:t>
            </a:r>
            <a:endParaRPr lang="en-US" sz="3200" dirty="0"/>
          </a:p>
        </p:txBody>
      </p:sp>
      <p:sp>
        <p:nvSpPr>
          <p:cNvPr id="10" name="Text 7"/>
          <p:cNvSpPr/>
          <p:nvPr/>
        </p:nvSpPr>
        <p:spPr>
          <a:xfrm>
            <a:off x="7975600" y="4746625"/>
            <a:ext cx="350570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870"/>
                </a:solidFill>
                <a:latin typeface="Nunito Sans" pitchFamily="34" charset="0"/>
                <a:ea typeface="Nunito Sans" pitchFamily="34" charset="-122"/>
                <a:cs typeface="Nunito Sans" pitchFamily="34" charset="-120"/>
              </a:rPr>
              <a:t>em média; cabe num banco só</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1F164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FBFAFF"/>
                </a:solidFill>
                <a:latin typeface="Montserrat" pitchFamily="34" charset="0"/>
                <a:ea typeface="Montserrat" pitchFamily="34" charset="-122"/>
                <a:cs typeface="Montserrat" pitchFamily="34" charset="-120"/>
              </a:rPr>
              <a:t>Quem faz o quê, e o que acontece se algo falhar</a:t>
            </a:r>
            <a:endParaRPr lang="en-US" sz="3000" dirty="0"/>
          </a:p>
        </p:txBody>
      </p:sp>
      <p:sp>
        <p:nvSpPr>
          <p:cNvPr id="3" name="Shape 1"/>
          <p:cNvSpPr/>
          <p:nvPr/>
        </p:nvSpPr>
        <p:spPr>
          <a:xfrm>
            <a:off x="812800" y="1536700"/>
            <a:ext cx="5194300" cy="2037060"/>
          </a:xfrm>
          <a:prstGeom prst="roundRect">
            <a:avLst>
              <a:gd name="adj" fmla="val 7481"/>
            </a:avLst>
          </a:prstGeom>
          <a:solidFill>
            <a:srgbClr val="2E2160"/>
          </a:solidFill>
          <a:ln/>
        </p:spPr>
        <p:txBody>
          <a:bodyPr/>
          <a:lstStyle/>
          <a:p>
            <a:endParaRPr lang="pt-BR"/>
          </a:p>
        </p:txBody>
      </p:sp>
      <p:sp>
        <p:nvSpPr>
          <p:cNvPr id="4" name="Text 2"/>
          <p:cNvSpPr/>
          <p:nvPr/>
        </p:nvSpPr>
        <p:spPr>
          <a:xfrm>
            <a:off x="1041400" y="1765300"/>
            <a:ext cx="487921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Produto e visão</a:t>
            </a:r>
            <a:endParaRPr lang="en-US" sz="1700" dirty="0"/>
          </a:p>
        </p:txBody>
      </p:sp>
      <p:sp>
        <p:nvSpPr>
          <p:cNvPr id="5" name="Text 3"/>
          <p:cNvSpPr/>
          <p:nvPr/>
        </p:nvSpPr>
        <p:spPr>
          <a:xfrm>
            <a:off x="1041400" y="2087860"/>
            <a:ext cx="487921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Define a jornada humanizada e as regras de comunicação da Daisy</a:t>
            </a:r>
            <a:endParaRPr lang="en-US" sz="1300" dirty="0"/>
          </a:p>
        </p:txBody>
      </p:sp>
      <p:sp>
        <p:nvSpPr>
          <p:cNvPr id="6" name="Shape 4"/>
          <p:cNvSpPr/>
          <p:nvPr/>
        </p:nvSpPr>
        <p:spPr>
          <a:xfrm>
            <a:off x="6184900" y="1536700"/>
            <a:ext cx="5194300" cy="2037060"/>
          </a:xfrm>
          <a:prstGeom prst="roundRect">
            <a:avLst>
              <a:gd name="adj" fmla="val 7481"/>
            </a:avLst>
          </a:prstGeom>
          <a:solidFill>
            <a:srgbClr val="2E2160"/>
          </a:solidFill>
          <a:ln/>
        </p:spPr>
        <p:txBody>
          <a:bodyPr/>
          <a:lstStyle/>
          <a:p>
            <a:endParaRPr lang="pt-BR"/>
          </a:p>
        </p:txBody>
      </p:sp>
      <p:sp>
        <p:nvSpPr>
          <p:cNvPr id="7" name="Text 5"/>
          <p:cNvSpPr/>
          <p:nvPr/>
        </p:nvSpPr>
        <p:spPr>
          <a:xfrm>
            <a:off x="6413500" y="1765300"/>
            <a:ext cx="487921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TI, Dados e Ops</a:t>
            </a:r>
            <a:endParaRPr lang="en-US" sz="1700" dirty="0"/>
          </a:p>
        </p:txBody>
      </p:sp>
      <p:sp>
        <p:nvSpPr>
          <p:cNvPr id="8" name="Text 6"/>
          <p:cNvSpPr/>
          <p:nvPr/>
        </p:nvSpPr>
        <p:spPr>
          <a:xfrm>
            <a:off x="6413500" y="2087860"/>
            <a:ext cx="487921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Sustenta a infraestrutura Azure, as integrações oficiais e a calibração de prioridades</a:t>
            </a:r>
            <a:endParaRPr lang="en-US" sz="1300" dirty="0"/>
          </a:p>
        </p:txBody>
      </p:sp>
      <p:sp>
        <p:nvSpPr>
          <p:cNvPr id="9" name="Shape 7"/>
          <p:cNvSpPr/>
          <p:nvPr/>
        </p:nvSpPr>
        <p:spPr>
          <a:xfrm>
            <a:off x="819150" y="3757910"/>
            <a:ext cx="5181600" cy="2280940"/>
          </a:xfrm>
          <a:prstGeom prst="roundRect">
            <a:avLst>
              <a:gd name="adj" fmla="val 6403"/>
            </a:avLst>
          </a:prstGeom>
          <a:solidFill>
            <a:srgbClr val="2E2160"/>
          </a:solidFill>
          <a:ln w="12700">
            <a:solidFill>
              <a:srgbClr val="B9A6F4"/>
            </a:solidFill>
            <a:prstDash val="solid"/>
          </a:ln>
        </p:spPr>
        <p:txBody>
          <a:bodyPr/>
          <a:lstStyle/>
          <a:p>
            <a:endParaRPr lang="pt-BR"/>
          </a:p>
        </p:txBody>
      </p:sp>
      <p:sp>
        <p:nvSpPr>
          <p:cNvPr id="10" name="Text 8"/>
          <p:cNvSpPr/>
          <p:nvPr/>
        </p:nvSpPr>
        <p:spPr>
          <a:xfrm>
            <a:off x="1054100" y="3992860"/>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Se o sistema falhar: resiliência</a:t>
            </a:r>
            <a:endParaRPr lang="en-US" sz="1700" dirty="0"/>
          </a:p>
        </p:txBody>
      </p:sp>
      <p:sp>
        <p:nvSpPr>
          <p:cNvPr id="11" name="Text 9"/>
          <p:cNvSpPr/>
          <p:nvPr/>
        </p:nvSpPr>
        <p:spPr>
          <a:xfrm>
            <a:off x="1054100" y="4315420"/>
            <a:ext cx="485305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Backups, logs redundantes no PostgreSQL, Service Bus segurando eventos e job noturno que reprocessa webhook perdido</a:t>
            </a:r>
            <a:endParaRPr lang="en-US" sz="1300" dirty="0"/>
          </a:p>
        </p:txBody>
      </p:sp>
      <p:sp>
        <p:nvSpPr>
          <p:cNvPr id="12" name="Shape 10"/>
          <p:cNvSpPr/>
          <p:nvPr/>
        </p:nvSpPr>
        <p:spPr>
          <a:xfrm>
            <a:off x="6191250" y="3757910"/>
            <a:ext cx="5181600" cy="2280940"/>
          </a:xfrm>
          <a:prstGeom prst="roundRect">
            <a:avLst>
              <a:gd name="adj" fmla="val 6403"/>
            </a:avLst>
          </a:prstGeom>
          <a:solidFill>
            <a:srgbClr val="2E2160"/>
          </a:solidFill>
          <a:ln w="12700">
            <a:solidFill>
              <a:srgbClr val="B9A6F4"/>
            </a:solidFill>
            <a:prstDash val="solid"/>
          </a:ln>
        </p:spPr>
        <p:txBody>
          <a:bodyPr/>
          <a:lstStyle/>
          <a:p>
            <a:endParaRPr lang="pt-BR"/>
          </a:p>
        </p:txBody>
      </p:sp>
      <p:sp>
        <p:nvSpPr>
          <p:cNvPr id="13" name="Text 11"/>
          <p:cNvSpPr/>
          <p:nvPr/>
        </p:nvSpPr>
        <p:spPr>
          <a:xfrm>
            <a:off x="6426200" y="3992860"/>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AFF"/>
                </a:solidFill>
                <a:latin typeface="Montserrat" pitchFamily="34" charset="0"/>
                <a:ea typeface="Montserrat" pitchFamily="34" charset="-122"/>
                <a:cs typeface="Montserrat" pitchFamily="34" charset="-120"/>
              </a:rPr>
              <a:t>Se a jornada falhar: fallback</a:t>
            </a:r>
            <a:endParaRPr lang="en-US" sz="1700" dirty="0"/>
          </a:p>
        </p:txBody>
      </p:sp>
      <p:sp>
        <p:nvSpPr>
          <p:cNvPr id="14" name="Text 12"/>
          <p:cNvSpPr/>
          <p:nvPr/>
        </p:nvSpPr>
        <p:spPr>
          <a:xfrm>
            <a:off x="6426200" y="4315420"/>
            <a:ext cx="485305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CDF7"/>
                </a:solidFill>
                <a:latin typeface="Nunito Sans" pitchFamily="34" charset="0"/>
                <a:ea typeface="Nunito Sans" pitchFamily="34" charset="-122"/>
                <a:cs typeface="Nunito Sans" pitchFamily="34" charset="-120"/>
              </a:rPr>
              <a:t>API fora ou dado inválido: menu seguro, recomeço do fluxo ou alerta direto à equipe. O paciente nunca fica sem resposta</a:t>
            </a:r>
            <a:endParaRPr lang="en-US" sz="1300" dirty="0"/>
          </a:p>
        </p:txBody>
      </p:sp>
    </p:spTree>
  </p:cSld>
  <p:clrMapOvr>
    <a:masterClrMapping/>
  </p:clrMapOvr>
</p:sld>
</file>

<file path=ppt/theme/theme1.xml><?xml version="1.0" encoding="utf-8"?>
<a:theme xmlns:a="http://schemas.openxmlformats.org/drawingml/2006/main" name="DaisyCare · Pitch FIAP NEXT 2026">
  <a:themeElements>
    <a:clrScheme name="DaisyCare · Pitch FIAP NEXT 2026">
      <a:dk1>
        <a:srgbClr val="17153B"/>
      </a:dk1>
      <a:lt1>
        <a:srgbClr val="F6F3FE"/>
      </a:lt1>
      <a:dk2>
        <a:srgbClr val="4F4D6C"/>
      </a:dk2>
      <a:lt2>
        <a:srgbClr val="E0DDEB"/>
      </a:lt2>
      <a:accent1>
        <a:srgbClr val="4A4870"/>
      </a:accent1>
      <a:accent2>
        <a:srgbClr val="6D3AE8"/>
      </a:accent2>
      <a:accent3>
        <a:srgbClr val="5B2BD6"/>
      </a:accent3>
      <a:accent4>
        <a:srgbClr val="D6CDF7"/>
      </a:accent4>
      <a:accent5>
        <a:srgbClr val="6B6890"/>
      </a:accent5>
      <a:accent6>
        <a:srgbClr val="C9B8FF"/>
      </a:accent6>
      <a:hlink>
        <a:srgbClr val="0563C1"/>
      </a:hlink>
      <a:folHlink>
        <a:srgbClr val="954F72"/>
      </a:folHlink>
    </a:clrScheme>
    <a:fontScheme name="DaisyCare · Pitch FIAP NEXT 2026">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4229</Words>
  <Application>Microsoft Office PowerPoint</Application>
  <PresentationFormat>Widescreen</PresentationFormat>
  <Paragraphs>425</Paragraphs>
  <Slides>26</Slides>
  <Notes>26</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26</vt:i4>
      </vt:variant>
    </vt:vector>
  </HeadingPairs>
  <TitlesOfParts>
    <vt:vector size="30" baseType="lpstr">
      <vt:lpstr>Montserrat</vt:lpstr>
      <vt:lpstr>Arial</vt:lpstr>
      <vt:lpstr>Nunito Sans</vt:lpstr>
      <vt:lpstr>DaisyCare · Pitch FIAP NEXT 2026</vt:lpstr>
      <vt:lpstr>DaisyCare</vt:lpstr>
      <vt:lpstr>Por que “Daisy”?</vt:lpstr>
      <vt:lpstr>1 em cada 12 pacientes falta à consulta, e a taxa não melhorou em 12 meses</vt:lpstr>
      <vt:lpstr>O hospital só descobre a falta na hora da consulta, e outro paciente perde a vez</vt:lpstr>
      <vt:lpstr>Sete falhas se somam, e ninguém acompanha esse intervalo de forma ativa</vt:lpstr>
      <vt:lpstr>A Daisy confirma, encaixa e orienta o paciente, sem tomar decisão clínica</vt:lpstr>
      <vt:lpstr>O mesmo atendimento no app e no WhatsApp, por texto ou por voz</vt:lpstr>
      <vt:lpstr>O MVP já acompanhou 200 mil agendamentos em 10 hospitais</vt:lpstr>
      <vt:lpstr>Do cancelamento ao encaixe em 3 passos</vt:lpstr>
      <vt:lpstr>589 vagas que ficariam vazias viraram consultas</vt:lpstr>
      <vt:lpstr>16 workflows n8n ligam cada falha a um indicador</vt:lpstr>
      <vt:lpstr>O atraso do médico vira aviso, não surpresa na recepção</vt:lpstr>
      <vt:lpstr>Evolução controlada: Bronze valida a ideia, Prata opera o fluxo, Ouro escala</vt:lpstr>
      <vt:lpstr>No Ouro, tudo entra por uma porta única e cada dado fica no lugar do seu papel</vt:lpstr>
      <vt:lpstr>O limite clínico: o que a Daisy faz e o que ela não faz</vt:lpstr>
      <vt:lpstr>Como provamos o valor: três contas simples, medidas desde o primeiro dia</vt:lpstr>
      <vt:lpstr>Fora da DaisyCare, lembrete ativo derrubou as faltas em todos os casos</vt:lpstr>
      <vt:lpstr>Apresentação do PowerPoint</vt:lpstr>
      <vt:lpstr>Apresentação do PowerPoint</vt:lpstr>
      <vt:lpstr>Apresentação do PowerPoint</vt:lpstr>
      <vt:lpstr>Próximos passos: implantar sem “virar a chave” de uma vez</vt:lpstr>
      <vt:lpstr>Tecnologia em saúde não precisa ser fria.</vt:lpstr>
      <vt:lpstr>Apêndice</vt:lpstr>
      <vt:lpstr>IA preditiva onde faz sentido, e apenas onde faz</vt:lpstr>
      <vt:lpstr>Mantemos o CRM do cliente: cada banco tem um papel, não uma cópia</vt:lpstr>
      <vt:lpstr>Quem faz o quê, e o que acontece se algo falhar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DaisyCare · Pitch FIAP NEXT 2026</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Rodrigo Nillo</cp:lastModifiedBy>
  <cp:revision>2</cp:revision>
  <dcterms:created xsi:type="dcterms:W3CDTF">2026-10-24T14:01:08Z</dcterms:created>
  <dcterms:modified xsi:type="dcterms:W3CDTF">2026-10-24T14:11:55Z</dcterms:modified>
</cp:coreProperties>
</file>